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av" ContentType="audio/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5"/>
  </p:notesMasterIdLst>
  <p:sldIdLst>
    <p:sldId id="256" r:id="rId2"/>
    <p:sldId id="309" r:id="rId3"/>
    <p:sldId id="357" r:id="rId4"/>
    <p:sldId id="390" r:id="rId5"/>
    <p:sldId id="310" r:id="rId6"/>
    <p:sldId id="392" r:id="rId7"/>
    <p:sldId id="391" r:id="rId8"/>
    <p:sldId id="393" r:id="rId9"/>
    <p:sldId id="375" r:id="rId10"/>
    <p:sldId id="389" r:id="rId11"/>
    <p:sldId id="383" r:id="rId12"/>
    <p:sldId id="358" r:id="rId13"/>
    <p:sldId id="395" r:id="rId14"/>
    <p:sldId id="396" r:id="rId15"/>
    <p:sldId id="397" r:id="rId16"/>
    <p:sldId id="398" r:id="rId17"/>
    <p:sldId id="415" r:id="rId18"/>
    <p:sldId id="400" r:id="rId19"/>
    <p:sldId id="401" r:id="rId20"/>
    <p:sldId id="402" r:id="rId21"/>
    <p:sldId id="403" r:id="rId22"/>
    <p:sldId id="404" r:id="rId23"/>
    <p:sldId id="405" r:id="rId24"/>
    <p:sldId id="406" r:id="rId25"/>
    <p:sldId id="407" r:id="rId26"/>
    <p:sldId id="408" r:id="rId27"/>
    <p:sldId id="409" r:id="rId28"/>
    <p:sldId id="411" r:id="rId29"/>
    <p:sldId id="412" r:id="rId30"/>
    <p:sldId id="413" r:id="rId31"/>
    <p:sldId id="414" r:id="rId32"/>
    <p:sldId id="410" r:id="rId33"/>
    <p:sldId id="293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rhun uzdiyem" initials="ou" lastIdx="1" clrIdx="0">
    <p:extLst>
      <p:ext uri="{19B8F6BF-5375-455C-9EA6-DF929625EA0E}">
        <p15:presenceInfo xmlns:p15="http://schemas.microsoft.com/office/powerpoint/2012/main" userId="7c704e6ad42cbf6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06725-A5C6-4D97-BAB5-97495DA97B1D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5C1EF-337A-4A14-9C0C-535002AC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8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76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629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66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030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153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53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38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54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400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4510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75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94000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9821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10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741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6287EC-2D8B-4839-853F-448EC8EF3B8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083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mailto:orhun.uzdiyem@gmail.com" TargetMode="Externa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7AFEF-9B2B-F339-7BA2-47BF50A9F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0682" y="188259"/>
            <a:ext cx="9807388" cy="3306765"/>
          </a:xfrm>
        </p:spPr>
        <p:txBody>
          <a:bodyPr/>
          <a:lstStyle/>
          <a:p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Biyokütleden Elde Edilen </a:t>
            </a:r>
            <a:r>
              <a:rPr lang="tr-TR" sz="3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Biyoyağ</a:t>
            </a:r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Kompozisyonunun Makine Öğrenmesi ile </a:t>
            </a:r>
            <a:b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Tahmini ve Model Öngörülü Kontrol Tabanlı Süreç Optimizasyonu</a:t>
            </a:r>
            <a:br>
              <a:rPr lang="en-US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Tez </a:t>
            </a:r>
            <a:r>
              <a:rPr lang="en-US" sz="40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İzleme</a:t>
            </a: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0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Sunumu</a:t>
            </a: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- 4</a:t>
            </a:r>
            <a:endParaRPr lang="en-US" sz="88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41569F-3488-D383-99CF-A515057064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2376" y="4050833"/>
            <a:ext cx="8861627" cy="230514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Hazırlayan</a:t>
            </a:r>
            <a:r>
              <a:rPr lang="en-US" dirty="0"/>
              <a:t>: Orhun Uzdiyem</a:t>
            </a:r>
          </a:p>
          <a:p>
            <a:r>
              <a:rPr lang="en-US" dirty="0" err="1"/>
              <a:t>Komite</a:t>
            </a:r>
            <a:r>
              <a:rPr lang="en-US" dirty="0"/>
              <a:t>: Dr. </a:t>
            </a:r>
            <a:r>
              <a:rPr lang="en-US" dirty="0" err="1"/>
              <a:t>Öğr</a:t>
            </a:r>
            <a:r>
              <a:rPr lang="en-US" dirty="0"/>
              <a:t>. </a:t>
            </a:r>
            <a:r>
              <a:rPr lang="en-US" dirty="0" err="1"/>
              <a:t>Üy</a:t>
            </a:r>
            <a:r>
              <a:rPr lang="en-US" dirty="0"/>
              <a:t>. </a:t>
            </a:r>
            <a:r>
              <a:rPr lang="en-US" dirty="0" err="1"/>
              <a:t>Özben</a:t>
            </a:r>
            <a:r>
              <a:rPr lang="en-US" dirty="0"/>
              <a:t> Kutlu(Tez </a:t>
            </a:r>
            <a:r>
              <a:rPr lang="en-US" dirty="0" err="1"/>
              <a:t>danışmanı</a:t>
            </a:r>
            <a:r>
              <a:rPr lang="en-US" dirty="0"/>
              <a:t>),  </a:t>
            </a:r>
          </a:p>
          <a:p>
            <a:r>
              <a:rPr lang="en-US" dirty="0"/>
              <a:t>Prof. Dr. Harun Kemal </a:t>
            </a:r>
            <a:r>
              <a:rPr lang="en-US" dirty="0" err="1"/>
              <a:t>Öztürk</a:t>
            </a:r>
            <a:r>
              <a:rPr lang="en-US" dirty="0"/>
              <a:t>,  </a:t>
            </a:r>
          </a:p>
          <a:p>
            <a:r>
              <a:rPr lang="en-US" dirty="0"/>
              <a:t>Dr. </a:t>
            </a:r>
            <a:r>
              <a:rPr lang="en-US" dirty="0" err="1"/>
              <a:t>Öğr</a:t>
            </a:r>
            <a:r>
              <a:rPr lang="en-US" dirty="0"/>
              <a:t>. </a:t>
            </a:r>
            <a:r>
              <a:rPr lang="en-US" dirty="0" err="1"/>
              <a:t>Üy</a:t>
            </a:r>
            <a:r>
              <a:rPr lang="en-US" dirty="0"/>
              <a:t>. Hasan </a:t>
            </a:r>
            <a:r>
              <a:rPr lang="en-US" dirty="0" err="1"/>
              <a:t>Sarptaş</a:t>
            </a:r>
            <a:endParaRPr lang="en-US" dirty="0"/>
          </a:p>
          <a:p>
            <a:r>
              <a:rPr lang="en-US" dirty="0" err="1"/>
              <a:t>Ege</a:t>
            </a:r>
            <a:r>
              <a:rPr lang="en-US" dirty="0"/>
              <a:t> </a:t>
            </a:r>
            <a:r>
              <a:rPr lang="en-US" dirty="0" err="1"/>
              <a:t>Üniversitesi</a:t>
            </a:r>
            <a:r>
              <a:rPr lang="en-US" dirty="0"/>
              <a:t> </a:t>
            </a:r>
            <a:r>
              <a:rPr lang="en-US" dirty="0" err="1"/>
              <a:t>Güneş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Enstitüsü</a:t>
            </a:r>
            <a:r>
              <a:rPr lang="en-US" dirty="0"/>
              <a:t> – </a:t>
            </a:r>
            <a:r>
              <a:rPr lang="en-US" dirty="0" err="1"/>
              <a:t>Enerji</a:t>
            </a:r>
            <a:r>
              <a:rPr lang="en-US" dirty="0"/>
              <a:t> </a:t>
            </a:r>
            <a:r>
              <a:rPr lang="en-US" dirty="0" err="1"/>
              <a:t>Teknolojisi</a:t>
            </a:r>
            <a:r>
              <a:rPr lang="en-US" dirty="0"/>
              <a:t> </a:t>
            </a:r>
            <a:r>
              <a:rPr lang="en-US" dirty="0" err="1"/>
              <a:t>Anabilimdalı</a:t>
            </a:r>
            <a:endParaRPr lang="en-US" dirty="0"/>
          </a:p>
          <a:p>
            <a:r>
              <a:rPr lang="en-US" dirty="0" err="1"/>
              <a:t>Aralık</a:t>
            </a:r>
            <a:r>
              <a:rPr lang="en-US" dirty="0"/>
              <a:t> 26, 2025</a:t>
            </a:r>
          </a:p>
        </p:txBody>
      </p:sp>
    </p:spTree>
    <p:extLst>
      <p:ext uri="{BB962C8B-B14F-4D97-AF65-F5344CB8AC3E}">
        <p14:creationId xmlns:p14="http://schemas.microsoft.com/office/powerpoint/2010/main" val="4101100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3E03A-0C6F-1770-1FDB-EF2712A42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CA809-6406-46C2-B92A-68ED3F2F3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5042148" cy="44106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dirty="0" err="1"/>
              <a:t>Tezin</a:t>
            </a:r>
            <a:br>
              <a:rPr lang="en-US" sz="4000" dirty="0"/>
            </a:br>
            <a:r>
              <a:rPr lang="en-US" sz="4000" dirty="0" err="1"/>
              <a:t>Amacı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691481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A0CB0-F31B-F127-3659-7960E1FE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854F4-E224-1FF5-0E6C-675A1C453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Tezin</a:t>
            </a:r>
            <a:r>
              <a:rPr lang="en-US" dirty="0"/>
              <a:t> </a:t>
            </a:r>
            <a:r>
              <a:rPr lang="en-US" dirty="0" err="1"/>
              <a:t>amacı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DAEDE-3349-3791-2191-2F72762DF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Biyoktüleden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(</a:t>
            </a:r>
            <a:r>
              <a:rPr lang="en-US" dirty="0" err="1"/>
              <a:t>piroliz</a:t>
            </a:r>
            <a:r>
              <a:rPr lang="en-US" dirty="0"/>
              <a:t>) </a:t>
            </a: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değerlendirildiği</a:t>
            </a:r>
            <a:r>
              <a:rPr lang="en-US" dirty="0"/>
              <a:t> proses </a:t>
            </a:r>
            <a:r>
              <a:rPr lang="en-US" dirty="0" err="1"/>
              <a:t>parametrelerinin</a:t>
            </a:r>
            <a:r>
              <a:rPr lang="en-US" dirty="0"/>
              <a:t> </a:t>
            </a:r>
            <a:r>
              <a:rPr lang="en-US" dirty="0" err="1"/>
              <a:t>belirlenmesine</a:t>
            </a:r>
            <a:r>
              <a:rPr lang="en-US" dirty="0"/>
              <a:t> </a:t>
            </a:r>
            <a:r>
              <a:rPr lang="en-US" dirty="0" err="1"/>
              <a:t>yardımcı</a:t>
            </a:r>
            <a:r>
              <a:rPr lang="en-US" dirty="0"/>
              <a:t> </a:t>
            </a:r>
            <a:r>
              <a:rPr lang="en-US" dirty="0" err="1"/>
              <a:t>olacak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model </a:t>
            </a:r>
            <a:r>
              <a:rPr lang="en-US" dirty="0" err="1"/>
              <a:t>öngörülü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(MÖK) </a:t>
            </a:r>
            <a:r>
              <a:rPr lang="en-US" dirty="0" err="1"/>
              <a:t>senaryosu</a:t>
            </a:r>
            <a:r>
              <a:rPr lang="en-US" dirty="0"/>
              <a:t> </a:t>
            </a:r>
            <a:r>
              <a:rPr lang="en-US" dirty="0" err="1"/>
              <a:t>geliştirmektir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işlenmesi</a:t>
            </a:r>
            <a:r>
              <a:rPr lang="en-US" dirty="0"/>
              <a:t>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oluşan</a:t>
            </a:r>
            <a:r>
              <a:rPr lang="en-US" dirty="0"/>
              <a:t> </a:t>
            </a:r>
            <a:r>
              <a:rPr lang="en-US" dirty="0" err="1"/>
              <a:t>ürünün</a:t>
            </a:r>
            <a:r>
              <a:rPr lang="en-US" dirty="0"/>
              <a:t> </a:t>
            </a:r>
            <a:r>
              <a:rPr lang="en-US" dirty="0" err="1"/>
              <a:t>özelliklerin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, </a:t>
            </a:r>
            <a:r>
              <a:rPr lang="en-US" dirty="0" err="1"/>
              <a:t>girişte</a:t>
            </a:r>
            <a:r>
              <a:rPr lang="en-US" dirty="0"/>
              <a:t> </a:t>
            </a:r>
            <a:r>
              <a:rPr lang="en-US" dirty="0" err="1"/>
              <a:t>kullanılan</a:t>
            </a:r>
            <a:r>
              <a:rPr lang="en-US" dirty="0"/>
              <a:t> </a:t>
            </a: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içeriğini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edebilen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yapayzeka</a:t>
            </a:r>
            <a:r>
              <a:rPr lang="en-US" dirty="0"/>
              <a:t> </a:t>
            </a:r>
            <a:r>
              <a:rPr lang="en-US" dirty="0" err="1"/>
              <a:t>modeli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– proses </a:t>
            </a:r>
            <a:r>
              <a:rPr lang="en-US" dirty="0" err="1"/>
              <a:t>koşulları</a:t>
            </a:r>
            <a:r>
              <a:rPr lang="en-US" dirty="0"/>
              <a:t> – son </a:t>
            </a:r>
            <a:r>
              <a:rPr lang="en-US" dirty="0" err="1"/>
              <a:t>ürün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Simülasyon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Literatür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775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BBD9-82FC-640D-7A8D-1FBE8617E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249D9-C5EA-696B-CC2F-DFA907501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5042148" cy="44106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dirty="0" err="1"/>
              <a:t>Önceki</a:t>
            </a:r>
            <a:r>
              <a:rPr lang="en-US" sz="4000" dirty="0"/>
              <a:t> </a:t>
            </a:r>
            <a:r>
              <a:rPr lang="en-US" sz="4000" dirty="0" err="1"/>
              <a:t>Dönemlerde</a:t>
            </a:r>
            <a:r>
              <a:rPr lang="en-US" sz="4000" dirty="0"/>
              <a:t> </a:t>
            </a:r>
            <a:r>
              <a:rPr lang="en-US" sz="4000" dirty="0" err="1"/>
              <a:t>Yapılan</a:t>
            </a:r>
            <a:r>
              <a:rPr lang="en-US" sz="4000" dirty="0"/>
              <a:t> </a:t>
            </a:r>
            <a:br>
              <a:rPr lang="en-US" sz="4000" dirty="0"/>
            </a:br>
            <a:r>
              <a:rPr lang="en-US" sz="4000" dirty="0" err="1"/>
              <a:t>Çalışmalar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84759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114C-EB7F-DA0D-55D3-095E2AE9F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217FD-8882-81A5-D9E4-A848B6999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B09FA-908A-318A-F77B-3B19ED355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35741"/>
            <a:ext cx="8596668" cy="54127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14 </a:t>
            </a:r>
            <a:r>
              <a:rPr lang="en-US" dirty="0" err="1"/>
              <a:t>adet</a:t>
            </a:r>
            <a:r>
              <a:rPr lang="en-US" dirty="0"/>
              <a:t> </a:t>
            </a:r>
            <a:r>
              <a:rPr lang="en-US" dirty="0" err="1"/>
              <a:t>çalışmadan</a:t>
            </a:r>
            <a:r>
              <a:rPr lang="en-US" dirty="0"/>
              <a:t> 70 set </a:t>
            </a:r>
            <a:r>
              <a:rPr lang="en-US" dirty="0" err="1"/>
              <a:t>deney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Biyokütle</a:t>
            </a:r>
            <a:r>
              <a:rPr lang="en-US" dirty="0"/>
              <a:t> </a:t>
            </a:r>
            <a:r>
              <a:rPr lang="en-US" dirty="0" err="1"/>
              <a:t>özellikleri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proses </a:t>
            </a:r>
            <a:r>
              <a:rPr lang="en-US" dirty="0" err="1"/>
              <a:t>koşulları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önişleme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Eksik</a:t>
            </a:r>
            <a:r>
              <a:rPr lang="en-US" dirty="0"/>
              <a:t> </a:t>
            </a:r>
            <a:r>
              <a:rPr lang="en-US" dirty="0" err="1"/>
              <a:t>değer</a:t>
            </a:r>
            <a:r>
              <a:rPr lang="en-US" dirty="0"/>
              <a:t> </a:t>
            </a:r>
            <a:r>
              <a:rPr lang="en-US" dirty="0" err="1"/>
              <a:t>doldurma</a:t>
            </a:r>
            <a:endParaRPr lang="en-US" dirty="0"/>
          </a:p>
          <a:p>
            <a:pPr lvl="2">
              <a:lnSpc>
                <a:spcPct val="150000"/>
              </a:lnSpc>
            </a:pPr>
            <a:r>
              <a:rPr lang="en-US" dirty="0"/>
              <a:t>KNN Imputer</a:t>
            </a:r>
          </a:p>
          <a:p>
            <a:pPr lvl="2">
              <a:lnSpc>
                <a:spcPct val="150000"/>
              </a:lnSpc>
            </a:pPr>
            <a:r>
              <a:rPr lang="en-US" dirty="0" err="1"/>
              <a:t>Ortalama</a:t>
            </a:r>
            <a:r>
              <a:rPr lang="en-US" dirty="0"/>
              <a:t> </a:t>
            </a:r>
            <a:r>
              <a:rPr lang="en-US" dirty="0" err="1"/>
              <a:t>değer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ölçekleme</a:t>
            </a: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57150" indent="0">
              <a:lnSpc>
                <a:spcPct val="150000"/>
              </a:lnSpc>
              <a:buNone/>
            </a:pPr>
            <a:endParaRPr lang="en-US" dirty="0"/>
          </a:p>
          <a:p>
            <a:pPr lvl="2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93958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1AB97-83C1-61B9-746F-FBD64F677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8ACE5-0034-06A1-2331-4C5E430E8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66678-327D-CB24-1B8A-CC33813F6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86753"/>
            <a:ext cx="8596668" cy="51617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Birleşik</a:t>
            </a:r>
            <a:r>
              <a:rPr lang="en-US" dirty="0"/>
              <a:t>  </a:t>
            </a:r>
            <a:r>
              <a:rPr lang="en-US" dirty="0" err="1"/>
              <a:t>veriseti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yaklaşımda</a:t>
            </a:r>
            <a:r>
              <a:rPr lang="en-US" dirty="0"/>
              <a:t>, </a:t>
            </a:r>
            <a:r>
              <a:rPr lang="en-US" dirty="0" err="1"/>
              <a:t>bütün</a:t>
            </a:r>
            <a:r>
              <a:rPr lang="en-US" dirty="0"/>
              <a:t> </a:t>
            </a:r>
            <a:r>
              <a:rPr lang="en-US" dirty="0" err="1"/>
              <a:t>veriseti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bütün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işlenmiştir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Ayrıştırılmış</a:t>
            </a:r>
            <a:r>
              <a:rPr lang="en-US" dirty="0"/>
              <a:t> </a:t>
            </a:r>
            <a:r>
              <a:rPr lang="en-US" dirty="0" err="1"/>
              <a:t>veriseti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yaklaşımda</a:t>
            </a:r>
            <a:r>
              <a:rPr lang="en-US" dirty="0"/>
              <a:t>, </a:t>
            </a:r>
            <a:r>
              <a:rPr lang="en-US" dirty="0" err="1"/>
              <a:t>biyoyağda</a:t>
            </a:r>
            <a:r>
              <a:rPr lang="en-US" dirty="0"/>
              <a:t> </a:t>
            </a:r>
            <a:r>
              <a:rPr lang="en-US" dirty="0" err="1"/>
              <a:t>bulunan</a:t>
            </a:r>
            <a:r>
              <a:rPr lang="en-US" dirty="0"/>
              <a:t> her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grubu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ayrı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veriseti</a:t>
            </a:r>
            <a:r>
              <a:rPr lang="en-US" dirty="0"/>
              <a:t> </a:t>
            </a:r>
            <a:r>
              <a:rPr lang="en-US" dirty="0" err="1"/>
              <a:t>hazırlanmıştır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Veriseti</a:t>
            </a:r>
            <a:r>
              <a:rPr lang="en-US" dirty="0"/>
              <a:t>, </a:t>
            </a:r>
            <a:r>
              <a:rPr lang="en-US" dirty="0" err="1"/>
              <a:t>kimyasallara</a:t>
            </a:r>
            <a:r>
              <a:rPr lang="en-US" dirty="0"/>
              <a:t> </a:t>
            </a:r>
            <a:r>
              <a:rPr lang="en-US" dirty="0" err="1"/>
              <a:t>göre</a:t>
            </a:r>
            <a:r>
              <a:rPr lang="en-US" dirty="0"/>
              <a:t> </a:t>
            </a:r>
            <a:r>
              <a:rPr lang="en-US" dirty="0" err="1"/>
              <a:t>ayrıştırılırken</a:t>
            </a:r>
            <a:r>
              <a:rPr lang="en-US" dirty="0"/>
              <a:t> o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NULL </a:t>
            </a:r>
            <a:r>
              <a:rPr lang="en-US" dirty="0" err="1"/>
              <a:t>değer</a:t>
            </a:r>
            <a:r>
              <a:rPr lang="en-US" dirty="0"/>
              <a:t> </a:t>
            </a:r>
            <a:r>
              <a:rPr lang="en-US" dirty="0" err="1"/>
              <a:t>bulunan</a:t>
            </a:r>
            <a:r>
              <a:rPr lang="en-US" dirty="0"/>
              <a:t> </a:t>
            </a:r>
            <a:r>
              <a:rPr lang="en-US" dirty="0" err="1"/>
              <a:t>satırlar</a:t>
            </a:r>
            <a:r>
              <a:rPr lang="en-US" dirty="0"/>
              <a:t> </a:t>
            </a:r>
            <a:r>
              <a:rPr lang="en-US" dirty="0" err="1"/>
              <a:t>çıkartılmıştır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sayede</a:t>
            </a:r>
            <a:r>
              <a:rPr lang="en-US" dirty="0"/>
              <a:t> NULL </a:t>
            </a:r>
            <a:r>
              <a:rPr lang="en-US" dirty="0" err="1"/>
              <a:t>değerlerden</a:t>
            </a:r>
            <a:r>
              <a:rPr lang="en-US" dirty="0"/>
              <a:t> </a:t>
            </a:r>
            <a:r>
              <a:rPr lang="en-US" dirty="0" err="1"/>
              <a:t>arınmış</a:t>
            </a:r>
            <a:r>
              <a:rPr lang="en-US" dirty="0"/>
              <a:t> </a:t>
            </a:r>
            <a:r>
              <a:rPr lang="en-US" dirty="0" err="1"/>
              <a:t>verisetleri</a:t>
            </a:r>
            <a:r>
              <a:rPr lang="en-US" dirty="0"/>
              <a:t> </a:t>
            </a:r>
            <a:r>
              <a:rPr lang="en-US" dirty="0" err="1"/>
              <a:t>kullanılmıştır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57150" indent="0">
              <a:lnSpc>
                <a:spcPct val="150000"/>
              </a:lnSpc>
              <a:buNone/>
            </a:pPr>
            <a:endParaRPr lang="en-US" dirty="0"/>
          </a:p>
          <a:p>
            <a:pPr lvl="2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47589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CB69452-D6D9-9057-71DB-46AD32B8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61B544B-6B73-B7D4-7114-483CE93D6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08781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Destek </a:t>
            </a:r>
            <a:r>
              <a:rPr lang="en-US" dirty="0" err="1"/>
              <a:t>vektör</a:t>
            </a:r>
            <a:r>
              <a:rPr lang="en-US" dirty="0"/>
              <a:t> </a:t>
            </a:r>
            <a:r>
              <a:rPr lang="en-US" dirty="0" err="1"/>
              <a:t>regresyonu</a:t>
            </a:r>
            <a:r>
              <a:rPr lang="en-US" dirty="0"/>
              <a:t> (SVR)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değişkenli</a:t>
            </a:r>
            <a:r>
              <a:rPr lang="en-US" dirty="0"/>
              <a:t> </a:t>
            </a:r>
            <a:r>
              <a:rPr lang="en-US" dirty="0" err="1"/>
              <a:t>uyarlamalı</a:t>
            </a:r>
            <a:r>
              <a:rPr lang="en-US" dirty="0"/>
              <a:t> </a:t>
            </a:r>
            <a:r>
              <a:rPr lang="en-US" dirty="0" err="1"/>
              <a:t>regresyon</a:t>
            </a:r>
            <a:r>
              <a:rPr lang="en-US" dirty="0"/>
              <a:t> </a:t>
            </a:r>
            <a:r>
              <a:rPr lang="en-US" dirty="0" err="1"/>
              <a:t>spline’ları</a:t>
            </a:r>
            <a:r>
              <a:rPr lang="en-US" dirty="0"/>
              <a:t> (MARS)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Rastegele</a:t>
            </a:r>
            <a:r>
              <a:rPr lang="en-US" dirty="0"/>
              <a:t> </a:t>
            </a:r>
            <a:r>
              <a:rPr lang="en-US" dirty="0" err="1"/>
              <a:t>karar</a:t>
            </a:r>
            <a:r>
              <a:rPr lang="en-US" dirty="0"/>
              <a:t> </a:t>
            </a:r>
            <a:r>
              <a:rPr lang="en-US" dirty="0" err="1"/>
              <a:t>ormanları</a:t>
            </a:r>
            <a:r>
              <a:rPr lang="en-US" dirty="0"/>
              <a:t> (RF)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Gradyan</a:t>
            </a:r>
            <a:r>
              <a:rPr lang="en-US" dirty="0"/>
              <a:t> </a:t>
            </a:r>
            <a:r>
              <a:rPr lang="en-US" dirty="0" err="1"/>
              <a:t>Artırmalı</a:t>
            </a:r>
            <a:r>
              <a:rPr lang="en-US" dirty="0"/>
              <a:t> </a:t>
            </a:r>
            <a:r>
              <a:rPr lang="en-US" dirty="0" err="1"/>
              <a:t>Ağaçlar</a:t>
            </a:r>
            <a:r>
              <a:rPr lang="en-US" dirty="0"/>
              <a:t> (GTB)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Yapay</a:t>
            </a:r>
            <a:r>
              <a:rPr lang="en-US" dirty="0"/>
              <a:t> </a:t>
            </a:r>
            <a:r>
              <a:rPr lang="en-US" dirty="0" err="1"/>
              <a:t>sinir</a:t>
            </a:r>
            <a:r>
              <a:rPr lang="en-US" dirty="0"/>
              <a:t> </a:t>
            </a:r>
            <a:r>
              <a:rPr lang="en-US" dirty="0" err="1"/>
              <a:t>ağları</a:t>
            </a:r>
            <a:r>
              <a:rPr lang="en-US" dirty="0"/>
              <a:t> (ANN)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XGBoost</a:t>
            </a:r>
            <a:r>
              <a:rPr lang="en-US" dirty="0"/>
              <a:t> (</a:t>
            </a:r>
            <a:r>
              <a:rPr lang="en-US" dirty="0" err="1"/>
              <a:t>eXtreme</a:t>
            </a:r>
            <a:r>
              <a:rPr lang="en-US" dirty="0"/>
              <a:t> Gradient Boosting)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LightGBM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CatBoost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78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F2FD3-04F7-CC7E-A9E4-0A8FF999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23778-71CD-05CC-B8B4-8AF6CD978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Yeni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r>
              <a:rPr lang="en-US" dirty="0"/>
              <a:t> </a:t>
            </a:r>
            <a:r>
              <a:rPr lang="en-US" dirty="0" err="1"/>
              <a:t>Yaklaşımı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BB528-3258-92AD-B78B-674D7E54A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Liao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arkadaşlarının</a:t>
            </a:r>
            <a:r>
              <a:rPr lang="en-US" dirty="0"/>
              <a:t> (2025)</a:t>
            </a:r>
            <a:r>
              <a:rPr lang="en-US" baseline="30000" dirty="0"/>
              <a:t> [8]</a:t>
            </a:r>
            <a:r>
              <a:rPr lang="en-US" dirty="0"/>
              <a:t> </a:t>
            </a:r>
            <a:r>
              <a:rPr lang="en-US" dirty="0" err="1"/>
              <a:t>çalışmasında</a:t>
            </a:r>
            <a:r>
              <a:rPr lang="en-US" dirty="0"/>
              <a:t> </a:t>
            </a:r>
            <a:r>
              <a:rPr lang="en-US" dirty="0" err="1"/>
              <a:t>lignoselülozik</a:t>
            </a:r>
            <a:r>
              <a:rPr lang="en-US" dirty="0"/>
              <a:t> </a:t>
            </a:r>
            <a:r>
              <a:rPr lang="en-US" dirty="0" err="1"/>
              <a:t>biyokütlenin</a:t>
            </a:r>
            <a:r>
              <a:rPr lang="en-US" dirty="0"/>
              <a:t> </a:t>
            </a:r>
            <a:r>
              <a:rPr lang="en-US" dirty="0" err="1"/>
              <a:t>pirolizi</a:t>
            </a:r>
            <a:r>
              <a:rPr lang="en-US" dirty="0"/>
              <a:t>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</a:t>
            </a:r>
            <a:r>
              <a:rPr lang="en-US" dirty="0" err="1"/>
              <a:t>odun</a:t>
            </a:r>
            <a:r>
              <a:rPr lang="en-US" dirty="0"/>
              <a:t> </a:t>
            </a:r>
            <a:r>
              <a:rPr lang="en-US" dirty="0" err="1"/>
              <a:t>sirkesinin</a:t>
            </a:r>
            <a:r>
              <a:rPr lang="en-US" dirty="0"/>
              <a:t> </a:t>
            </a:r>
            <a:r>
              <a:rPr lang="en-US" dirty="0" err="1"/>
              <a:t>iki</a:t>
            </a:r>
            <a:r>
              <a:rPr lang="en-US" dirty="0"/>
              <a:t> </a:t>
            </a:r>
            <a:r>
              <a:rPr lang="en-US" dirty="0" err="1"/>
              <a:t>kademeli</a:t>
            </a:r>
            <a:r>
              <a:rPr lang="en-US" dirty="0"/>
              <a:t> </a:t>
            </a:r>
            <a:r>
              <a:rPr lang="en-US" dirty="0" err="1"/>
              <a:t>distilasyonu</a:t>
            </a:r>
            <a:r>
              <a:rPr lang="en-US" dirty="0"/>
              <a:t> </a:t>
            </a:r>
            <a:r>
              <a:rPr lang="en-US" dirty="0" err="1"/>
              <a:t>çıktılarını</a:t>
            </a:r>
            <a:r>
              <a:rPr lang="en-US" dirty="0"/>
              <a:t> </a:t>
            </a:r>
            <a:r>
              <a:rPr lang="en-US" dirty="0" err="1"/>
              <a:t>girdi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alıp</a:t>
            </a:r>
            <a:r>
              <a:rPr lang="en-US" dirty="0"/>
              <a:t> </a:t>
            </a:r>
            <a:r>
              <a:rPr lang="en-US" dirty="0" err="1"/>
              <a:t>odun</a:t>
            </a:r>
            <a:r>
              <a:rPr lang="en-US" dirty="0"/>
              <a:t> </a:t>
            </a:r>
            <a:r>
              <a:rPr lang="en-US" dirty="0" err="1"/>
              <a:t>sirkesinin</a:t>
            </a:r>
            <a:r>
              <a:rPr lang="en-US" dirty="0"/>
              <a:t> </a:t>
            </a:r>
            <a:r>
              <a:rPr lang="en-US" dirty="0" err="1"/>
              <a:t>içeriğini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oluşturulmuş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sayede</a:t>
            </a:r>
            <a:r>
              <a:rPr lang="en-US" dirty="0"/>
              <a:t> </a:t>
            </a:r>
            <a:r>
              <a:rPr lang="en-US" dirty="0" err="1"/>
              <a:t>çıkış</a:t>
            </a:r>
            <a:r>
              <a:rPr lang="en-US" dirty="0"/>
              <a:t> </a:t>
            </a:r>
            <a:r>
              <a:rPr lang="en-US" dirty="0" err="1"/>
              <a:t>akımlarındaki</a:t>
            </a:r>
            <a:r>
              <a:rPr lang="en-US" dirty="0"/>
              <a:t> </a:t>
            </a:r>
            <a:r>
              <a:rPr lang="en-US" dirty="0" err="1"/>
              <a:t>çevrim-içi</a:t>
            </a:r>
            <a:r>
              <a:rPr lang="en-US" dirty="0"/>
              <a:t> </a:t>
            </a:r>
            <a:r>
              <a:rPr lang="en-US" dirty="0" err="1"/>
              <a:t>sensör</a:t>
            </a:r>
            <a:r>
              <a:rPr lang="en-US" dirty="0"/>
              <a:t> </a:t>
            </a:r>
            <a:r>
              <a:rPr lang="en-US" dirty="0" err="1"/>
              <a:t>verileri</a:t>
            </a:r>
            <a:r>
              <a:rPr lang="en-US" dirty="0"/>
              <a:t> </a:t>
            </a:r>
            <a:r>
              <a:rPr lang="en-US" dirty="0" err="1"/>
              <a:t>kullanılarak</a:t>
            </a:r>
            <a:r>
              <a:rPr lang="en-US" dirty="0"/>
              <a:t> </a:t>
            </a:r>
            <a:r>
              <a:rPr lang="en-US" dirty="0" err="1"/>
              <a:t>besleme</a:t>
            </a:r>
            <a:r>
              <a:rPr lang="en-US" dirty="0"/>
              <a:t> </a:t>
            </a:r>
            <a:r>
              <a:rPr lang="en-US" dirty="0" err="1"/>
              <a:t>bileşimi</a:t>
            </a:r>
            <a:r>
              <a:rPr lang="en-US" dirty="0"/>
              <a:t> </a:t>
            </a:r>
            <a:r>
              <a:rPr lang="en-US" dirty="0" err="1"/>
              <a:t>gerçek-zamanlı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edilmiş</a:t>
            </a:r>
            <a:r>
              <a:rPr lang="en-US" dirty="0"/>
              <a:t>, ≈ %14 </a:t>
            </a:r>
            <a:r>
              <a:rPr lang="en-US" dirty="0" err="1"/>
              <a:t>enerji</a:t>
            </a:r>
            <a:r>
              <a:rPr lang="en-US" dirty="0"/>
              <a:t> </a:t>
            </a:r>
            <a:r>
              <a:rPr lang="en-US" dirty="0" err="1"/>
              <a:t>tasarrufu</a:t>
            </a:r>
            <a:r>
              <a:rPr lang="en-US" dirty="0"/>
              <a:t> </a:t>
            </a:r>
            <a:r>
              <a:rPr lang="en-US" dirty="0" err="1"/>
              <a:t>sağlanmış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ürün</a:t>
            </a:r>
            <a:r>
              <a:rPr lang="en-US" dirty="0"/>
              <a:t> </a:t>
            </a:r>
            <a:r>
              <a:rPr lang="en-US" dirty="0" err="1"/>
              <a:t>saflığındaki</a:t>
            </a:r>
            <a:r>
              <a:rPr lang="en-US" dirty="0"/>
              <a:t> </a:t>
            </a:r>
            <a:r>
              <a:rPr lang="en-US" dirty="0" err="1"/>
              <a:t>sapmalar</a:t>
            </a:r>
            <a:r>
              <a:rPr lang="en-US" dirty="0"/>
              <a:t> </a:t>
            </a:r>
            <a:r>
              <a:rPr lang="en-US" dirty="0" err="1"/>
              <a:t>erkenden</a:t>
            </a:r>
            <a:r>
              <a:rPr lang="en-US" dirty="0"/>
              <a:t> </a:t>
            </a:r>
            <a:r>
              <a:rPr lang="en-US" dirty="0" err="1"/>
              <a:t>düzeltilerek</a:t>
            </a:r>
            <a:r>
              <a:rPr lang="en-US" dirty="0"/>
              <a:t> proses </a:t>
            </a:r>
            <a:r>
              <a:rPr lang="en-US" dirty="0" err="1"/>
              <a:t>kararlılığı</a:t>
            </a:r>
            <a:r>
              <a:rPr lang="en-US" dirty="0"/>
              <a:t> </a:t>
            </a:r>
            <a:r>
              <a:rPr lang="en-US" dirty="0" err="1"/>
              <a:t>korunmuştur</a:t>
            </a:r>
            <a:r>
              <a:rPr lang="en-US" dirty="0"/>
              <a:t>. </a:t>
            </a:r>
            <a:endParaRPr lang="tr-TR" dirty="0"/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25623119-5E81-0F4E-A6E6-D2FF30BA487B}"/>
              </a:ext>
            </a:extLst>
          </p:cNvPr>
          <p:cNvSpPr txBox="1"/>
          <p:nvPr/>
        </p:nvSpPr>
        <p:spPr>
          <a:xfrm>
            <a:off x="0" y="639633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[8]: Leng, E., He, B., Chen, J., Liao, G., Ma, Y., Zhang, F., Liu, S., &amp; E, J. </a:t>
            </a:r>
            <a:r>
              <a:rPr lang="en-US" sz="1200" i="1" dirty="0"/>
              <a:t>Prediction of three-phased product distribution and bio-oil heating value of biomass fast pyrolysis based on machine learning</a:t>
            </a:r>
            <a:r>
              <a:rPr lang="en-US" sz="1200" dirty="0"/>
              <a:t>. Energy, 236 (2025): 121401. </a:t>
            </a:r>
          </a:p>
        </p:txBody>
      </p:sp>
    </p:spTree>
    <p:extLst>
      <p:ext uri="{BB962C8B-B14F-4D97-AF65-F5344CB8AC3E}">
        <p14:creationId xmlns:p14="http://schemas.microsoft.com/office/powerpoint/2010/main" val="983267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9B6D0-3DB5-3CF7-D2E2-F8C8E3CD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00DCA-2EB5-378F-F975-4D09035D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Seçimi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2FDD6-914F-3381-D8ED-D21BEB88E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doğrudan</a:t>
            </a:r>
            <a:r>
              <a:rPr lang="en-US" dirty="0"/>
              <a:t> </a:t>
            </a:r>
            <a:r>
              <a:rPr lang="en-US" dirty="0" err="1"/>
              <a:t>yakılması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Buhar reforming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Hidro-deoksijenasyon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Fenolik</a:t>
            </a:r>
            <a:r>
              <a:rPr lang="en-US" dirty="0"/>
              <a:t> </a:t>
            </a:r>
            <a:r>
              <a:rPr lang="en-US" dirty="0" err="1"/>
              <a:t>reçine</a:t>
            </a:r>
            <a:r>
              <a:rPr lang="en-US" dirty="0"/>
              <a:t> </a:t>
            </a:r>
            <a:r>
              <a:rPr lang="en-US" dirty="0" err="1"/>
              <a:t>üretimi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asfalt</a:t>
            </a:r>
            <a:r>
              <a:rPr lang="en-US" dirty="0"/>
              <a:t> </a:t>
            </a:r>
            <a:r>
              <a:rPr lang="en-US" dirty="0" err="1"/>
              <a:t>sentezi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067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49E41-300E-119D-6B49-64DB882F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38DB7-786A-B9FF-10B9-D74C93C0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4333937" cy="44106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dirty="0" err="1"/>
              <a:t>Dönem</a:t>
            </a:r>
            <a:r>
              <a:rPr lang="en-US" sz="4000" dirty="0"/>
              <a:t> </a:t>
            </a:r>
            <a:r>
              <a:rPr lang="en-US" sz="4000" dirty="0" err="1"/>
              <a:t>İçinde</a:t>
            </a:r>
            <a:r>
              <a:rPr lang="en-US" sz="4000" dirty="0"/>
              <a:t> </a:t>
            </a:r>
            <a:r>
              <a:rPr lang="en-US" sz="4000" dirty="0" err="1"/>
              <a:t>Yapılan</a:t>
            </a:r>
            <a:r>
              <a:rPr lang="en-US" sz="4000" dirty="0"/>
              <a:t> </a:t>
            </a:r>
            <a:r>
              <a:rPr lang="en-US" sz="4000" dirty="0" err="1"/>
              <a:t>Çalışmalar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140966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D1DA-7924-61C2-27ED-BC84211DF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630D4-CC35-6C5A-6DF5-2CADDA18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Buhar reforming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1650E-EAD0-4532-8FE9-9B50A103E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kümesi</a:t>
            </a:r>
            <a:r>
              <a:rPr lang="en-US" dirty="0"/>
              <a:t> </a:t>
            </a:r>
            <a:r>
              <a:rPr lang="en-US" dirty="0" err="1"/>
              <a:t>üretimi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T (650–850 °C), P (5–30 bar), S/C (2–6)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bileşim</a:t>
            </a:r>
            <a:r>
              <a:rPr lang="en-US" dirty="0"/>
              <a:t> </a:t>
            </a:r>
            <a:r>
              <a:rPr lang="en-US" dirty="0" err="1"/>
              <a:t>varyasyonları</a:t>
            </a:r>
            <a:r>
              <a:rPr lang="en-US" dirty="0"/>
              <a:t> </a:t>
            </a:r>
            <a:r>
              <a:rPr lang="en-US" dirty="0" err="1"/>
              <a:t>taranması</a:t>
            </a:r>
            <a:r>
              <a:rPr lang="en-US" dirty="0"/>
              <a:t> </a:t>
            </a:r>
            <a:r>
              <a:rPr lang="en-US" dirty="0" err="1"/>
              <a:t>düşünülmüştür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Girdi</a:t>
            </a:r>
            <a:r>
              <a:rPr lang="en-US" dirty="0"/>
              <a:t> (X)</a:t>
            </a:r>
          </a:p>
          <a:p>
            <a:pPr lvl="2">
              <a:lnSpc>
                <a:spcPct val="150000"/>
              </a:lnSpc>
            </a:pP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 lvl="2">
              <a:lnSpc>
                <a:spcPct val="150000"/>
              </a:lnSpc>
            </a:pPr>
            <a:r>
              <a:rPr lang="en-US" dirty="0" err="1"/>
              <a:t>kontrol</a:t>
            </a:r>
            <a:r>
              <a:rPr lang="en-US" dirty="0"/>
              <a:t> </a:t>
            </a:r>
            <a:r>
              <a:rPr lang="en-US" dirty="0" err="1"/>
              <a:t>değişkenleri</a:t>
            </a:r>
            <a:r>
              <a:rPr lang="en-US" dirty="0"/>
              <a:t> (T, P, S/C)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Çıktılar</a:t>
            </a:r>
            <a:r>
              <a:rPr lang="en-US" dirty="0"/>
              <a:t> (Y) = </a:t>
            </a:r>
            <a:r>
              <a:rPr lang="en-US" dirty="0" err="1"/>
              <a:t>Biyoysğ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ters</a:t>
            </a:r>
            <a:r>
              <a:rPr lang="en-US" dirty="0"/>
              <a:t> </a:t>
            </a:r>
            <a:r>
              <a:rPr lang="en-US" dirty="0" err="1"/>
              <a:t>modelin</a:t>
            </a:r>
            <a:r>
              <a:rPr lang="en-US" dirty="0"/>
              <a:t>, </a:t>
            </a:r>
            <a:r>
              <a:rPr lang="en-US" dirty="0" err="1"/>
              <a:t>gerçek</a:t>
            </a:r>
            <a:r>
              <a:rPr lang="en-US" dirty="0"/>
              <a:t> </a:t>
            </a:r>
            <a:r>
              <a:rPr lang="en-US" dirty="0" err="1"/>
              <a:t>zamanlı</a:t>
            </a:r>
            <a:r>
              <a:rPr lang="en-US" dirty="0"/>
              <a:t> Model Predictive Control (MPC) </a:t>
            </a:r>
            <a:r>
              <a:rPr lang="en-US" dirty="0" err="1"/>
              <a:t>tasarımında</a:t>
            </a:r>
            <a:r>
              <a:rPr lang="en-US" dirty="0"/>
              <a:t> set-point </a:t>
            </a:r>
            <a:r>
              <a:rPr lang="en-US" dirty="0" err="1"/>
              <a:t>jeneratörü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görev</a:t>
            </a:r>
            <a:r>
              <a:rPr lang="en-US" dirty="0"/>
              <a:t> </a:t>
            </a:r>
            <a:r>
              <a:rPr lang="en-US" dirty="0" err="1"/>
              <a:t>yapması</a:t>
            </a:r>
            <a:r>
              <a:rPr lang="en-US" dirty="0"/>
              <a:t> </a:t>
            </a:r>
            <a:r>
              <a:rPr lang="en-US" dirty="0" err="1"/>
              <a:t>hedeflenmektedir</a:t>
            </a:r>
            <a:r>
              <a:rPr lang="en-US" dirty="0"/>
              <a:t>. </a:t>
            </a: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C2548B5-2C39-0C59-70D1-D1C791D71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085" y="5575696"/>
            <a:ext cx="10267263" cy="85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9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534CA-63FC-66DF-0B0E-38666CBA8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114CA-33C9-8A4E-5027-F3266D54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3AB3D-FEF8-11A6-0CCC-1C108D0B0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676399"/>
            <a:ext cx="6033247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Biyokütle</a:t>
            </a:r>
            <a:r>
              <a:rPr lang="en-US" dirty="0"/>
              <a:t> </a:t>
            </a:r>
            <a:r>
              <a:rPr lang="en-US" dirty="0" err="1"/>
              <a:t>pirolizi</a:t>
            </a:r>
            <a:r>
              <a:rPr lang="en-US" dirty="0"/>
              <a:t> </a:t>
            </a:r>
            <a:r>
              <a:rPr lang="en-US" dirty="0" err="1"/>
              <a:t>ile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</a:t>
            </a:r>
            <a:r>
              <a:rPr lang="en-US" dirty="0" err="1"/>
              <a:t>biyo-yağın</a:t>
            </a:r>
            <a:r>
              <a:rPr lang="en-US" dirty="0"/>
              <a:t> </a:t>
            </a:r>
            <a:r>
              <a:rPr lang="en-US" dirty="0" err="1"/>
              <a:t>buhar</a:t>
            </a:r>
            <a:r>
              <a:rPr lang="en-US" dirty="0"/>
              <a:t> reforming </a:t>
            </a:r>
            <a:r>
              <a:rPr lang="en-US" dirty="0" err="1"/>
              <a:t>işleminden</a:t>
            </a:r>
            <a:r>
              <a:rPr lang="en-US" dirty="0"/>
              <a:t>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sıngaz</a:t>
            </a:r>
            <a:r>
              <a:rPr lang="en-US" dirty="0"/>
              <a:t> </a:t>
            </a:r>
            <a:r>
              <a:rPr lang="en-US" dirty="0" err="1"/>
              <a:t>kompozisyonuna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, </a:t>
            </a:r>
            <a:r>
              <a:rPr lang="en-US" dirty="0" err="1"/>
              <a:t>girişte</a:t>
            </a:r>
            <a:r>
              <a:rPr lang="en-US" dirty="0"/>
              <a:t> </a:t>
            </a:r>
            <a:r>
              <a:rPr lang="en-US" dirty="0" err="1"/>
              <a:t>kullanılan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tahmini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amaçla</a:t>
            </a:r>
            <a:r>
              <a:rPr lang="en-US" dirty="0"/>
              <a:t> </a:t>
            </a:r>
            <a:r>
              <a:rPr lang="en-US" dirty="0" err="1"/>
              <a:t>tersten</a:t>
            </a:r>
            <a:r>
              <a:rPr lang="en-US" dirty="0"/>
              <a:t> </a:t>
            </a:r>
            <a:r>
              <a:rPr lang="en-US" dirty="0" err="1"/>
              <a:t>çalışan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geliştirildi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</a:t>
            </a:r>
            <a:r>
              <a:rPr lang="en-US" dirty="0" err="1"/>
              <a:t>karakterizasyonu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tahminleme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Figür</a:t>
            </a:r>
            <a:r>
              <a:rPr lang="en-US" dirty="0"/>
              <a:t> 1'de </a:t>
            </a:r>
            <a:r>
              <a:rPr lang="en-US" dirty="0" err="1"/>
              <a:t>gösterilmiştir</a:t>
            </a:r>
            <a:r>
              <a:rPr lang="en-US" dirty="0"/>
              <a:t>. </a:t>
            </a:r>
            <a:endParaRPr lang="tr-TR" dirty="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9102BCDD-25C2-9514-9CA6-600C101BC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265" y="1183532"/>
            <a:ext cx="5769735" cy="567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813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1EBAC-30CD-319F-0E74-DF46A444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B3C3-A925-ED81-C4BC-256B7B14D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B4A53-6BC1-D75C-7431-5368DAA6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yağ</a:t>
            </a:r>
            <a:r>
              <a:rPr lang="en-US" dirty="0"/>
              <a:t> </a:t>
            </a:r>
            <a:r>
              <a:rPr lang="en-US" dirty="0" err="1"/>
              <a:t>buhar</a:t>
            </a:r>
            <a:r>
              <a:rPr lang="en-US" dirty="0"/>
              <a:t> reforming </a:t>
            </a:r>
            <a:r>
              <a:rPr lang="en-US" dirty="0" err="1"/>
              <a:t>tesislerinde</a:t>
            </a:r>
            <a:r>
              <a:rPr lang="en-US" dirty="0"/>
              <a:t>, </a:t>
            </a:r>
            <a:r>
              <a:rPr lang="en-US" dirty="0" err="1"/>
              <a:t>reaktörden</a:t>
            </a:r>
            <a:r>
              <a:rPr lang="en-US" dirty="0"/>
              <a:t>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sıngaz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ölçmek</a:t>
            </a:r>
            <a:r>
              <a:rPr lang="en-US" dirty="0"/>
              <a:t> </a:t>
            </a:r>
            <a:r>
              <a:rPr lang="en-US" dirty="0" err="1"/>
              <a:t>oldukça</a:t>
            </a:r>
            <a:r>
              <a:rPr lang="en-US" dirty="0"/>
              <a:t> </a:t>
            </a:r>
            <a:r>
              <a:rPr lang="en-US" dirty="0" err="1"/>
              <a:t>kolay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hızlıdır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yağın</a:t>
            </a:r>
            <a:r>
              <a:rPr lang="en-US" dirty="0"/>
              <a:t> </a:t>
            </a:r>
            <a:r>
              <a:rPr lang="en-US" dirty="0" err="1"/>
              <a:t>detaylı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belirlemek</a:t>
            </a:r>
            <a:r>
              <a:rPr lang="en-US" dirty="0"/>
              <a:t> </a:t>
            </a:r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zor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zaman </a:t>
            </a:r>
            <a:r>
              <a:rPr lang="en-US" dirty="0" err="1"/>
              <a:t>alıcıdır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Eğer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kompozisyonuna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edebilirsek</a:t>
            </a:r>
            <a:r>
              <a:rPr lang="en-US" dirty="0"/>
              <a:t> hem </a:t>
            </a:r>
            <a:r>
              <a:rPr lang="en-US" dirty="0" err="1"/>
              <a:t>hammadde</a:t>
            </a:r>
            <a:r>
              <a:rPr lang="en-US" dirty="0"/>
              <a:t> </a:t>
            </a:r>
            <a:r>
              <a:rPr lang="en-US" dirty="0" err="1"/>
              <a:t>kalite</a:t>
            </a:r>
            <a:r>
              <a:rPr lang="en-US" dirty="0"/>
              <a:t> </a:t>
            </a:r>
            <a:r>
              <a:rPr lang="en-US" dirty="0" err="1"/>
              <a:t>kontrolü</a:t>
            </a:r>
            <a:r>
              <a:rPr lang="en-US" dirty="0"/>
              <a:t> </a:t>
            </a:r>
            <a:r>
              <a:rPr lang="en-US" dirty="0" err="1"/>
              <a:t>yapılabilir</a:t>
            </a:r>
            <a:r>
              <a:rPr lang="en-US" dirty="0"/>
              <a:t> hem de </a:t>
            </a:r>
            <a:r>
              <a:rPr lang="en-US" dirty="0" err="1"/>
              <a:t>gerçek</a:t>
            </a:r>
            <a:r>
              <a:rPr lang="en-US" dirty="0"/>
              <a:t> </a:t>
            </a:r>
            <a:r>
              <a:rPr lang="en-US" dirty="0" err="1"/>
              <a:t>zamanlı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tesiste</a:t>
            </a:r>
            <a:r>
              <a:rPr lang="en-US" dirty="0"/>
              <a:t> hangi </a:t>
            </a:r>
            <a:r>
              <a:rPr lang="en-US" dirty="0" err="1"/>
              <a:t>tür</a:t>
            </a:r>
            <a:r>
              <a:rPr lang="en-US" dirty="0"/>
              <a:t> </a:t>
            </a:r>
            <a:r>
              <a:rPr lang="en-US" dirty="0" err="1"/>
              <a:t>biyo-yağın</a:t>
            </a:r>
            <a:r>
              <a:rPr lang="en-US" dirty="0"/>
              <a:t> </a:t>
            </a:r>
            <a:r>
              <a:rPr lang="en-US" dirty="0" err="1"/>
              <a:t>kullanıldığını</a:t>
            </a:r>
            <a:r>
              <a:rPr lang="en-US" dirty="0"/>
              <a:t> </a:t>
            </a:r>
            <a:r>
              <a:rPr lang="en-US" dirty="0" err="1"/>
              <a:t>izlenebilir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Ayrıca</a:t>
            </a:r>
            <a:r>
              <a:rPr lang="en-US" dirty="0"/>
              <a:t>, </a:t>
            </a:r>
            <a:r>
              <a:rPr lang="en-US" dirty="0" err="1"/>
              <a:t>belirli</a:t>
            </a:r>
            <a:r>
              <a:rPr lang="en-US" dirty="0"/>
              <a:t> </a:t>
            </a:r>
            <a:r>
              <a:rPr lang="en-US" dirty="0" err="1"/>
              <a:t>hedef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hidrojen</a:t>
            </a:r>
            <a:r>
              <a:rPr lang="en-US" dirty="0"/>
              <a:t> </a:t>
            </a:r>
            <a:r>
              <a:rPr lang="en-US" dirty="0" err="1"/>
              <a:t>üretimi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uygun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karışımının</a:t>
            </a:r>
            <a:r>
              <a:rPr lang="en-US" dirty="0"/>
              <a:t> ne </a:t>
            </a:r>
            <a:r>
              <a:rPr lang="en-US" dirty="0" err="1"/>
              <a:t>olması</a:t>
            </a:r>
            <a:r>
              <a:rPr lang="en-US" dirty="0"/>
              <a:t> </a:t>
            </a:r>
            <a:r>
              <a:rPr lang="en-US" dirty="0" err="1"/>
              <a:t>gerektiğini</a:t>
            </a:r>
            <a:r>
              <a:rPr lang="en-US" dirty="0"/>
              <a:t> optimize </a:t>
            </a:r>
            <a:r>
              <a:rPr lang="en-US" dirty="0" err="1"/>
              <a:t>edilebilir</a:t>
            </a:r>
            <a:r>
              <a:rPr lang="en-US" dirty="0"/>
              <a:t>. 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38110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EC681-82B8-5DC5-947D-7F7B5436B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F6BE-0215-372E-FBB9-DC4C49DAE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Cantera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6C51-200F-8625-E09F-D17CF4C97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656" y="1676399"/>
            <a:ext cx="8808346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NASA </a:t>
            </a:r>
            <a:r>
              <a:rPr lang="en-US" dirty="0" err="1"/>
              <a:t>tarafından</a:t>
            </a:r>
            <a:r>
              <a:rPr lang="en-US" dirty="0"/>
              <a:t> </a:t>
            </a:r>
            <a:r>
              <a:rPr lang="en-US" dirty="0" err="1"/>
              <a:t>geliştirilen</a:t>
            </a:r>
            <a:r>
              <a:rPr lang="en-US" dirty="0"/>
              <a:t> </a:t>
            </a:r>
            <a:r>
              <a:rPr lang="en-US" dirty="0" err="1"/>
              <a:t>termodinamik</a:t>
            </a:r>
            <a:r>
              <a:rPr lang="en-US" dirty="0"/>
              <a:t> </a:t>
            </a:r>
            <a:r>
              <a:rPr lang="en-US" dirty="0" err="1"/>
              <a:t>veri</a:t>
            </a:r>
            <a:r>
              <a:rPr lang="en-US" dirty="0"/>
              <a:t> </a:t>
            </a:r>
            <a:r>
              <a:rPr lang="en-US" dirty="0" err="1"/>
              <a:t>tabanlarını</a:t>
            </a:r>
            <a:r>
              <a:rPr lang="en-US" dirty="0"/>
              <a:t> </a:t>
            </a:r>
            <a:r>
              <a:rPr lang="en-US" dirty="0" err="1"/>
              <a:t>kullanarak</a:t>
            </a:r>
            <a:r>
              <a:rPr lang="en-US" dirty="0"/>
              <a:t>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minimizasyonu</a:t>
            </a:r>
            <a:r>
              <a:rPr lang="en-US" dirty="0"/>
              <a:t> </a:t>
            </a:r>
            <a:r>
              <a:rPr lang="en-US" dirty="0" err="1"/>
              <a:t>yöntemiyle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denge</a:t>
            </a:r>
            <a:r>
              <a:rPr lang="en-US" dirty="0"/>
              <a:t> </a:t>
            </a:r>
            <a:r>
              <a:rPr lang="en-US" dirty="0" err="1"/>
              <a:t>hesaplamaları</a:t>
            </a:r>
            <a:r>
              <a:rPr lang="en-US" dirty="0"/>
              <a:t> </a:t>
            </a:r>
            <a:r>
              <a:rPr lang="en-US" dirty="0" err="1"/>
              <a:t>yapar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denge</a:t>
            </a:r>
            <a:r>
              <a:rPr lang="en-US" dirty="0"/>
              <a:t>, </a:t>
            </a:r>
            <a:r>
              <a:rPr lang="en-US" dirty="0" err="1"/>
              <a:t>sistemin</a:t>
            </a:r>
            <a:r>
              <a:rPr lang="en-US" dirty="0"/>
              <a:t>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enerjisinin</a:t>
            </a:r>
            <a:r>
              <a:rPr lang="en-US" dirty="0"/>
              <a:t> minimum </a:t>
            </a:r>
            <a:r>
              <a:rPr lang="en-US" dirty="0" err="1"/>
              <a:t>noktasına</a:t>
            </a:r>
            <a:r>
              <a:rPr lang="en-US" dirty="0"/>
              <a:t> </a:t>
            </a:r>
            <a:r>
              <a:rPr lang="en-US" dirty="0" err="1"/>
              <a:t>ulaştığı</a:t>
            </a:r>
            <a:r>
              <a:rPr lang="en-US" dirty="0"/>
              <a:t> </a:t>
            </a:r>
            <a:r>
              <a:rPr lang="en-US" dirty="0" err="1"/>
              <a:t>durumdur</a:t>
            </a:r>
            <a:r>
              <a:rPr lang="en-US" dirty="0"/>
              <a:t>. </a:t>
            </a:r>
            <a:r>
              <a:rPr lang="en-US" dirty="0" err="1"/>
              <a:t>Matematiksel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Minimize: G = </a:t>
            </a:r>
            <a:r>
              <a:rPr lang="el-GR" dirty="0"/>
              <a:t>Σ(</a:t>
            </a:r>
            <a:r>
              <a:rPr lang="en-US" dirty="0"/>
              <a:t>nᵢ × </a:t>
            </a:r>
            <a:r>
              <a:rPr lang="el-GR" dirty="0"/>
              <a:t>μ</a:t>
            </a:r>
            <a:r>
              <a:rPr lang="en-US" dirty="0"/>
              <a:t>ᵢ) </a:t>
            </a: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61C90FE-FF96-A63D-FF25-3D445AB37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630" y="3836896"/>
            <a:ext cx="5771628" cy="2055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1933B-9186-B95D-66BA-DE00689C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F553-2774-189B-D53B-BFCC8BE91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1E9E2-8016-D555-A24C-9D6FC246C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r>
              <a:rPr lang="en-US" dirty="0" err="1"/>
              <a:t>Sistemdeki</a:t>
            </a:r>
            <a:r>
              <a:rPr lang="en-US" dirty="0"/>
              <a:t> her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tür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potansiyeli</a:t>
            </a:r>
            <a:r>
              <a:rPr lang="en-US" dirty="0"/>
              <a:t> (</a:t>
            </a:r>
            <a:r>
              <a:rPr lang="el-GR" dirty="0"/>
              <a:t>μ</a:t>
            </a:r>
            <a:r>
              <a:rPr lang="en-US" dirty="0"/>
              <a:t>ᵢ) </a:t>
            </a:r>
            <a:r>
              <a:rPr lang="en-US" dirty="0" err="1"/>
              <a:t>hesaplanır</a:t>
            </a:r>
            <a:r>
              <a:rPr lang="en-US" dirty="0"/>
              <a:t>. </a:t>
            </a:r>
          </a:p>
          <a:p>
            <a:r>
              <a:rPr lang="en-US" dirty="0" err="1"/>
              <a:t>Ardından</a:t>
            </a:r>
            <a:r>
              <a:rPr lang="en-US" dirty="0"/>
              <a:t> element </a:t>
            </a:r>
            <a:r>
              <a:rPr lang="en-US" dirty="0" err="1"/>
              <a:t>korunumu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(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giren</a:t>
            </a:r>
            <a:r>
              <a:rPr lang="en-US" dirty="0"/>
              <a:t> C, H, O atom </a:t>
            </a:r>
            <a:r>
              <a:rPr lang="en-US" dirty="0" err="1"/>
              <a:t>miktarları</a:t>
            </a:r>
            <a:r>
              <a:rPr lang="en-US" dirty="0"/>
              <a:t> =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miktarlar</a:t>
            </a:r>
            <a:r>
              <a:rPr lang="en-US" dirty="0"/>
              <a:t>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pozitif</a:t>
            </a:r>
            <a:r>
              <a:rPr lang="en-US" dirty="0"/>
              <a:t> mol </a:t>
            </a:r>
            <a:r>
              <a:rPr lang="en-US" dirty="0" err="1"/>
              <a:t>sayısı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</a:t>
            </a:r>
            <a:r>
              <a:rPr lang="en-US" dirty="0" err="1"/>
              <a:t>altında</a:t>
            </a:r>
            <a:r>
              <a:rPr lang="en-US" dirty="0"/>
              <a:t>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</a:t>
            </a:r>
            <a:r>
              <a:rPr lang="en-US" dirty="0"/>
              <a:t> minimize </a:t>
            </a:r>
            <a:r>
              <a:rPr lang="en-US" dirty="0" err="1"/>
              <a:t>eden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r>
              <a:rPr lang="en-US" dirty="0"/>
              <a:t> </a:t>
            </a:r>
            <a:r>
              <a:rPr lang="en-US" dirty="0" err="1"/>
              <a:t>bulur</a:t>
            </a:r>
            <a:r>
              <a:rPr lang="en-US" dirty="0"/>
              <a:t>. </a:t>
            </a:r>
          </a:p>
          <a:p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olası</a:t>
            </a:r>
            <a:r>
              <a:rPr lang="en-US" dirty="0"/>
              <a:t> </a:t>
            </a:r>
            <a:r>
              <a:rPr lang="en-US" dirty="0" err="1"/>
              <a:t>tüm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türleri</a:t>
            </a:r>
            <a:r>
              <a:rPr lang="en-US" dirty="0"/>
              <a:t> </a:t>
            </a:r>
            <a:r>
              <a:rPr lang="en-US" dirty="0" err="1"/>
              <a:t>göz</a:t>
            </a:r>
            <a:r>
              <a:rPr lang="en-US" dirty="0"/>
              <a:t> </a:t>
            </a:r>
            <a:r>
              <a:rPr lang="en-US" dirty="0" err="1"/>
              <a:t>önünde</a:t>
            </a:r>
            <a:r>
              <a:rPr lang="en-US" dirty="0"/>
              <a:t> </a:t>
            </a:r>
            <a:r>
              <a:rPr lang="en-US" dirty="0" err="1"/>
              <a:t>bulundurarak</a:t>
            </a:r>
            <a:r>
              <a:rPr lang="en-US" dirty="0"/>
              <a:t>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</a:t>
            </a:r>
            <a:r>
              <a:rPr lang="en-US" dirty="0"/>
              <a:t> minimize </a:t>
            </a:r>
            <a:r>
              <a:rPr lang="en-US" dirty="0" err="1"/>
              <a:t>edecek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r>
              <a:rPr lang="en-US" dirty="0"/>
              <a:t> </a:t>
            </a:r>
            <a:r>
              <a:rPr lang="en-US" dirty="0" err="1"/>
              <a:t>bulur</a:t>
            </a:r>
            <a:r>
              <a:rPr lang="en-US" dirty="0"/>
              <a:t>. </a:t>
            </a:r>
          </a:p>
          <a:p>
            <a:r>
              <a:rPr lang="en-US" dirty="0"/>
              <a:t>Bu </a:t>
            </a:r>
            <a:r>
              <a:rPr lang="en-US" dirty="0" err="1"/>
              <a:t>optimizasyon</a:t>
            </a:r>
            <a:r>
              <a:rPr lang="en-US" dirty="0"/>
              <a:t> </a:t>
            </a:r>
            <a:r>
              <a:rPr lang="en-US" dirty="0" err="1"/>
              <a:t>problemi</a:t>
            </a:r>
            <a:r>
              <a:rPr lang="en-US" dirty="0"/>
              <a:t> </a:t>
            </a:r>
            <a:r>
              <a:rPr lang="en-US" dirty="0" err="1"/>
              <a:t>doğrusal</a:t>
            </a:r>
            <a:r>
              <a:rPr lang="en-US" dirty="0"/>
              <a:t> </a:t>
            </a:r>
            <a:r>
              <a:rPr lang="en-US" dirty="0" err="1"/>
              <a:t>olmayan</a:t>
            </a:r>
            <a:r>
              <a:rPr lang="en-US" dirty="0"/>
              <a:t> </a:t>
            </a:r>
            <a:r>
              <a:rPr lang="en-US" dirty="0" err="1"/>
              <a:t>kısıtlı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problemdir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Cantera </a:t>
            </a:r>
            <a:r>
              <a:rPr lang="en-US" dirty="0" err="1"/>
              <a:t>bunu</a:t>
            </a:r>
            <a:r>
              <a:rPr lang="en-US" dirty="0"/>
              <a:t> </a:t>
            </a:r>
            <a:r>
              <a:rPr lang="en-US" dirty="0" err="1"/>
              <a:t>çözmek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Newton-Raphson </a:t>
            </a:r>
            <a:r>
              <a:rPr lang="en-US" dirty="0" err="1"/>
              <a:t>gibi</a:t>
            </a:r>
            <a:r>
              <a:rPr lang="en-US" dirty="0"/>
              <a:t> </a:t>
            </a:r>
            <a:r>
              <a:rPr lang="en-US" dirty="0" err="1"/>
              <a:t>nümerik</a:t>
            </a:r>
            <a:r>
              <a:rPr lang="en-US" dirty="0"/>
              <a:t> </a:t>
            </a:r>
            <a:r>
              <a:rPr lang="en-US" dirty="0" err="1"/>
              <a:t>metodlar</a:t>
            </a:r>
            <a:r>
              <a:rPr lang="en-US" dirty="0"/>
              <a:t> </a:t>
            </a:r>
            <a:r>
              <a:rPr lang="en-US" dirty="0" err="1"/>
              <a:t>kullanır</a:t>
            </a:r>
            <a:r>
              <a:rPr lang="en-US" dirty="0"/>
              <a:t>. </a:t>
            </a:r>
          </a:p>
          <a:p>
            <a:r>
              <a:rPr lang="en-US" dirty="0"/>
              <a:t>Cantera,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minimizasyonu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Newton-Raphson </a:t>
            </a:r>
            <a:r>
              <a:rPr lang="en-US" dirty="0" err="1"/>
              <a:t>iteratif</a:t>
            </a:r>
            <a:r>
              <a:rPr lang="en-US" dirty="0"/>
              <a:t> </a:t>
            </a:r>
            <a:r>
              <a:rPr lang="en-US" dirty="0" err="1"/>
              <a:t>yöntemini</a:t>
            </a:r>
            <a:r>
              <a:rPr lang="en-US" dirty="0"/>
              <a:t> </a:t>
            </a:r>
            <a:r>
              <a:rPr lang="en-US" dirty="0" err="1"/>
              <a:t>kullanır</a:t>
            </a:r>
            <a:r>
              <a:rPr lang="en-US" dirty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53624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04F13-BE85-0776-420F-3D7C210F9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93172-E59A-2F66-B7BC-9AC0D2AFD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48909-8249-22FE-81BB-9A73C7D62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71" y="1281953"/>
            <a:ext cx="10040469" cy="54665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1. </a:t>
            </a:r>
            <a:r>
              <a:rPr lang="en-US" dirty="0" err="1"/>
              <a:t>Başlangıç</a:t>
            </a:r>
            <a:r>
              <a:rPr lang="en-US" dirty="0"/>
              <a:t> </a:t>
            </a:r>
            <a:r>
              <a:rPr lang="en-US" dirty="0" err="1"/>
              <a:t>tahmini</a:t>
            </a:r>
            <a:r>
              <a:rPr lang="en-US" dirty="0"/>
              <a:t>: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ilk </a:t>
            </a:r>
            <a:r>
              <a:rPr lang="en-US" dirty="0" err="1"/>
              <a:t>kompozisyon</a:t>
            </a:r>
            <a:r>
              <a:rPr lang="en-US" dirty="0"/>
              <a:t> </a:t>
            </a:r>
            <a:r>
              <a:rPr lang="en-US" dirty="0" err="1"/>
              <a:t>değerleri</a:t>
            </a:r>
            <a:r>
              <a:rPr lang="en-US" dirty="0"/>
              <a:t> </a:t>
            </a:r>
            <a:r>
              <a:rPr lang="en-US" dirty="0" err="1"/>
              <a:t>belirlenir</a:t>
            </a:r>
            <a:r>
              <a:rPr lang="en-US" dirty="0"/>
              <a:t> </a:t>
            </a:r>
          </a:p>
          <a:p>
            <a:r>
              <a:rPr lang="en-US" dirty="0"/>
              <a:t>2. Jacobian </a:t>
            </a:r>
            <a:r>
              <a:rPr lang="en-US" dirty="0" err="1"/>
              <a:t>matrisi</a:t>
            </a:r>
            <a:r>
              <a:rPr lang="en-US" dirty="0"/>
              <a:t> </a:t>
            </a:r>
            <a:r>
              <a:rPr lang="en-US" dirty="0" err="1"/>
              <a:t>hesaplaması</a:t>
            </a:r>
            <a:r>
              <a:rPr lang="en-US" dirty="0"/>
              <a:t>: Her </a:t>
            </a:r>
            <a:r>
              <a:rPr lang="en-US" dirty="0" err="1"/>
              <a:t>iterasyonda</a:t>
            </a:r>
            <a:r>
              <a:rPr lang="en-US" dirty="0"/>
              <a:t>, Gibbs </a:t>
            </a:r>
            <a:r>
              <a:rPr lang="en-US" dirty="0" err="1"/>
              <a:t>enerjisinin</a:t>
            </a:r>
            <a:r>
              <a:rPr lang="en-US" dirty="0"/>
              <a:t> </a:t>
            </a:r>
            <a:r>
              <a:rPr lang="en-US" dirty="0" err="1"/>
              <a:t>kompozisyona</a:t>
            </a:r>
            <a:r>
              <a:rPr lang="en-US" dirty="0"/>
              <a:t> </a:t>
            </a:r>
            <a:r>
              <a:rPr lang="en-US" dirty="0" err="1"/>
              <a:t>göre</a:t>
            </a:r>
            <a:r>
              <a:rPr lang="en-US" dirty="0"/>
              <a:t> </a:t>
            </a:r>
            <a:r>
              <a:rPr lang="en-US" dirty="0" err="1"/>
              <a:t>kısmi</a:t>
            </a:r>
            <a:r>
              <a:rPr lang="en-US" dirty="0"/>
              <a:t> </a:t>
            </a:r>
            <a:r>
              <a:rPr lang="en-US" dirty="0" err="1"/>
              <a:t>türevleri</a:t>
            </a:r>
            <a:r>
              <a:rPr lang="en-US" dirty="0"/>
              <a:t> (Jacobian </a:t>
            </a:r>
            <a:r>
              <a:rPr lang="en-US" dirty="0" err="1"/>
              <a:t>matrisi</a:t>
            </a:r>
            <a:r>
              <a:rPr lang="en-US" dirty="0"/>
              <a:t>) </a:t>
            </a:r>
            <a:r>
              <a:rPr lang="en-US" dirty="0" err="1"/>
              <a:t>hesaplanır</a:t>
            </a:r>
            <a:r>
              <a:rPr lang="en-US" dirty="0"/>
              <a:t> </a:t>
            </a:r>
          </a:p>
          <a:p>
            <a:r>
              <a:rPr lang="en-US" dirty="0"/>
              <a:t>3. </a:t>
            </a:r>
            <a:r>
              <a:rPr lang="en-US" dirty="0" err="1"/>
              <a:t>Doğrusal</a:t>
            </a:r>
            <a:r>
              <a:rPr lang="en-US" dirty="0"/>
              <a:t> </a:t>
            </a:r>
            <a:r>
              <a:rPr lang="en-US" dirty="0" err="1"/>
              <a:t>denklem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çözümü</a:t>
            </a:r>
            <a:r>
              <a:rPr lang="en-US" dirty="0"/>
              <a:t>: Newton-Raphson </a:t>
            </a:r>
            <a:r>
              <a:rPr lang="en-US" dirty="0" err="1"/>
              <a:t>yöntemi</a:t>
            </a:r>
            <a:r>
              <a:rPr lang="en-US" dirty="0"/>
              <a:t>, her </a:t>
            </a:r>
            <a:r>
              <a:rPr lang="en-US" dirty="0" err="1"/>
              <a:t>adımda</a:t>
            </a:r>
            <a:r>
              <a:rPr lang="en-US" dirty="0"/>
              <a:t> </a:t>
            </a:r>
            <a:r>
              <a:rPr lang="en-US" dirty="0" err="1"/>
              <a:t>doğrusallaştırılmış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denklem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çözerek</a:t>
            </a:r>
            <a:r>
              <a:rPr lang="en-US" dirty="0"/>
              <a:t> </a:t>
            </a:r>
            <a:r>
              <a:rPr lang="en-US" dirty="0" err="1"/>
              <a:t>kompozisyon</a:t>
            </a:r>
            <a:r>
              <a:rPr lang="en-US" dirty="0"/>
              <a:t> </a:t>
            </a:r>
            <a:r>
              <a:rPr lang="en-US" dirty="0" err="1"/>
              <a:t>düzeltmelerini</a:t>
            </a:r>
            <a:r>
              <a:rPr lang="en-US" dirty="0"/>
              <a:t> (</a:t>
            </a:r>
            <a:r>
              <a:rPr lang="el-GR" dirty="0"/>
              <a:t>Δ</a:t>
            </a:r>
            <a:r>
              <a:rPr lang="en-US" dirty="0"/>
              <a:t>nᵢ) </a:t>
            </a:r>
            <a:r>
              <a:rPr lang="en-US" dirty="0" err="1"/>
              <a:t>bulur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- J × </a:t>
            </a:r>
            <a:r>
              <a:rPr lang="el-GR" dirty="0"/>
              <a:t>Δ</a:t>
            </a:r>
            <a:r>
              <a:rPr lang="en-US" dirty="0"/>
              <a:t>n = -∇G </a:t>
            </a:r>
          </a:p>
          <a:p>
            <a:pPr lvl="1"/>
            <a:r>
              <a:rPr lang="en-US" dirty="0"/>
              <a:t>- </a:t>
            </a:r>
            <a:r>
              <a:rPr lang="en-US" dirty="0" err="1"/>
              <a:t>Burada</a:t>
            </a:r>
            <a:r>
              <a:rPr lang="en-US" dirty="0"/>
              <a:t> J Jacobian </a:t>
            </a:r>
            <a:r>
              <a:rPr lang="en-US" dirty="0" err="1"/>
              <a:t>matrisi</a:t>
            </a:r>
            <a:r>
              <a:rPr lang="en-US" dirty="0"/>
              <a:t>, ∇G Gibbs </a:t>
            </a:r>
            <a:r>
              <a:rPr lang="en-US" dirty="0" err="1"/>
              <a:t>enerjisinin</a:t>
            </a:r>
            <a:r>
              <a:rPr lang="en-US" dirty="0"/>
              <a:t> </a:t>
            </a:r>
            <a:r>
              <a:rPr lang="en-US" dirty="0" err="1"/>
              <a:t>gradyanıdır</a:t>
            </a:r>
            <a:r>
              <a:rPr lang="en-US" dirty="0"/>
              <a:t> </a:t>
            </a:r>
          </a:p>
          <a:p>
            <a:r>
              <a:rPr lang="en-US" dirty="0"/>
              <a:t>4. </a:t>
            </a:r>
            <a:r>
              <a:rPr lang="en-US" dirty="0" err="1"/>
              <a:t>Satır</a:t>
            </a:r>
            <a:r>
              <a:rPr lang="en-US" dirty="0"/>
              <a:t> </a:t>
            </a:r>
            <a:r>
              <a:rPr lang="en-US" dirty="0" err="1"/>
              <a:t>arama</a:t>
            </a:r>
            <a:r>
              <a:rPr lang="en-US" dirty="0"/>
              <a:t> (line search): </a:t>
            </a:r>
            <a:r>
              <a:rPr lang="en-US" dirty="0" err="1"/>
              <a:t>Hesaplanan</a:t>
            </a:r>
            <a:r>
              <a:rPr lang="en-US" dirty="0"/>
              <a:t> </a:t>
            </a:r>
            <a:r>
              <a:rPr lang="en-US" dirty="0" err="1"/>
              <a:t>düzeltmelerin</a:t>
            </a:r>
            <a:r>
              <a:rPr lang="en-US" dirty="0"/>
              <a:t> </a:t>
            </a:r>
            <a:r>
              <a:rPr lang="en-US" dirty="0" err="1"/>
              <a:t>uygulanma</a:t>
            </a:r>
            <a:r>
              <a:rPr lang="en-US" dirty="0"/>
              <a:t> </a:t>
            </a:r>
            <a:r>
              <a:rPr lang="en-US" dirty="0" err="1"/>
              <a:t>oranı</a:t>
            </a:r>
            <a:r>
              <a:rPr lang="en-US" dirty="0"/>
              <a:t>, </a:t>
            </a:r>
            <a:r>
              <a:rPr lang="en-US" dirty="0" err="1"/>
              <a:t>yakınsamayı</a:t>
            </a:r>
            <a:r>
              <a:rPr lang="en-US" dirty="0"/>
              <a:t> </a:t>
            </a:r>
            <a:r>
              <a:rPr lang="en-US" dirty="0" err="1"/>
              <a:t>garantilemek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optimize </a:t>
            </a:r>
            <a:r>
              <a:rPr lang="en-US" dirty="0" err="1"/>
              <a:t>edilir</a:t>
            </a:r>
            <a:r>
              <a:rPr lang="en-US" dirty="0"/>
              <a:t> </a:t>
            </a:r>
          </a:p>
          <a:p>
            <a:r>
              <a:rPr lang="en-US" dirty="0"/>
              <a:t>5. </a:t>
            </a:r>
            <a:r>
              <a:rPr lang="en-US" dirty="0" err="1"/>
              <a:t>Yakınsama</a:t>
            </a:r>
            <a:r>
              <a:rPr lang="en-US" dirty="0"/>
              <a:t> </a:t>
            </a:r>
            <a:r>
              <a:rPr lang="en-US" dirty="0" err="1"/>
              <a:t>kontrolü</a:t>
            </a:r>
            <a:r>
              <a:rPr lang="en-US" dirty="0"/>
              <a:t>: </a:t>
            </a:r>
            <a:r>
              <a:rPr lang="en-US" dirty="0" err="1"/>
              <a:t>Düzeltmeler</a:t>
            </a:r>
            <a:r>
              <a:rPr lang="en-US" dirty="0"/>
              <a:t> </a:t>
            </a:r>
            <a:r>
              <a:rPr lang="en-US" dirty="0" err="1"/>
              <a:t>belirli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tolerans</a:t>
            </a:r>
            <a:r>
              <a:rPr lang="en-US" dirty="0"/>
              <a:t> </a:t>
            </a:r>
            <a:r>
              <a:rPr lang="en-US" dirty="0" err="1"/>
              <a:t>değerinin</a:t>
            </a:r>
            <a:r>
              <a:rPr lang="en-US" dirty="0"/>
              <a:t> (</a:t>
            </a:r>
            <a:r>
              <a:rPr lang="en-US" dirty="0" err="1"/>
              <a:t>örneğin</a:t>
            </a:r>
            <a:r>
              <a:rPr lang="en-US" dirty="0"/>
              <a:t> 10⁻⁸) </a:t>
            </a:r>
            <a:r>
              <a:rPr lang="en-US" dirty="0" err="1"/>
              <a:t>altına</a:t>
            </a:r>
            <a:r>
              <a:rPr lang="en-US" dirty="0"/>
              <a:t> </a:t>
            </a:r>
            <a:r>
              <a:rPr lang="en-US" dirty="0" err="1"/>
              <a:t>düşene</a:t>
            </a:r>
            <a:r>
              <a:rPr lang="en-US" dirty="0"/>
              <a:t> </a:t>
            </a:r>
            <a:r>
              <a:rPr lang="en-US" dirty="0" err="1"/>
              <a:t>kadar</a:t>
            </a:r>
            <a:r>
              <a:rPr lang="en-US" dirty="0"/>
              <a:t> </a:t>
            </a:r>
            <a:r>
              <a:rPr lang="en-US" dirty="0" err="1"/>
              <a:t>iterasyonlar</a:t>
            </a:r>
            <a:r>
              <a:rPr lang="en-US" dirty="0"/>
              <a:t> </a:t>
            </a:r>
            <a:r>
              <a:rPr lang="en-US" dirty="0" err="1"/>
              <a:t>devam</a:t>
            </a:r>
            <a:r>
              <a:rPr lang="en-US" dirty="0"/>
              <a:t> </a:t>
            </a:r>
            <a:r>
              <a:rPr lang="en-US" dirty="0" err="1"/>
              <a:t>eder</a:t>
            </a:r>
            <a:r>
              <a:rPr lang="en-US" dirty="0"/>
              <a:t> </a:t>
            </a:r>
          </a:p>
          <a:p>
            <a:r>
              <a:rPr lang="en-US" dirty="0"/>
              <a:t>6. </a:t>
            </a:r>
            <a:r>
              <a:rPr lang="en-US" dirty="0" err="1"/>
              <a:t>Kısıt</a:t>
            </a:r>
            <a:r>
              <a:rPr lang="en-US" dirty="0"/>
              <a:t> </a:t>
            </a:r>
            <a:r>
              <a:rPr lang="en-US" dirty="0" err="1"/>
              <a:t>uygulama</a:t>
            </a:r>
            <a:r>
              <a:rPr lang="en-US" dirty="0"/>
              <a:t>: Her </a:t>
            </a:r>
            <a:r>
              <a:rPr lang="en-US" dirty="0" err="1"/>
              <a:t>iterasyonda</a:t>
            </a:r>
            <a:r>
              <a:rPr lang="en-US" dirty="0"/>
              <a:t> element </a:t>
            </a:r>
            <a:r>
              <a:rPr lang="en-US" dirty="0" err="1"/>
              <a:t>korunumu</a:t>
            </a:r>
            <a:r>
              <a:rPr lang="en-US" dirty="0"/>
              <a:t> (atom </a:t>
            </a:r>
            <a:r>
              <a:rPr lang="en-US" dirty="0" err="1"/>
              <a:t>dengesi</a:t>
            </a:r>
            <a:r>
              <a:rPr lang="en-US" dirty="0"/>
              <a:t>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pozitif</a:t>
            </a:r>
            <a:r>
              <a:rPr lang="en-US" dirty="0"/>
              <a:t> mol </a:t>
            </a:r>
            <a:r>
              <a:rPr lang="en-US" dirty="0" err="1"/>
              <a:t>sayısı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Lagrange </a:t>
            </a:r>
            <a:r>
              <a:rPr lang="en-US" dirty="0" err="1"/>
              <a:t>çarpanları</a:t>
            </a:r>
            <a:r>
              <a:rPr lang="en-US" dirty="0"/>
              <a:t> </a:t>
            </a:r>
            <a:r>
              <a:rPr lang="en-US" dirty="0" err="1"/>
              <a:t>yöntemiyle</a:t>
            </a:r>
            <a:r>
              <a:rPr lang="en-US" dirty="0"/>
              <a:t> </a:t>
            </a:r>
            <a:r>
              <a:rPr lang="en-US" dirty="0" err="1"/>
              <a:t>uygulanır</a:t>
            </a:r>
            <a:r>
              <a:rPr lang="en-US" dirty="0"/>
              <a:t> 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3742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68394FC-D712-3CF0-BB98-A561A7E6B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04D4131E-2274-3FFD-688D-1D1C2A741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81" y="2046184"/>
            <a:ext cx="8862658" cy="4811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4611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7A5DC-84E6-6E55-3306-11600C3F2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E4920-2B00-D509-240E-08C50ACC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9F2F4-1FE1-DA8B-A4CF-D1E5EADAF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Linear </a:t>
            </a:r>
            <a:r>
              <a:rPr lang="en-US" dirty="0" err="1"/>
              <a:t>regresyon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Rastgele</a:t>
            </a:r>
            <a:r>
              <a:rPr lang="en-US" dirty="0"/>
              <a:t> </a:t>
            </a:r>
            <a:r>
              <a:rPr lang="en-US" dirty="0" err="1"/>
              <a:t>karar</a:t>
            </a:r>
            <a:r>
              <a:rPr lang="en-US" dirty="0"/>
              <a:t> </a:t>
            </a:r>
            <a:r>
              <a:rPr lang="en-US" dirty="0" err="1"/>
              <a:t>ormanları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XGBoost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80FC92F-E886-505D-7B5A-C9F9F88E9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216" y="3605295"/>
            <a:ext cx="8345065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52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7226-0FDD-11E9-50D2-CFF8D2C9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6F7B5-2539-F346-C6DE-063DD1F6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59A83441-64A1-C4EE-821B-C1F865B2F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4" y="2515172"/>
            <a:ext cx="7706949" cy="394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128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0B097-FAC0-B792-7659-AFBB6E486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7C4B3-DF95-B81B-A407-9BF0B55C5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FD03F24-7655-4C3D-39DC-82AE5F733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058" y="2016231"/>
            <a:ext cx="8459381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657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8A2B-E05E-692C-76CC-A3AD2A922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5DDA-8F6B-2145-F1F1-6DDCC9849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BB4F6-F800-FF15-3C5A-4F8DC2111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r>
              <a:rPr lang="en-US" dirty="0"/>
              <a:t>Basit </a:t>
            </a:r>
            <a:r>
              <a:rPr lang="en-US" dirty="0" err="1"/>
              <a:t>ortalama</a:t>
            </a:r>
            <a:r>
              <a:rPr lang="en-US" dirty="0"/>
              <a:t> ensemble, </a:t>
            </a:r>
          </a:p>
          <a:p>
            <a:pPr lvl="1"/>
            <a:r>
              <a:rPr lang="en-US" dirty="0"/>
              <a:t>Random Forest + </a:t>
            </a:r>
            <a:r>
              <a:rPr lang="en-US" dirty="0" err="1"/>
              <a:t>XGBoost</a:t>
            </a:r>
            <a:r>
              <a:rPr lang="en-US" dirty="0"/>
              <a:t> + </a:t>
            </a:r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MLP'nin</a:t>
            </a:r>
            <a:r>
              <a:rPr lang="en-US" dirty="0"/>
              <a:t> </a:t>
            </a:r>
            <a:r>
              <a:rPr lang="en-US" dirty="0" err="1"/>
              <a:t>tahminlerinin</a:t>
            </a:r>
            <a:r>
              <a:rPr lang="en-US" dirty="0"/>
              <a:t> </a:t>
            </a:r>
            <a:r>
              <a:rPr lang="en-US" dirty="0" err="1"/>
              <a:t>eşit</a:t>
            </a:r>
            <a:r>
              <a:rPr lang="en-US" dirty="0"/>
              <a:t> </a:t>
            </a:r>
            <a:r>
              <a:rPr lang="en-US" dirty="0" err="1"/>
              <a:t>ağırlıkla</a:t>
            </a:r>
            <a:r>
              <a:rPr lang="en-US" dirty="0"/>
              <a:t> </a:t>
            </a:r>
            <a:r>
              <a:rPr lang="en-US" dirty="0" err="1"/>
              <a:t>ortalaması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0.746, </a:t>
            </a:r>
            <a:r>
              <a:rPr lang="en-US" dirty="0" err="1"/>
              <a:t>ortalama</a:t>
            </a:r>
            <a:r>
              <a:rPr lang="en-US" dirty="0"/>
              <a:t> RMSE = %7.69, </a:t>
            </a:r>
            <a:r>
              <a:rPr lang="en-US" dirty="0" err="1"/>
              <a:t>ortalama</a:t>
            </a:r>
            <a:r>
              <a:rPr lang="en-US" dirty="0"/>
              <a:t> MAE = %5.16. </a:t>
            </a:r>
          </a:p>
          <a:p>
            <a:r>
              <a:rPr lang="en-US" dirty="0" err="1"/>
              <a:t>Ağırlıklı</a:t>
            </a:r>
            <a:r>
              <a:rPr lang="en-US" dirty="0"/>
              <a:t> </a:t>
            </a:r>
            <a:r>
              <a:rPr lang="en-US" dirty="0" err="1"/>
              <a:t>ortalama</a:t>
            </a:r>
            <a:r>
              <a:rPr lang="en-US" dirty="0"/>
              <a:t> ensemble, </a:t>
            </a:r>
          </a:p>
          <a:p>
            <a:pPr lvl="1"/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MLP'ye</a:t>
            </a:r>
            <a:r>
              <a:rPr lang="en-US" dirty="0"/>
              <a:t> %50 </a:t>
            </a:r>
            <a:r>
              <a:rPr lang="en-US" dirty="0" err="1"/>
              <a:t>ağırlık</a:t>
            </a:r>
            <a:r>
              <a:rPr lang="en-US" dirty="0"/>
              <a:t>, </a:t>
            </a:r>
            <a:r>
              <a:rPr lang="en-US" dirty="0" err="1"/>
              <a:t>XGBoost'a</a:t>
            </a:r>
            <a:r>
              <a:rPr lang="en-US" dirty="0"/>
              <a:t> %25, Random </a:t>
            </a:r>
            <a:r>
              <a:rPr lang="en-US" dirty="0" err="1"/>
              <a:t>Forest'a</a:t>
            </a:r>
            <a:r>
              <a:rPr lang="en-US" dirty="0"/>
              <a:t> %25: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0.797, </a:t>
            </a:r>
            <a:r>
              <a:rPr lang="en-US" dirty="0" err="1"/>
              <a:t>ortalama</a:t>
            </a:r>
            <a:r>
              <a:rPr lang="en-US" dirty="0"/>
              <a:t> RMSE = %6.94, </a:t>
            </a:r>
            <a:r>
              <a:rPr lang="en-US" dirty="0" err="1"/>
              <a:t>ortalama</a:t>
            </a:r>
            <a:r>
              <a:rPr lang="en-US" dirty="0"/>
              <a:t> MAE = %4.75. Bu ensemble </a:t>
            </a:r>
            <a:r>
              <a:rPr lang="en-US" dirty="0" err="1"/>
              <a:t>yöntemlerinin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iyisi</a:t>
            </a:r>
            <a:r>
              <a:rPr lang="en-US" dirty="0"/>
              <a:t> </a:t>
            </a:r>
            <a:r>
              <a:rPr lang="en-US" dirty="0" err="1"/>
              <a:t>oldu</a:t>
            </a:r>
            <a:r>
              <a:rPr lang="en-US" dirty="0"/>
              <a:t> ama </a:t>
            </a:r>
            <a:r>
              <a:rPr lang="en-US" dirty="0" err="1"/>
              <a:t>yine</a:t>
            </a:r>
            <a:r>
              <a:rPr lang="en-US" dirty="0"/>
              <a:t> de </a:t>
            </a:r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MLP'den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kötü</a:t>
            </a:r>
            <a:r>
              <a:rPr lang="en-US" dirty="0"/>
              <a:t>. </a:t>
            </a:r>
          </a:p>
          <a:p>
            <a:r>
              <a:rPr lang="en-US" dirty="0"/>
              <a:t>Ridge </a:t>
            </a:r>
            <a:r>
              <a:rPr lang="en-US" dirty="0" err="1"/>
              <a:t>regresyon</a:t>
            </a:r>
            <a:r>
              <a:rPr lang="en-US" dirty="0"/>
              <a:t> meta-model </a:t>
            </a:r>
            <a:r>
              <a:rPr lang="en-US" dirty="0" err="1"/>
              <a:t>kullanan</a:t>
            </a:r>
            <a:r>
              <a:rPr lang="en-US" dirty="0"/>
              <a:t> Stacking ensemble: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0.562, </a:t>
            </a:r>
            <a:r>
              <a:rPr lang="en-US" dirty="0" err="1"/>
              <a:t>ortalama</a:t>
            </a:r>
            <a:r>
              <a:rPr lang="en-US" dirty="0"/>
              <a:t> RMSE = %9.95, </a:t>
            </a:r>
            <a:r>
              <a:rPr lang="en-US" dirty="0" err="1"/>
              <a:t>ortalama</a:t>
            </a:r>
            <a:r>
              <a:rPr lang="en-US" dirty="0"/>
              <a:t> MAE = %6.34. Bu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kötü</a:t>
            </a:r>
            <a:r>
              <a:rPr lang="en-US" dirty="0"/>
              <a:t> ensemble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oldu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10035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1B22-D047-4AE9-F9D5-EF262B93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D609-7871-440B-E373-BD93539F2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5954015A-A5E0-F93F-D308-59667C176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128" y="2374598"/>
            <a:ext cx="7895183" cy="343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99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FEBD-5C73-6E93-5BEA-7589E945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1418-F7A7-1D67-B525-816C8E801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311453C-F422-564B-3220-CD952E9F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3" y="1930400"/>
            <a:ext cx="7651683" cy="479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5563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2785-82F6-3FE3-8BC7-D3C241529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6EAB8-8FC7-0F36-0A08-FFCB58EC1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53A8CF1-FC96-553C-D83B-F7BB5179B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212" y="2136556"/>
            <a:ext cx="8871074" cy="3798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36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1EDB3-BB90-D82F-42B2-990EB963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82D-AFB7-32F8-1A12-57DE2F07E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CB5A1-6267-FCD1-D0F9-86408026B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C6522A31-42AF-0C72-3975-19B18CA35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14" y="2997199"/>
            <a:ext cx="10449934" cy="204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81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235FD-8E4B-0AEB-EF3E-FFAA9B2D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1E34A-1B18-44C4-7A3F-CEE14ACFF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CFECF3AA-4C3D-BB21-F457-00BFBCB32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395" y="1270000"/>
            <a:ext cx="6928708" cy="540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28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D29-A198-7230-8ADD-C73C260F9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B8462-65A8-5783-7CC7-8C92BEDE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CEC82-C11C-BECB-12FC-4035FD28F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906206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064A-60E0-0282-02F8-7FB0416B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C4033-91AF-294C-80CD-18AD5742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E8FBD-66FE-483B-3B0F-4CDC8FDA8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728481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D5996-F8BB-9719-1F28-3589A0BA6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4651-6B71-4EFF-A86D-A308901A6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574BA-9045-AF60-3B28-50E708C41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620981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BAD5A-2E22-F8B8-64E7-754EE818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92248-DFE6-570E-D94C-3C33F519D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DDC90-C0BD-A1E2-1884-28171D56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16498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74FA-A2B6-CF30-B5B9-F09FAD72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74B8A-19C3-5664-D47B-CF79A7A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C2D24-0126-2697-3C21-88F30C917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813191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18369-0EBE-94BB-629F-7CA8B4A65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012EF-FD31-2AC3-F0C7-E63C244F7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45E5D-BE27-164B-7AB3-A9238D3B4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080950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827524" y="463189"/>
            <a:ext cx="7920880" cy="496855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 Vaktiniz 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ve ilginiz 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		için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				teşekkürler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                     </a:t>
            </a:r>
            <a:r>
              <a:rPr lang="tr-TR" sz="72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…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280804" y="5431741"/>
            <a:ext cx="7467600" cy="1223186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0000"/>
              <a:buFont typeface="Wingdings"/>
              <a:buChar char="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7432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182880" algn="l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SzPct val="60000"/>
              <a:buFont typeface="Wingdings"/>
              <a:buChar char="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8720" indent="-182880" algn="l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Char char="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3040" indent="-182880" algn="l" rtl="0" eaLnBrk="1" latinLnBrk="0" hangingPunct="1">
              <a:spcBef>
                <a:spcPct val="20000"/>
              </a:spcBef>
              <a:buClr>
                <a:schemeClr val="accent2">
                  <a:tint val="60000"/>
                </a:schemeClr>
              </a:buClr>
              <a:buSzPct val="68000"/>
              <a:buFont typeface="Wingdings 2"/>
              <a:buChar char="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Char char="•"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011680" indent="-182880" algn="l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Char char=""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286000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Char char="•"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560320" indent="-182880" algn="l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Char char="•"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 typeface="Wingdings"/>
              <a:buNone/>
            </a:pPr>
            <a:r>
              <a:rPr lang="tr-TR" dirty="0"/>
              <a:t>Orhun Uzdiyem</a:t>
            </a:r>
          </a:p>
          <a:p>
            <a:pPr algn="ctr">
              <a:buFont typeface="Wingdings"/>
              <a:buNone/>
            </a:pPr>
            <a:r>
              <a:rPr lang="tr-TR" dirty="0">
                <a:hlinkClick r:id="rId3"/>
              </a:rPr>
              <a:t>orhun.uzdiyem@gmail.com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00454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21"/>
    </mc:Choice>
    <mc:Fallback xmlns="">
      <p:transition spd="slow" advTm="672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1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3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5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7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000"/>
                            </p:stCondLst>
                            <p:childTnLst>
                              <p:par>
                                <p:cTn id="56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4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5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6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7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8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9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0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1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10242</TotalTime>
  <Words>1073</Words>
  <Application>Microsoft Office PowerPoint</Application>
  <PresentationFormat>Geniş ekran</PresentationFormat>
  <Paragraphs>128</Paragraphs>
  <Slides>33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33</vt:i4>
      </vt:variant>
    </vt:vector>
  </HeadingPairs>
  <TitlesOfParts>
    <vt:vector size="41" baseType="lpstr">
      <vt:lpstr>Arial</vt:lpstr>
      <vt:lpstr>Calibri</vt:lpstr>
      <vt:lpstr>Harrington</vt:lpstr>
      <vt:lpstr>Times New Roman</vt:lpstr>
      <vt:lpstr>Trebuchet MS</vt:lpstr>
      <vt:lpstr>Wingdings</vt:lpstr>
      <vt:lpstr>Wingdings 3</vt:lpstr>
      <vt:lpstr>Facet</vt:lpstr>
      <vt:lpstr>Biyokütleden Elde Edilen Biyoyağ Kompozisyonunun Makine Öğrenmesi ile   Tahmini ve Model Öngörülü Kontrol Tabanlı Süreç Optimizasyonu Tez İzleme Sunumu - 4</vt:lpstr>
      <vt:lpstr>Tezin Amacı</vt:lpstr>
      <vt:lpstr>Tezin amacı</vt:lpstr>
      <vt:lpstr>Önceki Dönemlerde Yapılan  Çalışmalar</vt:lpstr>
      <vt:lpstr>Piroliz Verisi Toplama</vt:lpstr>
      <vt:lpstr>Piroliz Verisi Toplama</vt:lpstr>
      <vt:lpstr>PowerPoint Sunusu</vt:lpstr>
      <vt:lpstr>Yeni Makine Öğrenmesi Yaklaşımı</vt:lpstr>
      <vt:lpstr>Proses Seçimi</vt:lpstr>
      <vt:lpstr>Dönem İçinde Yapılan Çalışmalar</vt:lpstr>
      <vt:lpstr>Buhar reforming</vt:lpstr>
      <vt:lpstr>Piroliz Verisi Toplama</vt:lpstr>
      <vt:lpstr>Piroliz Verisi Toplama</vt:lpstr>
      <vt:lpstr>Cantera</vt:lpstr>
      <vt:lpstr>Piroliz Verisi Toplama</vt:lpstr>
      <vt:lpstr>Piroliz Verisi Toplama</vt:lpstr>
      <vt:lpstr>PowerPoint Sunusu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Piroliz Verisi Toplama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orhun uzdiyem</dc:creator>
  <cp:lastModifiedBy>Orhun Uz</cp:lastModifiedBy>
  <cp:revision>167</cp:revision>
  <dcterms:created xsi:type="dcterms:W3CDTF">2023-05-23T10:14:23Z</dcterms:created>
  <dcterms:modified xsi:type="dcterms:W3CDTF">2025-12-24T19:06:08Z</dcterms:modified>
</cp:coreProperties>
</file>