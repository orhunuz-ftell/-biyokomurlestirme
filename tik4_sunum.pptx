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9"/>
  </p:notesMasterIdLst>
  <p:sldIdLst>
    <p:sldId id="256" r:id="rId2"/>
    <p:sldId id="357" r:id="rId3"/>
    <p:sldId id="390" r:id="rId4"/>
    <p:sldId id="310" r:id="rId5"/>
    <p:sldId id="392" r:id="rId6"/>
    <p:sldId id="391" r:id="rId7"/>
    <p:sldId id="393" r:id="rId8"/>
    <p:sldId id="375" r:id="rId9"/>
    <p:sldId id="389" r:id="rId10"/>
    <p:sldId id="383" r:id="rId11"/>
    <p:sldId id="358" r:id="rId12"/>
    <p:sldId id="395" r:id="rId13"/>
    <p:sldId id="396" r:id="rId14"/>
    <p:sldId id="397" r:id="rId15"/>
    <p:sldId id="398" r:id="rId16"/>
    <p:sldId id="415" r:id="rId17"/>
    <p:sldId id="416" r:id="rId18"/>
    <p:sldId id="417" r:id="rId19"/>
    <p:sldId id="418" r:id="rId20"/>
    <p:sldId id="419" r:id="rId21"/>
    <p:sldId id="420" r:id="rId22"/>
    <p:sldId id="421" r:id="rId23"/>
    <p:sldId id="401" r:id="rId24"/>
    <p:sldId id="422" r:id="rId25"/>
    <p:sldId id="423" r:id="rId26"/>
    <p:sldId id="424" r:id="rId27"/>
    <p:sldId id="425" r:id="rId28"/>
    <p:sldId id="400" r:id="rId29"/>
    <p:sldId id="402" r:id="rId30"/>
    <p:sldId id="403" r:id="rId31"/>
    <p:sldId id="404" r:id="rId32"/>
    <p:sldId id="406" r:id="rId33"/>
    <p:sldId id="407" r:id="rId34"/>
    <p:sldId id="408" r:id="rId35"/>
    <p:sldId id="426" r:id="rId36"/>
    <p:sldId id="427" r:id="rId37"/>
    <p:sldId id="293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rhun uzdiyem" initials="ou" lastIdx="1" clrIdx="0">
    <p:extLst>
      <p:ext uri="{19B8F6BF-5375-455C-9EA6-DF929625EA0E}">
        <p15:presenceInfo xmlns:p15="http://schemas.microsoft.com/office/powerpoint/2012/main" userId="7c704e6ad42cbf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06725-A5C6-4D97-BAB5-97495DA97B1D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5C1EF-337A-4A14-9C0C-535002AC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6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2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6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30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53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5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3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54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0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510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75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940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82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1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4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287EC-2D8B-4839-853F-448EC8EF3B8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mailto:orhun.uzdiyem@gmail.com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AFEF-9B2B-F339-7BA2-47BF50A9F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0682" y="188259"/>
            <a:ext cx="9807388" cy="3306765"/>
          </a:xfrm>
        </p:spPr>
        <p:txBody>
          <a:bodyPr/>
          <a:lstStyle/>
          <a:p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Biyokütleden Elde Edilen </a:t>
            </a:r>
            <a:r>
              <a:rPr lang="tr-TR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Biyoyağ</a:t>
            </a:r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Kompozisyonunun Makine Öğrenmesi ile </a:t>
            </a:r>
            <a:b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Tahmini ve Model Öngörülü Kontrol Tabanlı Süreç Optimizasyonu</a:t>
            </a:r>
            <a:b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Tez </a:t>
            </a:r>
            <a:r>
              <a:rPr lang="en-US" sz="4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İzleme</a:t>
            </a: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Sunumu</a:t>
            </a: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- 4</a:t>
            </a:r>
            <a:endParaRPr lang="en-US" sz="88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1569F-3488-D383-99CF-A51505706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376" y="4050833"/>
            <a:ext cx="8861627" cy="230514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Hazırlayan</a:t>
            </a:r>
            <a:r>
              <a:rPr lang="en-US" dirty="0"/>
              <a:t>: Orhun Uzdiyem</a:t>
            </a:r>
          </a:p>
          <a:p>
            <a:r>
              <a:rPr lang="en-US" dirty="0" err="1"/>
              <a:t>Komite</a:t>
            </a:r>
            <a:r>
              <a:rPr lang="en-US" dirty="0"/>
              <a:t>: Dr. </a:t>
            </a:r>
            <a:r>
              <a:rPr lang="en-US" dirty="0" err="1"/>
              <a:t>Öğr</a:t>
            </a:r>
            <a:r>
              <a:rPr lang="en-US" dirty="0"/>
              <a:t>. </a:t>
            </a:r>
            <a:r>
              <a:rPr lang="en-US" dirty="0" err="1"/>
              <a:t>Üy</a:t>
            </a:r>
            <a:r>
              <a:rPr lang="en-US" dirty="0"/>
              <a:t>. </a:t>
            </a:r>
            <a:r>
              <a:rPr lang="en-US" dirty="0" err="1"/>
              <a:t>Özben</a:t>
            </a:r>
            <a:r>
              <a:rPr lang="en-US" dirty="0"/>
              <a:t> Kutlu(Tez </a:t>
            </a:r>
            <a:r>
              <a:rPr lang="en-US" dirty="0" err="1"/>
              <a:t>danışmanı</a:t>
            </a:r>
            <a:r>
              <a:rPr lang="en-US" dirty="0"/>
              <a:t>),  </a:t>
            </a:r>
          </a:p>
          <a:p>
            <a:r>
              <a:rPr lang="en-US" dirty="0"/>
              <a:t>Prof. Dr. Harun Kemal </a:t>
            </a:r>
            <a:r>
              <a:rPr lang="en-US" dirty="0" err="1"/>
              <a:t>Öztürk</a:t>
            </a:r>
            <a:r>
              <a:rPr lang="en-US" dirty="0"/>
              <a:t>,  </a:t>
            </a:r>
          </a:p>
          <a:p>
            <a:r>
              <a:rPr lang="en-US" dirty="0"/>
              <a:t>Dr. </a:t>
            </a:r>
            <a:r>
              <a:rPr lang="en-US" dirty="0" err="1"/>
              <a:t>Öğr</a:t>
            </a:r>
            <a:r>
              <a:rPr lang="en-US" dirty="0"/>
              <a:t>. </a:t>
            </a:r>
            <a:r>
              <a:rPr lang="en-US" dirty="0" err="1"/>
              <a:t>Üy</a:t>
            </a:r>
            <a:r>
              <a:rPr lang="en-US" dirty="0"/>
              <a:t>. Hasan </a:t>
            </a:r>
            <a:r>
              <a:rPr lang="en-US" dirty="0" err="1"/>
              <a:t>Sarptaş</a:t>
            </a:r>
            <a:endParaRPr lang="en-US" dirty="0"/>
          </a:p>
          <a:p>
            <a:r>
              <a:rPr lang="en-US" dirty="0" err="1"/>
              <a:t>Ege</a:t>
            </a:r>
            <a:r>
              <a:rPr lang="en-US" dirty="0"/>
              <a:t> </a:t>
            </a:r>
            <a:r>
              <a:rPr lang="en-US" dirty="0" err="1"/>
              <a:t>Üniversitesi</a:t>
            </a:r>
            <a:r>
              <a:rPr lang="en-US" dirty="0"/>
              <a:t> </a:t>
            </a:r>
            <a:r>
              <a:rPr lang="en-US" dirty="0" err="1"/>
              <a:t>Güneş</a:t>
            </a:r>
            <a:r>
              <a:rPr lang="en-US" dirty="0"/>
              <a:t> </a:t>
            </a:r>
            <a:r>
              <a:rPr lang="en-US" dirty="0" err="1"/>
              <a:t>Enerjisi</a:t>
            </a:r>
            <a:r>
              <a:rPr lang="en-US" dirty="0"/>
              <a:t> </a:t>
            </a:r>
            <a:r>
              <a:rPr lang="en-US" dirty="0" err="1"/>
              <a:t>Enstitüsü</a:t>
            </a:r>
            <a:r>
              <a:rPr lang="en-US" dirty="0"/>
              <a:t> –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Teknolojisi</a:t>
            </a:r>
            <a:r>
              <a:rPr lang="en-US" dirty="0"/>
              <a:t> </a:t>
            </a:r>
            <a:r>
              <a:rPr lang="en-US" dirty="0" err="1"/>
              <a:t>Anabilimdalı</a:t>
            </a:r>
            <a:endParaRPr lang="en-US" dirty="0"/>
          </a:p>
          <a:p>
            <a:r>
              <a:rPr lang="en-US" dirty="0" err="1"/>
              <a:t>Aralık</a:t>
            </a:r>
            <a:r>
              <a:rPr lang="en-US" dirty="0"/>
              <a:t> 26, 2025</a:t>
            </a:r>
          </a:p>
        </p:txBody>
      </p:sp>
    </p:spTree>
    <p:extLst>
      <p:ext uri="{BB962C8B-B14F-4D97-AF65-F5344CB8AC3E}">
        <p14:creationId xmlns:p14="http://schemas.microsoft.com/office/powerpoint/2010/main" val="4101100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A0CB0-F31B-F127-3659-7960E1FE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54F4-E224-1FF5-0E6C-675A1C453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Tezin</a:t>
            </a:r>
            <a:r>
              <a:rPr lang="en-US" dirty="0"/>
              <a:t> </a:t>
            </a:r>
            <a:r>
              <a:rPr lang="en-US" dirty="0" err="1"/>
              <a:t>amacı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AEDE-3349-3791-2191-2F72762DF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Biyoktüleden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(</a:t>
            </a:r>
            <a:r>
              <a:rPr lang="en-US" dirty="0" err="1"/>
              <a:t>piroliz</a:t>
            </a:r>
            <a:r>
              <a:rPr lang="en-US" dirty="0"/>
              <a:t>) </a:t>
            </a:r>
            <a:r>
              <a:rPr lang="en-US" dirty="0" err="1"/>
              <a:t>biyoyağın</a:t>
            </a:r>
            <a:r>
              <a:rPr lang="en-US" dirty="0"/>
              <a:t> </a:t>
            </a:r>
            <a:r>
              <a:rPr lang="en-US" dirty="0" err="1"/>
              <a:t>değerlendirildiği</a:t>
            </a:r>
            <a:r>
              <a:rPr lang="en-US" dirty="0"/>
              <a:t> proses </a:t>
            </a:r>
            <a:r>
              <a:rPr lang="en-US" dirty="0" err="1"/>
              <a:t>parametrelerinin</a:t>
            </a:r>
            <a:r>
              <a:rPr lang="en-US" dirty="0"/>
              <a:t> </a:t>
            </a:r>
            <a:r>
              <a:rPr lang="en-US" dirty="0" err="1"/>
              <a:t>belirlenmesine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olacak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model </a:t>
            </a:r>
            <a:r>
              <a:rPr lang="en-US" dirty="0" err="1"/>
              <a:t>öngörülü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(MÖK) </a:t>
            </a:r>
            <a:r>
              <a:rPr lang="en-US" dirty="0" err="1"/>
              <a:t>senaryosu</a:t>
            </a:r>
            <a:r>
              <a:rPr lang="en-US" dirty="0"/>
              <a:t> </a:t>
            </a:r>
            <a:r>
              <a:rPr lang="en-US" dirty="0" err="1"/>
              <a:t>geliştirmektir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Biyoyağın</a:t>
            </a:r>
            <a:r>
              <a:rPr lang="en-US" dirty="0"/>
              <a:t> </a:t>
            </a:r>
            <a:r>
              <a:rPr lang="en-US" dirty="0" err="1"/>
              <a:t>işlenmesi</a:t>
            </a:r>
            <a:r>
              <a:rPr lang="en-US" dirty="0"/>
              <a:t> </a:t>
            </a:r>
            <a:r>
              <a:rPr lang="en-US" dirty="0" err="1"/>
              <a:t>sonucu</a:t>
            </a:r>
            <a:r>
              <a:rPr lang="en-US" dirty="0"/>
              <a:t> </a:t>
            </a:r>
            <a:r>
              <a:rPr lang="en-US" dirty="0" err="1"/>
              <a:t>oluşan</a:t>
            </a:r>
            <a:r>
              <a:rPr lang="en-US" dirty="0"/>
              <a:t> </a:t>
            </a:r>
            <a:r>
              <a:rPr lang="en-US" dirty="0" err="1"/>
              <a:t>ürünün</a:t>
            </a:r>
            <a:r>
              <a:rPr lang="en-US" dirty="0"/>
              <a:t> </a:t>
            </a:r>
            <a:r>
              <a:rPr lang="en-US" dirty="0" err="1"/>
              <a:t>özelliklerin</a:t>
            </a:r>
            <a:r>
              <a:rPr lang="en-US" dirty="0"/>
              <a:t> </a:t>
            </a:r>
            <a:r>
              <a:rPr lang="en-US" dirty="0" err="1"/>
              <a:t>bakarak</a:t>
            </a:r>
            <a:r>
              <a:rPr lang="en-US" dirty="0"/>
              <a:t>, </a:t>
            </a:r>
            <a:r>
              <a:rPr lang="en-US" dirty="0" err="1"/>
              <a:t>girişte</a:t>
            </a:r>
            <a:r>
              <a:rPr lang="en-US" dirty="0"/>
              <a:t> </a:t>
            </a:r>
            <a:r>
              <a:rPr lang="en-US" dirty="0" err="1"/>
              <a:t>kullanılan</a:t>
            </a:r>
            <a:r>
              <a:rPr lang="en-US" dirty="0"/>
              <a:t> </a:t>
            </a:r>
            <a:r>
              <a:rPr lang="en-US" dirty="0" err="1"/>
              <a:t>biyoyağın</a:t>
            </a:r>
            <a:r>
              <a:rPr lang="en-US" dirty="0"/>
              <a:t> </a:t>
            </a:r>
            <a:r>
              <a:rPr lang="en-US" dirty="0" err="1"/>
              <a:t>içeriğini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edebilen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yapayzeka</a:t>
            </a:r>
            <a:r>
              <a:rPr lang="en-US" dirty="0"/>
              <a:t> </a:t>
            </a:r>
            <a:r>
              <a:rPr lang="en-US" dirty="0" err="1"/>
              <a:t>modeli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biyoyağı</a:t>
            </a:r>
            <a:r>
              <a:rPr lang="en-US" dirty="0"/>
              <a:t> – proses </a:t>
            </a:r>
            <a:r>
              <a:rPr lang="en-US" dirty="0" err="1"/>
              <a:t>koşulları</a:t>
            </a:r>
            <a:r>
              <a:rPr lang="en-US" dirty="0"/>
              <a:t> – son </a:t>
            </a:r>
            <a:r>
              <a:rPr lang="en-US" dirty="0" err="1"/>
              <a:t>ürün</a:t>
            </a:r>
            <a:r>
              <a:rPr lang="en-US" dirty="0"/>
              <a:t> </a:t>
            </a:r>
            <a:r>
              <a:rPr lang="en-US" dirty="0" err="1"/>
              <a:t>verisi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Simülasyon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biyoyağı</a:t>
            </a:r>
            <a:r>
              <a:rPr lang="en-US" dirty="0"/>
              <a:t> </a:t>
            </a:r>
            <a:r>
              <a:rPr lang="en-US" dirty="0" err="1"/>
              <a:t>verisi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Literatür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77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BBD9-82FC-640D-7A8D-1FBE8617E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49D9-C5EA-696B-CC2F-DFA907501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5042148" cy="44106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dirty="0" err="1"/>
              <a:t>Önceki</a:t>
            </a:r>
            <a:r>
              <a:rPr lang="en-US" sz="4000" dirty="0"/>
              <a:t> </a:t>
            </a:r>
            <a:r>
              <a:rPr lang="en-US" sz="4000" dirty="0" err="1"/>
              <a:t>Dönemlerde</a:t>
            </a:r>
            <a:r>
              <a:rPr lang="en-US" sz="4000" dirty="0"/>
              <a:t> </a:t>
            </a:r>
            <a:r>
              <a:rPr lang="en-US" sz="4000" dirty="0" err="1"/>
              <a:t>Yapılan</a:t>
            </a:r>
            <a:r>
              <a:rPr lang="en-US" sz="4000" dirty="0"/>
              <a:t> </a:t>
            </a:r>
            <a:br>
              <a:rPr lang="en-US" sz="4000" dirty="0"/>
            </a:br>
            <a:r>
              <a:rPr lang="en-US" sz="4000" dirty="0" err="1"/>
              <a:t>Çalışmalar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84759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0114C-EB7F-DA0D-55D3-095E2AE9F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17FD-8882-81A5-D9E4-A848B6999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Verisi</a:t>
            </a:r>
            <a:r>
              <a:rPr lang="en-US" dirty="0"/>
              <a:t> </a:t>
            </a:r>
            <a:r>
              <a:rPr lang="en-US" dirty="0" err="1"/>
              <a:t>Toplama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Önişleme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B09FA-908A-318A-F77B-3B19ED355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5741"/>
            <a:ext cx="8596668" cy="54127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14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çalışmadan</a:t>
            </a:r>
            <a:r>
              <a:rPr lang="en-US" dirty="0"/>
              <a:t> 70 set </a:t>
            </a:r>
            <a:r>
              <a:rPr lang="en-US" dirty="0" err="1"/>
              <a:t>deney</a:t>
            </a:r>
            <a:r>
              <a:rPr lang="en-US" dirty="0"/>
              <a:t> </a:t>
            </a:r>
            <a:r>
              <a:rPr lang="en-US" dirty="0" err="1"/>
              <a:t>verisi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Biyokütle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proses </a:t>
            </a:r>
            <a:r>
              <a:rPr lang="en-US" dirty="0" err="1"/>
              <a:t>koşulları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Veri </a:t>
            </a:r>
            <a:r>
              <a:rPr lang="en-US" dirty="0" err="1"/>
              <a:t>önişleme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doldurma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KNN Imputer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değer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Veri </a:t>
            </a:r>
            <a:r>
              <a:rPr lang="en-US" dirty="0" err="1"/>
              <a:t>ölçekleme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marL="57150" indent="0">
              <a:lnSpc>
                <a:spcPct val="150000"/>
              </a:lnSpc>
              <a:buNone/>
            </a:pPr>
            <a:endParaRPr lang="en-US" dirty="0"/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93958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1AB97-83C1-61B9-746F-FBD64F677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8ACE5-0034-06A1-2331-4C5E430E8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Verisi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66678-327D-CB24-1B8A-CC33813F6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6753"/>
            <a:ext cx="8596668" cy="51617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Birleşik</a:t>
            </a:r>
            <a:r>
              <a:rPr lang="en-US" dirty="0"/>
              <a:t>  </a:t>
            </a:r>
            <a:r>
              <a:rPr lang="en-US" dirty="0" err="1"/>
              <a:t>veriseti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yaklaşımda</a:t>
            </a:r>
            <a:r>
              <a:rPr lang="en-US" dirty="0"/>
              <a:t>,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veriseti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işlenmiştir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Ayrıştırılmış</a:t>
            </a:r>
            <a:r>
              <a:rPr lang="en-US" dirty="0"/>
              <a:t> </a:t>
            </a:r>
            <a:r>
              <a:rPr lang="en-US" dirty="0" err="1"/>
              <a:t>veriseti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yaklaşımda</a:t>
            </a:r>
            <a:r>
              <a:rPr lang="en-US" dirty="0"/>
              <a:t>, </a:t>
            </a:r>
            <a:r>
              <a:rPr lang="en-US" dirty="0" err="1"/>
              <a:t>biyoyağda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grubu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veriseti</a:t>
            </a:r>
            <a:r>
              <a:rPr lang="en-US" dirty="0"/>
              <a:t> </a:t>
            </a:r>
            <a:r>
              <a:rPr lang="en-US" dirty="0" err="1"/>
              <a:t>hazırlanmıştır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Veriseti</a:t>
            </a:r>
            <a:r>
              <a:rPr lang="en-US" dirty="0"/>
              <a:t>, </a:t>
            </a:r>
            <a:r>
              <a:rPr lang="en-US" dirty="0" err="1"/>
              <a:t>kimyasallara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ayrıştırılırken</a:t>
            </a:r>
            <a:r>
              <a:rPr lang="en-US" dirty="0"/>
              <a:t> o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NULL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</a:t>
            </a:r>
            <a:r>
              <a:rPr lang="en-US" dirty="0" err="1"/>
              <a:t>satırlar</a:t>
            </a:r>
            <a:r>
              <a:rPr lang="en-US" dirty="0"/>
              <a:t> </a:t>
            </a:r>
            <a:r>
              <a:rPr lang="en-US" dirty="0" err="1"/>
              <a:t>çıkartılmıştır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sayede</a:t>
            </a:r>
            <a:r>
              <a:rPr lang="en-US" dirty="0"/>
              <a:t> NULL </a:t>
            </a:r>
            <a:r>
              <a:rPr lang="en-US" dirty="0" err="1"/>
              <a:t>değerlerden</a:t>
            </a:r>
            <a:r>
              <a:rPr lang="en-US" dirty="0"/>
              <a:t> </a:t>
            </a:r>
            <a:r>
              <a:rPr lang="en-US" dirty="0" err="1"/>
              <a:t>arınmış</a:t>
            </a:r>
            <a:r>
              <a:rPr lang="en-US" dirty="0"/>
              <a:t> </a:t>
            </a:r>
            <a:r>
              <a:rPr lang="en-US" dirty="0" err="1"/>
              <a:t>verisetleri</a:t>
            </a:r>
            <a:r>
              <a:rPr lang="en-US" dirty="0"/>
              <a:t> </a:t>
            </a:r>
            <a:r>
              <a:rPr lang="en-US" dirty="0" err="1"/>
              <a:t>kullanılmıştır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marL="57150" indent="0">
              <a:lnSpc>
                <a:spcPct val="150000"/>
              </a:lnSpc>
              <a:buNone/>
            </a:pPr>
            <a:endParaRPr lang="en-US" dirty="0"/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4758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B69452-D6D9-9057-71DB-46AD32B8A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61B544B-6B73-B7D4-7114-483CE93D6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Destek </a:t>
            </a:r>
            <a:r>
              <a:rPr lang="en-US" dirty="0" err="1"/>
              <a:t>vektör</a:t>
            </a:r>
            <a:r>
              <a:rPr lang="en-US" dirty="0"/>
              <a:t> </a:t>
            </a:r>
            <a:r>
              <a:rPr lang="en-US" dirty="0" err="1"/>
              <a:t>regresyonu</a:t>
            </a:r>
            <a:r>
              <a:rPr lang="en-US" dirty="0"/>
              <a:t> (SVR)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değişkenli</a:t>
            </a:r>
            <a:r>
              <a:rPr lang="en-US" dirty="0"/>
              <a:t> </a:t>
            </a:r>
            <a:r>
              <a:rPr lang="en-US" dirty="0" err="1"/>
              <a:t>uyarlamalı</a:t>
            </a:r>
            <a:r>
              <a:rPr lang="en-US" dirty="0"/>
              <a:t> </a:t>
            </a:r>
            <a:r>
              <a:rPr lang="en-US" dirty="0" err="1"/>
              <a:t>regresyon</a:t>
            </a:r>
            <a:r>
              <a:rPr lang="en-US" dirty="0"/>
              <a:t> </a:t>
            </a:r>
            <a:r>
              <a:rPr lang="en-US" dirty="0" err="1"/>
              <a:t>spline’ları</a:t>
            </a:r>
            <a:r>
              <a:rPr lang="en-US" dirty="0"/>
              <a:t> (MARS)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Rastegele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ormanları</a:t>
            </a:r>
            <a:r>
              <a:rPr lang="en-US" dirty="0"/>
              <a:t> (RF)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Gradyan</a:t>
            </a:r>
            <a:r>
              <a:rPr lang="en-US" dirty="0"/>
              <a:t> </a:t>
            </a:r>
            <a:r>
              <a:rPr lang="en-US" dirty="0" err="1"/>
              <a:t>Artırmalı</a:t>
            </a:r>
            <a:r>
              <a:rPr lang="en-US" dirty="0"/>
              <a:t> </a:t>
            </a:r>
            <a:r>
              <a:rPr lang="en-US" dirty="0" err="1"/>
              <a:t>Ağaçlar</a:t>
            </a:r>
            <a:r>
              <a:rPr lang="en-US" dirty="0"/>
              <a:t> (GTB)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r>
              <a:rPr lang="en-US" dirty="0"/>
              <a:t> (ANN)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XGBoost</a:t>
            </a:r>
            <a:r>
              <a:rPr lang="en-US" dirty="0"/>
              <a:t> (</a:t>
            </a:r>
            <a:r>
              <a:rPr lang="en-US" dirty="0" err="1"/>
              <a:t>eXtreme</a:t>
            </a:r>
            <a:r>
              <a:rPr lang="en-US" dirty="0"/>
              <a:t> Gradient Boosting)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LightGBM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CatBoost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786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F2FD3-04F7-CC7E-A9E4-0A8FF999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3778-71CD-05CC-B8B4-8AF6CD978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Yeni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Yaklaşımı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BB528-3258-92AD-B78B-674D7E54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Liao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arkadaşlarının</a:t>
            </a:r>
            <a:r>
              <a:rPr lang="en-US" dirty="0"/>
              <a:t> (2025)</a:t>
            </a:r>
            <a:r>
              <a:rPr lang="en-US" baseline="30000" dirty="0"/>
              <a:t> [1]</a:t>
            </a:r>
            <a:r>
              <a:rPr lang="en-US" dirty="0"/>
              <a:t> </a:t>
            </a:r>
            <a:r>
              <a:rPr lang="en-US" dirty="0" err="1"/>
              <a:t>çalışmasında</a:t>
            </a:r>
            <a:r>
              <a:rPr lang="en-US" dirty="0"/>
              <a:t> </a:t>
            </a:r>
            <a:r>
              <a:rPr lang="en-US" dirty="0" err="1"/>
              <a:t>lignoselülozik</a:t>
            </a:r>
            <a:r>
              <a:rPr lang="en-US" dirty="0"/>
              <a:t> </a:t>
            </a:r>
            <a:r>
              <a:rPr lang="en-US" dirty="0" err="1"/>
              <a:t>biyokütlenin</a:t>
            </a:r>
            <a:r>
              <a:rPr lang="en-US" dirty="0"/>
              <a:t> </a:t>
            </a:r>
            <a:r>
              <a:rPr lang="en-US" dirty="0" err="1"/>
              <a:t>pirolizi</a:t>
            </a:r>
            <a:r>
              <a:rPr lang="en-US" dirty="0"/>
              <a:t> </a:t>
            </a:r>
            <a:r>
              <a:rPr lang="en-US" dirty="0" err="1"/>
              <a:t>sonucu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odun</a:t>
            </a:r>
            <a:r>
              <a:rPr lang="en-US" dirty="0"/>
              <a:t> </a:t>
            </a:r>
            <a:r>
              <a:rPr lang="en-US" dirty="0" err="1"/>
              <a:t>sirkesinin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kademeli</a:t>
            </a:r>
            <a:r>
              <a:rPr lang="en-US" dirty="0"/>
              <a:t> </a:t>
            </a:r>
            <a:r>
              <a:rPr lang="en-US" dirty="0" err="1"/>
              <a:t>distilasyonu</a:t>
            </a:r>
            <a:r>
              <a:rPr lang="en-US" dirty="0"/>
              <a:t> </a:t>
            </a:r>
            <a:r>
              <a:rPr lang="en-US" dirty="0" err="1"/>
              <a:t>çıktılarını</a:t>
            </a:r>
            <a:r>
              <a:rPr lang="en-US" dirty="0"/>
              <a:t> </a:t>
            </a:r>
            <a:r>
              <a:rPr lang="en-US" dirty="0" err="1"/>
              <a:t>girdi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alıp</a:t>
            </a:r>
            <a:r>
              <a:rPr lang="en-US" dirty="0"/>
              <a:t> </a:t>
            </a:r>
            <a:r>
              <a:rPr lang="en-US" dirty="0" err="1"/>
              <a:t>odun</a:t>
            </a:r>
            <a:r>
              <a:rPr lang="en-US" dirty="0"/>
              <a:t> </a:t>
            </a:r>
            <a:r>
              <a:rPr lang="en-US" dirty="0" err="1"/>
              <a:t>sirkesinin</a:t>
            </a:r>
            <a:r>
              <a:rPr lang="en-US" dirty="0"/>
              <a:t> </a:t>
            </a:r>
            <a:r>
              <a:rPr lang="en-US" dirty="0" err="1"/>
              <a:t>içeriğini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oluşturulmuş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sayede</a:t>
            </a:r>
            <a:r>
              <a:rPr lang="en-US" dirty="0"/>
              <a:t> </a:t>
            </a:r>
            <a:r>
              <a:rPr lang="en-US" dirty="0" err="1"/>
              <a:t>çıkış</a:t>
            </a:r>
            <a:r>
              <a:rPr lang="en-US" dirty="0"/>
              <a:t> </a:t>
            </a:r>
            <a:r>
              <a:rPr lang="en-US" dirty="0" err="1"/>
              <a:t>akımlarındaki</a:t>
            </a:r>
            <a:r>
              <a:rPr lang="en-US" dirty="0"/>
              <a:t> </a:t>
            </a:r>
            <a:r>
              <a:rPr lang="en-US" dirty="0" err="1"/>
              <a:t>çevrim-içi</a:t>
            </a:r>
            <a:r>
              <a:rPr lang="en-US" dirty="0"/>
              <a:t> </a:t>
            </a:r>
            <a:r>
              <a:rPr lang="en-US" dirty="0" err="1"/>
              <a:t>sensör</a:t>
            </a:r>
            <a:r>
              <a:rPr lang="en-US" dirty="0"/>
              <a:t> </a:t>
            </a:r>
            <a:r>
              <a:rPr lang="en-US" dirty="0" err="1"/>
              <a:t>verileri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besleme</a:t>
            </a:r>
            <a:r>
              <a:rPr lang="en-US" dirty="0"/>
              <a:t> </a:t>
            </a:r>
            <a:r>
              <a:rPr lang="en-US" dirty="0" err="1"/>
              <a:t>bileşimi</a:t>
            </a:r>
            <a:r>
              <a:rPr lang="en-US" dirty="0"/>
              <a:t> </a:t>
            </a:r>
            <a:r>
              <a:rPr lang="en-US" dirty="0" err="1"/>
              <a:t>gerçek-zamanlı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edilmiş</a:t>
            </a:r>
            <a:r>
              <a:rPr lang="en-US" dirty="0"/>
              <a:t>, ≈ %14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tasarrufu</a:t>
            </a:r>
            <a:r>
              <a:rPr lang="en-US" dirty="0"/>
              <a:t> </a:t>
            </a:r>
            <a:r>
              <a:rPr lang="en-US" dirty="0" err="1"/>
              <a:t>sağlanmış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ürün</a:t>
            </a:r>
            <a:r>
              <a:rPr lang="en-US" dirty="0"/>
              <a:t> </a:t>
            </a:r>
            <a:r>
              <a:rPr lang="en-US" dirty="0" err="1"/>
              <a:t>saflığındaki</a:t>
            </a:r>
            <a:r>
              <a:rPr lang="en-US" dirty="0"/>
              <a:t> </a:t>
            </a:r>
            <a:r>
              <a:rPr lang="en-US" dirty="0" err="1"/>
              <a:t>sapmalar</a:t>
            </a:r>
            <a:r>
              <a:rPr lang="en-US" dirty="0"/>
              <a:t> </a:t>
            </a:r>
            <a:r>
              <a:rPr lang="en-US" dirty="0" err="1"/>
              <a:t>erkenden</a:t>
            </a:r>
            <a:r>
              <a:rPr lang="en-US" dirty="0"/>
              <a:t> </a:t>
            </a:r>
            <a:r>
              <a:rPr lang="en-US" dirty="0" err="1"/>
              <a:t>düzeltilerek</a:t>
            </a:r>
            <a:r>
              <a:rPr lang="en-US" dirty="0"/>
              <a:t> proses </a:t>
            </a:r>
            <a:r>
              <a:rPr lang="en-US" dirty="0" err="1"/>
              <a:t>kararlılığı</a:t>
            </a:r>
            <a:r>
              <a:rPr lang="en-US" dirty="0"/>
              <a:t> </a:t>
            </a:r>
            <a:r>
              <a:rPr lang="en-US" dirty="0" err="1"/>
              <a:t>korunmuştur</a:t>
            </a:r>
            <a:r>
              <a:rPr lang="en-US" dirty="0"/>
              <a:t>. </a:t>
            </a: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5623119-5E81-0F4E-A6E6-D2FF30BA487B}"/>
              </a:ext>
            </a:extLst>
          </p:cNvPr>
          <p:cNvSpPr txBox="1"/>
          <p:nvPr/>
        </p:nvSpPr>
        <p:spPr>
          <a:xfrm>
            <a:off x="0" y="639633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[1]: Leng, E., He, B., Chen, J., Liao, G., Ma, Y., Zhang, F., Liu, S., &amp; E, J. </a:t>
            </a:r>
            <a:r>
              <a:rPr lang="en-US" sz="1200" i="1" dirty="0"/>
              <a:t>Prediction of three-phased product distribution and bio-oil heating value of biomass fast pyrolysis based on machine learning</a:t>
            </a:r>
            <a:r>
              <a:rPr lang="en-US" sz="1200" dirty="0"/>
              <a:t>. Energy, 236 (2025): 121401. </a:t>
            </a:r>
          </a:p>
        </p:txBody>
      </p:sp>
    </p:spTree>
    <p:extLst>
      <p:ext uri="{BB962C8B-B14F-4D97-AF65-F5344CB8AC3E}">
        <p14:creationId xmlns:p14="http://schemas.microsoft.com/office/powerpoint/2010/main" val="983267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9B6D0-3DB5-3CF7-D2E2-F8C8E3CD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00DCA-2EB5-378F-F975-4D09035D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Proses </a:t>
            </a:r>
            <a:r>
              <a:rPr lang="en-US" dirty="0" err="1"/>
              <a:t>Seçimi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2FDD6-914F-3381-D8ED-D21BEB88E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Biyoyağın</a:t>
            </a:r>
            <a:r>
              <a:rPr lang="en-US" dirty="0"/>
              <a:t>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yakılması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Buhar reforming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Hidro-deoksijenasyon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Fenolik</a:t>
            </a:r>
            <a:r>
              <a:rPr lang="en-US" dirty="0"/>
              <a:t> </a:t>
            </a:r>
            <a:r>
              <a:rPr lang="en-US" dirty="0" err="1"/>
              <a:t>reçine</a:t>
            </a:r>
            <a:r>
              <a:rPr lang="en-US" dirty="0"/>
              <a:t> </a:t>
            </a:r>
            <a:r>
              <a:rPr lang="en-US" dirty="0" err="1"/>
              <a:t>üretimi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Biyo-</a:t>
            </a:r>
            <a:r>
              <a:rPr lang="en-US" dirty="0" err="1"/>
              <a:t>asfalt</a:t>
            </a:r>
            <a:r>
              <a:rPr lang="en-US" dirty="0"/>
              <a:t> </a:t>
            </a:r>
            <a:r>
              <a:rPr lang="en-US" dirty="0" err="1"/>
              <a:t>sentezi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067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49E41-300E-119D-6B49-64DB882F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38DB7-786A-B9FF-10B9-D74C93C02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4333937" cy="44106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dirty="0" err="1"/>
              <a:t>Dönem</a:t>
            </a:r>
            <a:r>
              <a:rPr lang="en-US" sz="4000" dirty="0"/>
              <a:t> </a:t>
            </a:r>
            <a:r>
              <a:rPr lang="en-US" sz="4000" dirty="0" err="1"/>
              <a:t>İçinde</a:t>
            </a:r>
            <a:r>
              <a:rPr lang="en-US" sz="4000" dirty="0"/>
              <a:t> </a:t>
            </a:r>
            <a:r>
              <a:rPr lang="en-US" sz="4000" dirty="0" err="1"/>
              <a:t>Yapılan</a:t>
            </a:r>
            <a:r>
              <a:rPr lang="en-US" sz="4000" dirty="0"/>
              <a:t> </a:t>
            </a:r>
            <a:r>
              <a:rPr lang="en-US" sz="4000" dirty="0" err="1"/>
              <a:t>Çalışmalar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40966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D1DA-7924-61C2-27ED-BC84211DF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630D4-CC35-6C5A-6DF5-2CADDA18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Buhar reforming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1650E-EAD0-4532-8FE9-9B50A103E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Veri </a:t>
            </a:r>
            <a:r>
              <a:rPr lang="en-US" dirty="0" err="1"/>
              <a:t>kümesi</a:t>
            </a:r>
            <a:r>
              <a:rPr lang="en-US" dirty="0"/>
              <a:t> </a:t>
            </a:r>
            <a:r>
              <a:rPr lang="en-US" dirty="0" err="1"/>
              <a:t>üretimi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T (650–850 °C), P (5–30 bar), S/C (2–6)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bileşim</a:t>
            </a:r>
            <a:r>
              <a:rPr lang="en-US" dirty="0"/>
              <a:t> </a:t>
            </a:r>
            <a:r>
              <a:rPr lang="en-US" dirty="0" err="1"/>
              <a:t>varyasyonları</a:t>
            </a:r>
            <a:r>
              <a:rPr lang="en-US" dirty="0"/>
              <a:t> </a:t>
            </a:r>
            <a:r>
              <a:rPr lang="en-US" dirty="0" err="1"/>
              <a:t>taranması</a:t>
            </a:r>
            <a:r>
              <a:rPr lang="en-US" dirty="0"/>
              <a:t> </a:t>
            </a:r>
            <a:r>
              <a:rPr lang="en-US" dirty="0" err="1"/>
              <a:t>düşünülmüştür</a:t>
            </a:r>
            <a:r>
              <a:rPr lang="en-US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Girdi</a:t>
            </a:r>
            <a:r>
              <a:rPr lang="en-US" dirty="0"/>
              <a:t> (X)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değişkenleri</a:t>
            </a:r>
            <a:r>
              <a:rPr lang="en-US" dirty="0"/>
              <a:t> (T, P, S/C)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Çıktılar</a:t>
            </a:r>
            <a:r>
              <a:rPr lang="en-US" dirty="0"/>
              <a:t> (Y) = </a:t>
            </a: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ters</a:t>
            </a:r>
            <a:r>
              <a:rPr lang="en-US" dirty="0"/>
              <a:t> </a:t>
            </a:r>
            <a:r>
              <a:rPr lang="en-US" dirty="0" err="1"/>
              <a:t>modelin</a:t>
            </a:r>
            <a:r>
              <a:rPr lang="en-US" dirty="0"/>
              <a:t>,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zamanlı</a:t>
            </a:r>
            <a:r>
              <a:rPr lang="en-US" dirty="0"/>
              <a:t> Model Predictive Control (MPC) </a:t>
            </a:r>
            <a:r>
              <a:rPr lang="en-US" dirty="0" err="1"/>
              <a:t>tasarımında</a:t>
            </a:r>
            <a:r>
              <a:rPr lang="en-US" dirty="0"/>
              <a:t> set-point </a:t>
            </a:r>
            <a:r>
              <a:rPr lang="en-US" dirty="0" err="1"/>
              <a:t>jeneratörü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görev</a:t>
            </a:r>
            <a:r>
              <a:rPr lang="en-US" dirty="0"/>
              <a:t> </a:t>
            </a:r>
            <a:r>
              <a:rPr lang="en-US" dirty="0" err="1"/>
              <a:t>yapması</a:t>
            </a:r>
            <a:r>
              <a:rPr lang="en-US" dirty="0"/>
              <a:t> </a:t>
            </a:r>
            <a:r>
              <a:rPr lang="en-US" dirty="0" err="1"/>
              <a:t>hedeflenmektedir</a:t>
            </a:r>
            <a:r>
              <a:rPr lang="en-US" dirty="0"/>
              <a:t>. 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C2548B5-2C39-0C59-70D1-D1C791D71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85" y="5575696"/>
            <a:ext cx="10267263" cy="85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9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534CA-63FC-66DF-0B0E-38666CBA8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114CA-33C9-8A4E-5027-F3266D543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Yeni </a:t>
            </a:r>
            <a:r>
              <a:rPr lang="en-US" dirty="0" err="1"/>
              <a:t>yaklaşım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3AB3D-FEF8-11A6-0CCC-1C108D0B0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012" y="1676399"/>
            <a:ext cx="6033247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Biyokütle</a:t>
            </a:r>
            <a:r>
              <a:rPr lang="en-US" dirty="0"/>
              <a:t> </a:t>
            </a:r>
            <a:r>
              <a:rPr lang="en-US" dirty="0" err="1"/>
              <a:t>pirolizi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biyo-yağın</a:t>
            </a:r>
            <a:r>
              <a:rPr lang="en-US" dirty="0"/>
              <a:t> </a:t>
            </a:r>
            <a:r>
              <a:rPr lang="en-US" dirty="0" err="1"/>
              <a:t>buhar</a:t>
            </a:r>
            <a:r>
              <a:rPr lang="en-US" dirty="0"/>
              <a:t> reforming </a:t>
            </a:r>
            <a:r>
              <a:rPr lang="en-US" dirty="0" err="1"/>
              <a:t>işleminden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</a:t>
            </a:r>
            <a:r>
              <a:rPr lang="en-US" dirty="0" err="1"/>
              <a:t>sıngaz</a:t>
            </a:r>
            <a:r>
              <a:rPr lang="en-US" dirty="0"/>
              <a:t> </a:t>
            </a:r>
            <a:r>
              <a:rPr lang="en-US" dirty="0" err="1"/>
              <a:t>kompozisyonuna</a:t>
            </a:r>
            <a:r>
              <a:rPr lang="en-US" dirty="0"/>
              <a:t> </a:t>
            </a:r>
            <a:r>
              <a:rPr lang="en-US" dirty="0" err="1"/>
              <a:t>bakarak</a:t>
            </a:r>
            <a:r>
              <a:rPr lang="en-US" dirty="0"/>
              <a:t>, </a:t>
            </a:r>
            <a:r>
              <a:rPr lang="en-US" dirty="0" err="1"/>
              <a:t>girişte</a:t>
            </a:r>
            <a:r>
              <a:rPr lang="en-US" dirty="0"/>
              <a:t> </a:t>
            </a:r>
            <a:r>
              <a:rPr lang="en-US" dirty="0" err="1"/>
              <a:t>kullanılan</a:t>
            </a:r>
            <a:r>
              <a:rPr lang="en-US" dirty="0"/>
              <a:t> </a:t>
            </a:r>
            <a:r>
              <a:rPr lang="en-US" dirty="0" err="1"/>
              <a:t>biyo-yağ</a:t>
            </a:r>
            <a:r>
              <a:rPr lang="en-US" dirty="0"/>
              <a:t> </a:t>
            </a:r>
            <a:r>
              <a:rPr lang="en-US" dirty="0" err="1"/>
              <a:t>kompozisyonunu</a:t>
            </a:r>
            <a:r>
              <a:rPr lang="en-US" dirty="0"/>
              <a:t> </a:t>
            </a:r>
            <a:r>
              <a:rPr lang="en-US" dirty="0" err="1"/>
              <a:t>tahmini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amaçla</a:t>
            </a:r>
            <a:r>
              <a:rPr lang="en-US" dirty="0"/>
              <a:t> </a:t>
            </a:r>
            <a:r>
              <a:rPr lang="en-US" dirty="0" err="1"/>
              <a:t>tersten</a:t>
            </a:r>
            <a:r>
              <a:rPr lang="en-US" dirty="0"/>
              <a:t> </a:t>
            </a:r>
            <a:r>
              <a:rPr lang="en-US" dirty="0" err="1"/>
              <a:t>çalışan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geliştirildi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biyoyağı</a:t>
            </a:r>
            <a:r>
              <a:rPr lang="en-US" dirty="0"/>
              <a:t> </a:t>
            </a:r>
            <a:r>
              <a:rPr lang="en-US" dirty="0" err="1"/>
              <a:t>karakterizasyonu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tahminleme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yandaki</a:t>
            </a:r>
            <a:r>
              <a:rPr lang="en-US" dirty="0"/>
              <a:t> </a:t>
            </a:r>
            <a:r>
              <a:rPr lang="en-US" dirty="0" err="1"/>
              <a:t>figür'de</a:t>
            </a:r>
            <a:r>
              <a:rPr lang="en-US" dirty="0"/>
              <a:t> </a:t>
            </a:r>
            <a:r>
              <a:rPr lang="en-US" dirty="0" err="1"/>
              <a:t>gösterilmiştir</a:t>
            </a:r>
            <a:r>
              <a:rPr lang="en-US" dirty="0"/>
              <a:t>. </a:t>
            </a:r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9102BCDD-25C2-9514-9CA6-600C101BC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265" y="1183532"/>
            <a:ext cx="5769735" cy="567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813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1EBAC-30CD-319F-0E74-DF46A4441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EB3C3-A925-ED81-C4BC-256B7B14D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Ters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B4A53-6BC1-D75C-7431-5368DAA68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Biyo-</a:t>
            </a:r>
            <a:r>
              <a:rPr lang="en-US" dirty="0" err="1"/>
              <a:t>yağ</a:t>
            </a:r>
            <a:r>
              <a:rPr lang="en-US" dirty="0"/>
              <a:t> </a:t>
            </a:r>
            <a:r>
              <a:rPr lang="en-US" dirty="0" err="1"/>
              <a:t>buhar</a:t>
            </a:r>
            <a:r>
              <a:rPr lang="en-US" dirty="0"/>
              <a:t> reforming </a:t>
            </a:r>
            <a:r>
              <a:rPr lang="en-US" dirty="0" err="1"/>
              <a:t>tesislerinde</a:t>
            </a:r>
            <a:r>
              <a:rPr lang="en-US" dirty="0"/>
              <a:t>, </a:t>
            </a:r>
            <a:r>
              <a:rPr lang="en-US" dirty="0" err="1"/>
              <a:t>reaktörden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</a:t>
            </a:r>
            <a:r>
              <a:rPr lang="en-US" dirty="0" err="1"/>
              <a:t>sıngaz</a:t>
            </a:r>
            <a:r>
              <a:rPr lang="en-US" dirty="0"/>
              <a:t> </a:t>
            </a:r>
            <a:r>
              <a:rPr lang="en-US" dirty="0" err="1"/>
              <a:t>kompozisyonunu</a:t>
            </a:r>
            <a:r>
              <a:rPr lang="en-US" dirty="0"/>
              <a:t> </a:t>
            </a:r>
            <a:r>
              <a:rPr lang="en-US" dirty="0" err="1"/>
              <a:t>ölçmek</a:t>
            </a:r>
            <a:r>
              <a:rPr lang="en-US" dirty="0"/>
              <a:t> </a:t>
            </a:r>
            <a:r>
              <a:rPr lang="en-US" dirty="0" err="1"/>
              <a:t>oldukça</a:t>
            </a:r>
            <a:r>
              <a:rPr lang="en-US" dirty="0"/>
              <a:t> </a:t>
            </a:r>
            <a:r>
              <a:rPr lang="en-US" dirty="0" err="1"/>
              <a:t>kolay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hızlıdır</a:t>
            </a:r>
            <a:r>
              <a:rPr lang="en-US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Biyo-</a:t>
            </a:r>
            <a:r>
              <a:rPr lang="en-US" dirty="0" err="1"/>
              <a:t>yağın</a:t>
            </a:r>
            <a:r>
              <a:rPr lang="en-US" dirty="0"/>
              <a:t> </a:t>
            </a:r>
            <a:r>
              <a:rPr lang="en-US" dirty="0" err="1"/>
              <a:t>detaylı</a:t>
            </a:r>
            <a:r>
              <a:rPr lang="en-US" dirty="0"/>
              <a:t>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kompozisyonunu</a:t>
            </a:r>
            <a:r>
              <a:rPr lang="en-US" dirty="0"/>
              <a:t> </a:t>
            </a:r>
            <a:r>
              <a:rPr lang="en-US" dirty="0" err="1"/>
              <a:t>belirlemek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zor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zaman </a:t>
            </a:r>
            <a:r>
              <a:rPr lang="en-US" dirty="0" err="1"/>
              <a:t>alıcıdır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kompozisyonuna</a:t>
            </a:r>
            <a:r>
              <a:rPr lang="en-US" dirty="0"/>
              <a:t> </a:t>
            </a:r>
            <a:r>
              <a:rPr lang="en-US" dirty="0" err="1"/>
              <a:t>bakarak</a:t>
            </a:r>
            <a:r>
              <a:rPr lang="en-US" dirty="0"/>
              <a:t> </a:t>
            </a:r>
            <a:r>
              <a:rPr lang="en-US" dirty="0" err="1"/>
              <a:t>biyo-yağ</a:t>
            </a:r>
            <a:r>
              <a:rPr lang="en-US" dirty="0"/>
              <a:t> </a:t>
            </a:r>
            <a:r>
              <a:rPr lang="en-US" dirty="0" err="1"/>
              <a:t>kompozisyonunu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edebilirsek</a:t>
            </a:r>
            <a:r>
              <a:rPr lang="en-US" dirty="0"/>
              <a:t> hem </a:t>
            </a:r>
            <a:r>
              <a:rPr lang="en-US" dirty="0" err="1"/>
              <a:t>hammadde</a:t>
            </a:r>
            <a:r>
              <a:rPr lang="en-US" dirty="0"/>
              <a:t> </a:t>
            </a:r>
            <a:r>
              <a:rPr lang="en-US" dirty="0" err="1"/>
              <a:t>kalite</a:t>
            </a:r>
            <a:r>
              <a:rPr lang="en-US" dirty="0"/>
              <a:t> </a:t>
            </a:r>
            <a:r>
              <a:rPr lang="en-US" dirty="0" err="1"/>
              <a:t>kontrolü</a:t>
            </a:r>
            <a:r>
              <a:rPr lang="en-US" dirty="0"/>
              <a:t> </a:t>
            </a:r>
            <a:r>
              <a:rPr lang="en-US" dirty="0" err="1"/>
              <a:t>yapılabilir</a:t>
            </a:r>
            <a:r>
              <a:rPr lang="en-US" dirty="0"/>
              <a:t> hem de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zamanlı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tesiste</a:t>
            </a:r>
            <a:r>
              <a:rPr lang="en-US" dirty="0"/>
              <a:t> hangi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dirty="0" err="1"/>
              <a:t>biyo-yağın</a:t>
            </a:r>
            <a:r>
              <a:rPr lang="en-US" dirty="0"/>
              <a:t> </a:t>
            </a:r>
            <a:r>
              <a:rPr lang="en-US" dirty="0" err="1"/>
              <a:t>kullanıldığını</a:t>
            </a:r>
            <a:r>
              <a:rPr lang="en-US" dirty="0"/>
              <a:t> </a:t>
            </a:r>
            <a:r>
              <a:rPr lang="en-US" dirty="0" err="1"/>
              <a:t>izlenebilir</a:t>
            </a:r>
            <a:r>
              <a:rPr lang="en-US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Ayrıca</a:t>
            </a:r>
            <a:r>
              <a:rPr lang="en-US" dirty="0"/>
              <a:t>,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biyo-yağ</a:t>
            </a:r>
            <a:r>
              <a:rPr lang="en-US" dirty="0"/>
              <a:t> </a:t>
            </a:r>
            <a:r>
              <a:rPr lang="en-US" dirty="0" err="1"/>
              <a:t>karışımında</a:t>
            </a:r>
            <a:r>
              <a:rPr lang="en-US" dirty="0"/>
              <a:t> </a:t>
            </a:r>
            <a:r>
              <a:rPr lang="en-US" dirty="0" err="1"/>
              <a:t>hedef</a:t>
            </a:r>
            <a:r>
              <a:rPr lang="en-US" dirty="0"/>
              <a:t> </a:t>
            </a:r>
            <a:r>
              <a:rPr lang="en-US" dirty="0" err="1"/>
              <a:t>hidrojen</a:t>
            </a:r>
            <a:r>
              <a:rPr lang="en-US" dirty="0"/>
              <a:t> </a:t>
            </a:r>
            <a:r>
              <a:rPr lang="en-US" dirty="0" err="1"/>
              <a:t>üretimi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hangi proses </a:t>
            </a:r>
            <a:r>
              <a:rPr lang="en-US" dirty="0" err="1"/>
              <a:t>parametrelerinin</a:t>
            </a:r>
            <a:r>
              <a:rPr lang="en-US" dirty="0"/>
              <a:t> </a:t>
            </a:r>
            <a:r>
              <a:rPr lang="en-US" dirty="0" err="1"/>
              <a:t>gerektiği</a:t>
            </a:r>
            <a:r>
              <a:rPr lang="en-US" dirty="0"/>
              <a:t> optimize </a:t>
            </a:r>
            <a:r>
              <a:rPr lang="en-US" dirty="0" err="1"/>
              <a:t>edilebilir</a:t>
            </a:r>
            <a:r>
              <a:rPr lang="en-US" dirty="0"/>
              <a:t>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38110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EC681-82B8-5DC5-947D-7F7B5436B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F6BE-0215-372E-FBB9-DC4C49DAE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Cantera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26C51-200F-8625-E09F-D17CF4C97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56" y="1676399"/>
            <a:ext cx="8808346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NASA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geliştirilen</a:t>
            </a:r>
            <a:r>
              <a:rPr lang="en-US" dirty="0"/>
              <a:t> </a:t>
            </a:r>
            <a:r>
              <a:rPr lang="en-US" dirty="0" err="1"/>
              <a:t>termodinamik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tabanlarını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Gibbs </a:t>
            </a:r>
            <a:r>
              <a:rPr lang="en-US" dirty="0" err="1"/>
              <a:t>serbest</a:t>
            </a:r>
            <a:r>
              <a:rPr lang="en-US" dirty="0"/>
              <a:t> </a:t>
            </a:r>
            <a:r>
              <a:rPr lang="en-US" dirty="0" err="1"/>
              <a:t>enerjisi</a:t>
            </a:r>
            <a:r>
              <a:rPr lang="en-US" dirty="0"/>
              <a:t> </a:t>
            </a:r>
            <a:r>
              <a:rPr lang="en-US" dirty="0" err="1"/>
              <a:t>minimizasyonu</a:t>
            </a:r>
            <a:r>
              <a:rPr lang="en-US" dirty="0"/>
              <a:t> </a:t>
            </a:r>
            <a:r>
              <a:rPr lang="en-US" dirty="0" err="1"/>
              <a:t>yöntemiyle</a:t>
            </a:r>
            <a:r>
              <a:rPr lang="en-US" dirty="0"/>
              <a:t>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denge</a:t>
            </a:r>
            <a:r>
              <a:rPr lang="en-US" dirty="0"/>
              <a:t> </a:t>
            </a:r>
            <a:r>
              <a:rPr lang="en-US" dirty="0" err="1"/>
              <a:t>hesaplamaları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denge</a:t>
            </a:r>
            <a:r>
              <a:rPr lang="en-US" dirty="0"/>
              <a:t>, </a:t>
            </a:r>
            <a:r>
              <a:rPr lang="en-US" dirty="0" err="1"/>
              <a:t>sistemin</a:t>
            </a:r>
            <a:r>
              <a:rPr lang="en-US" dirty="0"/>
              <a:t> Gibbs </a:t>
            </a:r>
            <a:r>
              <a:rPr lang="en-US" dirty="0" err="1"/>
              <a:t>serbest</a:t>
            </a:r>
            <a:r>
              <a:rPr lang="en-US" dirty="0"/>
              <a:t> </a:t>
            </a:r>
            <a:r>
              <a:rPr lang="en-US" dirty="0" err="1"/>
              <a:t>enerjisinin</a:t>
            </a:r>
            <a:r>
              <a:rPr lang="en-US" dirty="0"/>
              <a:t> minimum </a:t>
            </a:r>
            <a:r>
              <a:rPr lang="en-US" dirty="0" err="1"/>
              <a:t>noktasına</a:t>
            </a:r>
            <a:r>
              <a:rPr lang="en-US" dirty="0"/>
              <a:t> </a:t>
            </a:r>
            <a:r>
              <a:rPr lang="en-US" dirty="0" err="1"/>
              <a:t>ulaştığı</a:t>
            </a:r>
            <a:r>
              <a:rPr lang="en-US" dirty="0"/>
              <a:t> </a:t>
            </a:r>
            <a:r>
              <a:rPr lang="en-US" dirty="0" err="1"/>
              <a:t>durumdur</a:t>
            </a:r>
            <a:r>
              <a:rPr lang="en-US" dirty="0"/>
              <a:t>. </a:t>
            </a:r>
            <a:r>
              <a:rPr lang="en-US" dirty="0" err="1"/>
              <a:t>Matematiksel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Minimize: G = </a:t>
            </a:r>
            <a:r>
              <a:rPr lang="el-GR" dirty="0"/>
              <a:t>Σ(</a:t>
            </a:r>
            <a:r>
              <a:rPr lang="en-US" dirty="0"/>
              <a:t>nᵢ × </a:t>
            </a:r>
            <a:r>
              <a:rPr lang="el-GR" dirty="0"/>
              <a:t>μ</a:t>
            </a:r>
            <a:r>
              <a:rPr lang="en-US" dirty="0"/>
              <a:t>ᵢ) 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61C90FE-FF96-A63D-FF25-3D445AB37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630" y="3836896"/>
            <a:ext cx="5771628" cy="205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1933B-9186-B95D-66BA-DE00689C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F553-2774-189B-D53B-BFCC8BE91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Cantera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1E9E2-8016-D555-A24C-9D6FC246C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9121090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Sistemdeki</a:t>
            </a:r>
            <a:r>
              <a:rPr lang="en-US" dirty="0"/>
              <a:t> her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potansiyeli</a:t>
            </a:r>
            <a:r>
              <a:rPr lang="en-US" dirty="0"/>
              <a:t> (</a:t>
            </a:r>
            <a:r>
              <a:rPr lang="el-GR" dirty="0"/>
              <a:t>μ</a:t>
            </a:r>
            <a:r>
              <a:rPr lang="en-US" dirty="0"/>
              <a:t>ᵢ) </a:t>
            </a:r>
            <a:r>
              <a:rPr lang="en-US" dirty="0" err="1"/>
              <a:t>hesaplanır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Ardından</a:t>
            </a:r>
            <a:r>
              <a:rPr lang="en-US" dirty="0"/>
              <a:t> element </a:t>
            </a:r>
            <a:r>
              <a:rPr lang="en-US" dirty="0" err="1"/>
              <a:t>korunumu</a:t>
            </a:r>
            <a:r>
              <a:rPr lang="en-US" dirty="0"/>
              <a:t> </a:t>
            </a:r>
            <a:r>
              <a:rPr lang="en-US" dirty="0" err="1"/>
              <a:t>kısıtları</a:t>
            </a:r>
            <a:r>
              <a:rPr lang="en-US" dirty="0"/>
              <a:t> (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giren</a:t>
            </a:r>
            <a:r>
              <a:rPr lang="en-US" dirty="0"/>
              <a:t> C, H, O atom </a:t>
            </a:r>
            <a:r>
              <a:rPr lang="en-US" dirty="0" err="1"/>
              <a:t>miktarları</a:t>
            </a:r>
            <a:r>
              <a:rPr lang="en-US" dirty="0"/>
              <a:t> = </a:t>
            </a:r>
            <a:r>
              <a:rPr lang="en-US" dirty="0" err="1"/>
              <a:t>çıkan</a:t>
            </a:r>
            <a:r>
              <a:rPr lang="en-US" dirty="0"/>
              <a:t> </a:t>
            </a:r>
            <a:r>
              <a:rPr lang="en-US" dirty="0" err="1"/>
              <a:t>miktarlar</a:t>
            </a:r>
            <a:r>
              <a:rPr lang="en-US" dirty="0"/>
              <a:t>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pozitif</a:t>
            </a:r>
            <a:r>
              <a:rPr lang="en-US" dirty="0"/>
              <a:t> mol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kısıtları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, Gibbs </a:t>
            </a:r>
            <a:r>
              <a:rPr lang="en-US" dirty="0" err="1"/>
              <a:t>serbest</a:t>
            </a:r>
            <a:r>
              <a:rPr lang="en-US" dirty="0"/>
              <a:t> </a:t>
            </a:r>
            <a:r>
              <a:rPr lang="en-US" dirty="0" err="1"/>
              <a:t>enerjisini</a:t>
            </a:r>
            <a:r>
              <a:rPr lang="en-US" dirty="0"/>
              <a:t> minimize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r>
              <a:rPr lang="en-US" dirty="0"/>
              <a:t> </a:t>
            </a:r>
            <a:r>
              <a:rPr lang="en-US" dirty="0" err="1"/>
              <a:t>bulur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 </a:t>
            </a:r>
            <a:r>
              <a:rPr lang="en-US" dirty="0" err="1"/>
              <a:t>doğrusal</a:t>
            </a:r>
            <a:r>
              <a:rPr lang="en-US" dirty="0"/>
              <a:t> </a:t>
            </a:r>
            <a:r>
              <a:rPr lang="en-US" dirty="0" err="1"/>
              <a:t>olmayan</a:t>
            </a:r>
            <a:r>
              <a:rPr lang="en-US" dirty="0"/>
              <a:t> </a:t>
            </a:r>
            <a:r>
              <a:rPr lang="en-US" dirty="0" err="1"/>
              <a:t>kısıtlı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problemdir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Cantera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çözmek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Newton-Raphson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nümerik</a:t>
            </a:r>
            <a:r>
              <a:rPr lang="en-US" dirty="0"/>
              <a:t> </a:t>
            </a:r>
            <a:r>
              <a:rPr lang="en-US" dirty="0" err="1"/>
              <a:t>metodlar</a:t>
            </a:r>
            <a:r>
              <a:rPr lang="en-US" dirty="0"/>
              <a:t> </a:t>
            </a:r>
            <a:r>
              <a:rPr lang="en-US" dirty="0" err="1"/>
              <a:t>kullanır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53624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04F13-BE85-0776-420F-3D7C210F9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3172-E59A-2F66-B7BC-9AC0D2AFD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Cantera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48909-8249-22FE-81BB-9A73C7D62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71" y="1281953"/>
            <a:ext cx="10040469" cy="54665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1. </a:t>
            </a:r>
            <a:r>
              <a:rPr lang="en-US" dirty="0" err="1"/>
              <a:t>Başlangıç</a:t>
            </a:r>
            <a:r>
              <a:rPr lang="en-US" dirty="0"/>
              <a:t> </a:t>
            </a:r>
            <a:r>
              <a:rPr lang="en-US" dirty="0" err="1"/>
              <a:t>tahmini</a:t>
            </a:r>
            <a:r>
              <a:rPr lang="en-US" dirty="0"/>
              <a:t>: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ilk </a:t>
            </a:r>
            <a:r>
              <a:rPr lang="en-US" dirty="0" err="1"/>
              <a:t>kompozisyon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belirlenir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2. Jacobian </a:t>
            </a:r>
            <a:r>
              <a:rPr lang="en-US" dirty="0" err="1"/>
              <a:t>matrisi</a:t>
            </a:r>
            <a:r>
              <a:rPr lang="en-US" dirty="0"/>
              <a:t> </a:t>
            </a:r>
            <a:r>
              <a:rPr lang="en-US" dirty="0" err="1"/>
              <a:t>hesaplaması</a:t>
            </a:r>
            <a:r>
              <a:rPr lang="en-US" dirty="0"/>
              <a:t>: Her </a:t>
            </a:r>
            <a:r>
              <a:rPr lang="en-US" dirty="0" err="1"/>
              <a:t>iterasyonda</a:t>
            </a:r>
            <a:r>
              <a:rPr lang="en-US" dirty="0"/>
              <a:t>, Gibbs </a:t>
            </a:r>
            <a:r>
              <a:rPr lang="en-US" dirty="0" err="1"/>
              <a:t>enerjisinin</a:t>
            </a:r>
            <a:r>
              <a:rPr lang="en-US" dirty="0"/>
              <a:t> </a:t>
            </a:r>
            <a:r>
              <a:rPr lang="en-US" dirty="0" err="1"/>
              <a:t>kompozisyona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kısmi</a:t>
            </a:r>
            <a:r>
              <a:rPr lang="en-US" dirty="0"/>
              <a:t> </a:t>
            </a:r>
            <a:r>
              <a:rPr lang="en-US" dirty="0" err="1"/>
              <a:t>türevleri</a:t>
            </a:r>
            <a:r>
              <a:rPr lang="en-US" dirty="0"/>
              <a:t> (Jacobian </a:t>
            </a:r>
            <a:r>
              <a:rPr lang="en-US" dirty="0" err="1"/>
              <a:t>matrisi</a:t>
            </a:r>
            <a:r>
              <a:rPr lang="en-US" dirty="0"/>
              <a:t>) </a:t>
            </a:r>
            <a:r>
              <a:rPr lang="en-US" dirty="0" err="1"/>
              <a:t>hesaplanır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3. </a:t>
            </a:r>
            <a:r>
              <a:rPr lang="en-US" dirty="0" err="1"/>
              <a:t>Doğrusal</a:t>
            </a:r>
            <a:r>
              <a:rPr lang="en-US" dirty="0"/>
              <a:t> </a:t>
            </a:r>
            <a:r>
              <a:rPr lang="en-US" dirty="0" err="1"/>
              <a:t>denklem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çözümü</a:t>
            </a:r>
            <a:r>
              <a:rPr lang="en-US" dirty="0"/>
              <a:t>: Newton-Raphson </a:t>
            </a:r>
            <a:r>
              <a:rPr lang="en-US" dirty="0" err="1"/>
              <a:t>yöntemi</a:t>
            </a:r>
            <a:r>
              <a:rPr lang="en-US" dirty="0"/>
              <a:t>, her </a:t>
            </a:r>
            <a:r>
              <a:rPr lang="en-US" dirty="0" err="1"/>
              <a:t>adımda</a:t>
            </a:r>
            <a:r>
              <a:rPr lang="en-US" dirty="0"/>
              <a:t> </a:t>
            </a:r>
            <a:r>
              <a:rPr lang="en-US" dirty="0" err="1"/>
              <a:t>doğrusallaştırılmış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denklem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çözerek</a:t>
            </a:r>
            <a:r>
              <a:rPr lang="en-US" dirty="0"/>
              <a:t> </a:t>
            </a:r>
            <a:r>
              <a:rPr lang="en-US" dirty="0" err="1"/>
              <a:t>kompozisyon</a:t>
            </a:r>
            <a:r>
              <a:rPr lang="en-US" dirty="0"/>
              <a:t> </a:t>
            </a:r>
            <a:r>
              <a:rPr lang="en-US" dirty="0" err="1"/>
              <a:t>düzeltmelerini</a:t>
            </a:r>
            <a:r>
              <a:rPr lang="en-US" dirty="0"/>
              <a:t> (</a:t>
            </a:r>
            <a:r>
              <a:rPr lang="el-GR" dirty="0"/>
              <a:t>Δ</a:t>
            </a:r>
            <a:r>
              <a:rPr lang="en-US" dirty="0"/>
              <a:t>nᵢ) </a:t>
            </a:r>
            <a:r>
              <a:rPr lang="en-US" dirty="0" err="1"/>
              <a:t>bulur</a:t>
            </a:r>
            <a:r>
              <a:rPr lang="en-US" dirty="0"/>
              <a:t>: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- J × </a:t>
            </a:r>
            <a:r>
              <a:rPr lang="el-GR" dirty="0"/>
              <a:t>Δ</a:t>
            </a:r>
            <a:r>
              <a:rPr lang="en-US" dirty="0"/>
              <a:t>n = -∇G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- </a:t>
            </a:r>
            <a:r>
              <a:rPr lang="en-US" dirty="0" err="1"/>
              <a:t>Burada</a:t>
            </a:r>
            <a:r>
              <a:rPr lang="en-US" dirty="0"/>
              <a:t> J Jacobian </a:t>
            </a:r>
            <a:r>
              <a:rPr lang="en-US" dirty="0" err="1"/>
              <a:t>matrisi</a:t>
            </a:r>
            <a:r>
              <a:rPr lang="en-US" dirty="0"/>
              <a:t>, ∇G Gibbs </a:t>
            </a:r>
            <a:r>
              <a:rPr lang="en-US" dirty="0" err="1"/>
              <a:t>enerjisinin</a:t>
            </a:r>
            <a:r>
              <a:rPr lang="en-US" dirty="0"/>
              <a:t> </a:t>
            </a:r>
            <a:r>
              <a:rPr lang="en-US" dirty="0" err="1"/>
              <a:t>gradyanıdır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4. </a:t>
            </a:r>
            <a:r>
              <a:rPr lang="en-US" dirty="0" err="1"/>
              <a:t>Yakınsama</a:t>
            </a:r>
            <a:r>
              <a:rPr lang="en-US" dirty="0"/>
              <a:t> </a:t>
            </a:r>
            <a:r>
              <a:rPr lang="en-US" dirty="0" err="1"/>
              <a:t>kontrolü</a:t>
            </a:r>
            <a:r>
              <a:rPr lang="en-US" dirty="0"/>
              <a:t>: </a:t>
            </a:r>
            <a:r>
              <a:rPr lang="en-US" dirty="0" err="1"/>
              <a:t>Düzeltmeler</a:t>
            </a:r>
            <a:r>
              <a:rPr lang="en-US" dirty="0"/>
              <a:t>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tolerans</a:t>
            </a:r>
            <a:r>
              <a:rPr lang="en-US" dirty="0"/>
              <a:t> </a:t>
            </a:r>
            <a:r>
              <a:rPr lang="en-US" dirty="0" err="1"/>
              <a:t>değerinin</a:t>
            </a:r>
            <a:r>
              <a:rPr lang="en-US" dirty="0"/>
              <a:t> (</a:t>
            </a:r>
            <a:r>
              <a:rPr lang="en-US" dirty="0" err="1"/>
              <a:t>örneğin</a:t>
            </a:r>
            <a:r>
              <a:rPr lang="en-US" dirty="0"/>
              <a:t> 10⁻⁸) </a:t>
            </a:r>
            <a:r>
              <a:rPr lang="en-US" dirty="0" err="1"/>
              <a:t>altına</a:t>
            </a:r>
            <a:r>
              <a:rPr lang="en-US" dirty="0"/>
              <a:t> </a:t>
            </a:r>
            <a:r>
              <a:rPr lang="en-US" dirty="0" err="1"/>
              <a:t>düşene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iterasyonlar</a:t>
            </a:r>
            <a:r>
              <a:rPr lang="en-US" dirty="0"/>
              <a:t>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5. </a:t>
            </a:r>
            <a:r>
              <a:rPr lang="en-US" dirty="0" err="1"/>
              <a:t>Kısıt</a:t>
            </a:r>
            <a:r>
              <a:rPr lang="en-US" dirty="0"/>
              <a:t> </a:t>
            </a:r>
            <a:r>
              <a:rPr lang="en-US" dirty="0" err="1"/>
              <a:t>uygulama</a:t>
            </a:r>
            <a:r>
              <a:rPr lang="en-US" dirty="0"/>
              <a:t>: Her </a:t>
            </a:r>
            <a:r>
              <a:rPr lang="en-US" dirty="0" err="1"/>
              <a:t>iterasyonda</a:t>
            </a:r>
            <a:r>
              <a:rPr lang="en-US" dirty="0"/>
              <a:t> element </a:t>
            </a:r>
            <a:r>
              <a:rPr lang="en-US" dirty="0" err="1"/>
              <a:t>korunumu</a:t>
            </a:r>
            <a:r>
              <a:rPr lang="en-US" dirty="0"/>
              <a:t> (atom </a:t>
            </a:r>
            <a:r>
              <a:rPr lang="en-US" dirty="0" err="1"/>
              <a:t>dengesi</a:t>
            </a:r>
            <a:r>
              <a:rPr lang="en-US" dirty="0"/>
              <a:t>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pozitif</a:t>
            </a:r>
            <a:r>
              <a:rPr lang="en-US" dirty="0"/>
              <a:t> mol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kısıtları</a:t>
            </a:r>
            <a:r>
              <a:rPr lang="en-US" dirty="0"/>
              <a:t> Lagrange </a:t>
            </a:r>
            <a:r>
              <a:rPr lang="en-US" dirty="0" err="1"/>
              <a:t>çarpanları</a:t>
            </a:r>
            <a:r>
              <a:rPr lang="en-US" dirty="0"/>
              <a:t> </a:t>
            </a:r>
            <a:r>
              <a:rPr lang="en-US" dirty="0" err="1"/>
              <a:t>yöntemiyle</a:t>
            </a:r>
            <a:r>
              <a:rPr lang="en-US" dirty="0"/>
              <a:t> </a:t>
            </a:r>
            <a:r>
              <a:rPr lang="en-US" dirty="0" err="1"/>
              <a:t>uygulanır</a:t>
            </a:r>
            <a:r>
              <a:rPr lang="en-US" dirty="0"/>
              <a:t>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37424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8394FC-D712-3CF0-BB98-A561A7E6B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Cantera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04D4131E-2274-3FFD-688D-1D1C2A741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81" y="1461247"/>
            <a:ext cx="9940026" cy="53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461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A3B7A4-C0C9-BB79-A1EF-329FBB8D1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 </a:t>
            </a:r>
            <a:r>
              <a:rPr lang="en-US" dirty="0" err="1"/>
              <a:t>kontrolcü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(generate_data_cantera.py)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9352E57-ED02-F7B0-127E-A59527749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2160589"/>
            <a:ext cx="4683560" cy="3880773"/>
          </a:xfrm>
        </p:spPr>
        <p:txBody>
          <a:bodyPr/>
          <a:lstStyle/>
          <a:p>
            <a:r>
              <a:rPr lang="en-US" dirty="0"/>
              <a:t>Bu script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akışını</a:t>
            </a:r>
            <a:r>
              <a:rPr lang="en-US" dirty="0"/>
              <a:t> </a:t>
            </a:r>
            <a:r>
              <a:rPr lang="en-US" dirty="0" err="1"/>
              <a:t>yönetir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Simülasyon</a:t>
            </a:r>
            <a:r>
              <a:rPr lang="en-US" dirty="0"/>
              <a:t> </a:t>
            </a:r>
            <a:r>
              <a:rPr lang="en-US" dirty="0" err="1"/>
              <a:t>matrisini</a:t>
            </a:r>
            <a:r>
              <a:rPr lang="en-US" dirty="0"/>
              <a:t> </a:t>
            </a:r>
            <a:r>
              <a:rPr lang="en-US" dirty="0" err="1"/>
              <a:t>yükler</a:t>
            </a:r>
            <a:r>
              <a:rPr lang="en-US" dirty="0"/>
              <a:t> (1350 </a:t>
            </a:r>
            <a:r>
              <a:rPr lang="en-US" dirty="0" err="1"/>
              <a:t>senaryo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Her </a:t>
            </a:r>
            <a:r>
              <a:rPr lang="en-US" dirty="0" err="1"/>
              <a:t>senaryo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‘</a:t>
            </a:r>
            <a:r>
              <a:rPr lang="en-US" dirty="0" err="1"/>
              <a:t>run_single_simulation</a:t>
            </a:r>
            <a:r>
              <a:rPr lang="en-US" dirty="0"/>
              <a:t>’ </a:t>
            </a:r>
            <a:r>
              <a:rPr lang="en-US" dirty="0" err="1"/>
              <a:t>fonksiyonunu</a:t>
            </a:r>
            <a:r>
              <a:rPr lang="en-US" dirty="0"/>
              <a:t> </a:t>
            </a:r>
            <a:r>
              <a:rPr lang="en-US" dirty="0" err="1"/>
              <a:t>çağırır</a:t>
            </a:r>
            <a:endParaRPr lang="en-US" dirty="0"/>
          </a:p>
          <a:p>
            <a:pPr lvl="1"/>
            <a:r>
              <a:rPr lang="en-US" dirty="0" err="1"/>
              <a:t>Denge</a:t>
            </a:r>
            <a:r>
              <a:rPr lang="en-US" dirty="0"/>
              <a:t>, WGS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ayırma</a:t>
            </a:r>
            <a:r>
              <a:rPr lang="en-US" dirty="0"/>
              <a:t> </a:t>
            </a:r>
            <a:r>
              <a:rPr lang="en-US" dirty="0" err="1"/>
              <a:t>süreçlerini</a:t>
            </a:r>
            <a:r>
              <a:rPr lang="en-US" dirty="0"/>
              <a:t> </a:t>
            </a:r>
            <a:r>
              <a:rPr lang="en-US" dirty="0" err="1"/>
              <a:t>sırayla</a:t>
            </a:r>
            <a:r>
              <a:rPr lang="en-US" dirty="0"/>
              <a:t> </a:t>
            </a:r>
            <a:r>
              <a:rPr lang="en-US" dirty="0" err="1"/>
              <a:t>yürütür</a:t>
            </a:r>
            <a:endParaRPr lang="en-US" dirty="0"/>
          </a:p>
          <a:p>
            <a:pPr lvl="1"/>
            <a:r>
              <a:rPr lang="en-US" dirty="0" err="1"/>
              <a:t>Sonuçları</a:t>
            </a:r>
            <a:r>
              <a:rPr lang="en-US" dirty="0"/>
              <a:t> </a:t>
            </a:r>
            <a:r>
              <a:rPr lang="en-US" dirty="0" err="1"/>
              <a:t>doğrular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SQL </a:t>
            </a:r>
            <a:r>
              <a:rPr lang="en-US" dirty="0" err="1"/>
              <a:t>veritabanına</a:t>
            </a:r>
            <a:r>
              <a:rPr lang="en-US" dirty="0"/>
              <a:t> </a:t>
            </a:r>
            <a:r>
              <a:rPr lang="en-US" dirty="0" err="1"/>
              <a:t>yazar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E484B73-7D0A-F24C-2B66-91CF04F4A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510" y="2367183"/>
            <a:ext cx="6211167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31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0F991-8E99-ACAB-1A98-0AD7D1F64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15C76F-D336-F9DE-545A-88E88C731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Denge</a:t>
            </a:r>
            <a:r>
              <a:rPr lang="en-US" dirty="0"/>
              <a:t> </a:t>
            </a:r>
            <a:r>
              <a:rPr lang="en-US" dirty="0" err="1"/>
              <a:t>hesaplayıcı</a:t>
            </a:r>
            <a:r>
              <a:rPr lang="en-US" dirty="0"/>
              <a:t> (cantera_equilibrium.py)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AC21E6E-E429-BFE6-9F57-19DD10F14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/>
              <a:t>Gibbs </a:t>
            </a:r>
            <a:r>
              <a:rPr lang="en-US" dirty="0" err="1"/>
              <a:t>serbest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minimizasyonu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kimyasal</a:t>
            </a:r>
            <a:r>
              <a:rPr lang="en-US" dirty="0"/>
              <a:t> </a:t>
            </a:r>
            <a:r>
              <a:rPr lang="en-US" dirty="0" err="1"/>
              <a:t>dengeyi</a:t>
            </a:r>
            <a:r>
              <a:rPr lang="en-US" dirty="0"/>
              <a:t> </a:t>
            </a:r>
            <a:r>
              <a:rPr lang="en-US" dirty="0" err="1"/>
              <a:t>hesaplar</a:t>
            </a:r>
            <a:endParaRPr lang="en-US" dirty="0"/>
          </a:p>
          <a:p>
            <a:pPr lvl="1"/>
            <a:r>
              <a:rPr lang="en-US" dirty="0"/>
              <a:t>GRI-Mech 3.0 </a:t>
            </a:r>
            <a:r>
              <a:rPr lang="en-US" dirty="0" err="1"/>
              <a:t>mekanizmasını</a:t>
            </a:r>
            <a:r>
              <a:rPr lang="en-US" dirty="0"/>
              <a:t> </a:t>
            </a:r>
            <a:r>
              <a:rPr lang="en-US" dirty="0" err="1"/>
              <a:t>kullanır</a:t>
            </a:r>
            <a:endParaRPr lang="en-US" dirty="0"/>
          </a:p>
          <a:p>
            <a:pPr lvl="1"/>
            <a:r>
              <a:rPr lang="en-US" dirty="0"/>
              <a:t>Newton-Raphson </a:t>
            </a:r>
            <a:r>
              <a:rPr lang="en-US" dirty="0" err="1"/>
              <a:t>yöntemi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Gibbs </a:t>
            </a:r>
            <a:r>
              <a:rPr lang="en-US" dirty="0" err="1"/>
              <a:t>enerjisini</a:t>
            </a:r>
            <a:r>
              <a:rPr lang="en-US" dirty="0"/>
              <a:t> minimize </a:t>
            </a:r>
            <a:r>
              <a:rPr lang="en-US" dirty="0" err="1"/>
              <a:t>eder</a:t>
            </a:r>
            <a:endParaRPr lang="en-US" dirty="0"/>
          </a:p>
          <a:p>
            <a:pPr lvl="1"/>
            <a:r>
              <a:rPr lang="en-US" dirty="0" err="1"/>
              <a:t>Entalpi</a:t>
            </a:r>
            <a:r>
              <a:rPr lang="en-US" dirty="0"/>
              <a:t>, </a:t>
            </a:r>
            <a:r>
              <a:rPr lang="en-US" dirty="0" err="1"/>
              <a:t>entropi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yoğunluk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döndürür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381F7AC-46C8-3EB7-89BD-1B457577C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182" y="2444042"/>
            <a:ext cx="5344271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22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DA3DB-551E-0F0B-4D11-BB6C35F9B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827195-FC86-3E0F-5C49-6C616294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 </a:t>
            </a:r>
            <a:r>
              <a:rPr lang="en-US" dirty="0" err="1"/>
              <a:t>yükleme</a:t>
            </a:r>
            <a:r>
              <a:rPr lang="en-US" dirty="0"/>
              <a:t> (data_loader.py)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48919D-A8D0-B387-7508-FF1510F4C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 err="1"/>
              <a:t>Veritabanından</a:t>
            </a:r>
            <a:r>
              <a:rPr lang="en-US" dirty="0"/>
              <a:t> </a:t>
            </a:r>
            <a:r>
              <a:rPr lang="en-US" dirty="0" err="1"/>
              <a:t>simülasyon</a:t>
            </a:r>
            <a:r>
              <a:rPr lang="en-US" dirty="0"/>
              <a:t> </a:t>
            </a:r>
            <a:r>
              <a:rPr lang="en-US" dirty="0" err="1"/>
              <a:t>sonuçlarını</a:t>
            </a:r>
            <a:r>
              <a:rPr lang="en-US" dirty="0"/>
              <a:t> </a:t>
            </a:r>
            <a:r>
              <a:rPr lang="en-US" dirty="0" err="1"/>
              <a:t>çeker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temizler</a:t>
            </a:r>
            <a:endParaRPr lang="en-US" dirty="0"/>
          </a:p>
          <a:p>
            <a:pPr lvl="1"/>
            <a:r>
              <a:rPr lang="en-US" dirty="0" err="1"/>
              <a:t>Girişler</a:t>
            </a:r>
            <a:r>
              <a:rPr lang="en-US" dirty="0"/>
              <a:t>: Proses </a:t>
            </a:r>
            <a:r>
              <a:rPr lang="en-US" dirty="0" err="1"/>
              <a:t>koşulları</a:t>
            </a:r>
            <a:r>
              <a:rPr lang="en-US" dirty="0"/>
              <a:t> + </a:t>
            </a: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endParaRPr lang="en-US" dirty="0"/>
          </a:p>
          <a:p>
            <a:pPr lvl="1"/>
            <a:r>
              <a:rPr lang="en-US" dirty="0" err="1"/>
              <a:t>Hedefler</a:t>
            </a:r>
            <a:r>
              <a:rPr lang="en-US" dirty="0"/>
              <a:t>: 6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biyo-yağ</a:t>
            </a:r>
            <a:r>
              <a:rPr lang="en-US" dirty="0"/>
              <a:t> </a:t>
            </a:r>
            <a:r>
              <a:rPr lang="en-US" dirty="0" err="1"/>
              <a:t>bileşeni</a:t>
            </a:r>
            <a:r>
              <a:rPr lang="en-US" dirty="0"/>
              <a:t> </a:t>
            </a:r>
            <a:r>
              <a:rPr lang="en-US" dirty="0" err="1"/>
              <a:t>yüzdesi</a:t>
            </a:r>
            <a:endParaRPr lang="en-US" dirty="0"/>
          </a:p>
          <a:p>
            <a:pPr lvl="1"/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verileri</a:t>
            </a:r>
            <a:r>
              <a:rPr lang="en-US" dirty="0"/>
              <a:t> </a:t>
            </a:r>
            <a:r>
              <a:rPr lang="en-US" dirty="0" err="1"/>
              <a:t>temizler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kompozisyon</a:t>
            </a:r>
            <a:r>
              <a:rPr lang="en-US" dirty="0"/>
              <a:t> </a:t>
            </a:r>
            <a:r>
              <a:rPr lang="en-US" dirty="0" err="1"/>
              <a:t>toplamlarını</a:t>
            </a:r>
            <a:r>
              <a:rPr lang="en-US" dirty="0"/>
              <a:t> </a:t>
            </a:r>
            <a:r>
              <a:rPr lang="en-US" dirty="0" err="1"/>
              <a:t>doğrular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261BA2B-1656-9A36-0811-AAB3EC5E1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194" y="2710131"/>
            <a:ext cx="5782482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98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6AB0-E370-DBDD-1E4C-FD667CFC9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F07077-623E-B672-5298-2D01E591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 </a:t>
            </a:r>
            <a:r>
              <a:rPr lang="en-US" dirty="0" err="1"/>
              <a:t>ön</a:t>
            </a:r>
            <a:r>
              <a:rPr lang="en-US" dirty="0"/>
              <a:t> </a:t>
            </a:r>
            <a:r>
              <a:rPr lang="en-US" dirty="0" err="1"/>
              <a:t>işleme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bölme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3A08D0C-C258-A988-9F44-3B96D5A1F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/>
              <a:t>Veri </a:t>
            </a:r>
            <a:r>
              <a:rPr lang="en-US" dirty="0" err="1"/>
              <a:t>bölme</a:t>
            </a:r>
            <a:r>
              <a:rPr lang="en-US" dirty="0"/>
              <a:t> </a:t>
            </a:r>
            <a:r>
              <a:rPr lang="en-US" dirty="0" err="1"/>
              <a:t>stratejisi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Toplam</a:t>
            </a:r>
            <a:r>
              <a:rPr lang="en-US" dirty="0"/>
              <a:t> 1350 </a:t>
            </a:r>
            <a:r>
              <a:rPr lang="en-US" dirty="0" err="1"/>
              <a:t>örnek</a:t>
            </a:r>
            <a:r>
              <a:rPr lang="en-US" dirty="0"/>
              <a:t>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bölünmüştür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Eğitim</a:t>
            </a:r>
            <a:r>
              <a:rPr lang="en-US" dirty="0"/>
              <a:t> (%70): 944 </a:t>
            </a:r>
            <a:r>
              <a:rPr lang="en-US" dirty="0" err="1"/>
              <a:t>örnek</a:t>
            </a:r>
            <a:endParaRPr lang="en-US" dirty="0"/>
          </a:p>
          <a:p>
            <a:pPr lvl="2"/>
            <a:r>
              <a:rPr lang="en-US" dirty="0" err="1"/>
              <a:t>Doğrulama</a:t>
            </a:r>
            <a:r>
              <a:rPr lang="en-US" dirty="0"/>
              <a:t> (%15): 203 </a:t>
            </a:r>
            <a:r>
              <a:rPr lang="en-US" dirty="0" err="1"/>
              <a:t>örnek</a:t>
            </a:r>
            <a:endParaRPr lang="en-US" dirty="0"/>
          </a:p>
          <a:p>
            <a:pPr lvl="2"/>
            <a:r>
              <a:rPr lang="en-US" dirty="0"/>
              <a:t>Test (%15): 203 </a:t>
            </a:r>
            <a:r>
              <a:rPr lang="en-US" dirty="0" err="1"/>
              <a:t>örnek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D5B3666-5CCC-BD51-DFA3-ACB46360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425" y="2486262"/>
            <a:ext cx="5249008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2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FB33C-C0F4-ACBB-D86B-DE146E303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069A83-DC5A-95C3-153B-4226BAA8A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</a:t>
            </a:r>
            <a:r>
              <a:rPr lang="en-US" dirty="0" err="1"/>
              <a:t>modeli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E0CA207-1B57-6C40-4DC3-591490E76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/>
              <a:t>Temel (baseline) model </a:t>
            </a:r>
            <a:r>
              <a:rPr lang="en-US" dirty="0" err="1"/>
              <a:t>olarak</a:t>
            </a:r>
            <a:r>
              <a:rPr lang="en-US" dirty="0"/>
              <a:t> Random Forest Regressor </a:t>
            </a:r>
            <a:r>
              <a:rPr lang="en-US" dirty="0" err="1"/>
              <a:t>kullanışmıştır</a:t>
            </a:r>
            <a:endParaRPr lang="en-US" dirty="0"/>
          </a:p>
          <a:p>
            <a:pPr lvl="1"/>
            <a:r>
              <a:rPr lang="en-US" dirty="0" err="1"/>
              <a:t>Hiperparametreler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100 </a:t>
            </a:r>
            <a:r>
              <a:rPr lang="en-US" dirty="0" err="1"/>
              <a:t>ağaç</a:t>
            </a:r>
            <a:r>
              <a:rPr lang="en-US" dirty="0"/>
              <a:t> (</a:t>
            </a:r>
            <a:r>
              <a:rPr lang="en-US" dirty="0" err="1"/>
              <a:t>n_estimators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derinlik</a:t>
            </a:r>
            <a:r>
              <a:rPr lang="en-US" dirty="0"/>
              <a:t>: 20</a:t>
            </a:r>
          </a:p>
          <a:p>
            <a:pPr lvl="2"/>
            <a:r>
              <a:rPr lang="en-US" dirty="0"/>
              <a:t>Min sample split: 5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4831194-CA0C-8EAE-E658-7E9D2686E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976" y="2695841"/>
            <a:ext cx="4867954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77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D2AB7-57A1-B574-E470-6148FC8FA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D6888D-466D-46B7-D72D-041DB3118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</a:t>
            </a:r>
            <a:r>
              <a:rPr lang="en-US" dirty="0" err="1"/>
              <a:t>modeli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E37B31C-F1E1-DD56-61D6-4FA532623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/>
              <a:t>Gradient Boosting </a:t>
            </a:r>
            <a:r>
              <a:rPr lang="en-US" dirty="0" err="1"/>
              <a:t>algoritması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baseline </a:t>
            </a:r>
            <a:r>
              <a:rPr lang="en-US" dirty="0" err="1"/>
              <a:t>hedeflenmiştir</a:t>
            </a:r>
            <a:endParaRPr lang="en-US" dirty="0"/>
          </a:p>
          <a:p>
            <a:pPr lvl="1"/>
            <a:r>
              <a:rPr lang="en-US" dirty="0" err="1"/>
              <a:t>Özellikler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Early stopping </a:t>
            </a:r>
            <a:r>
              <a:rPr lang="en-US" dirty="0" err="1"/>
              <a:t>ile</a:t>
            </a:r>
            <a:r>
              <a:rPr lang="en-US" dirty="0"/>
              <a:t> overfitting </a:t>
            </a:r>
            <a:r>
              <a:rPr lang="en-US" dirty="0" err="1"/>
              <a:t>önleme</a:t>
            </a:r>
            <a:endParaRPr lang="en-US" dirty="0"/>
          </a:p>
          <a:p>
            <a:pPr lvl="2"/>
            <a:r>
              <a:rPr lang="en-US" dirty="0" err="1"/>
              <a:t>Düşük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oranı</a:t>
            </a:r>
            <a:r>
              <a:rPr lang="en-US" dirty="0"/>
              <a:t> (0.05)</a:t>
            </a:r>
          </a:p>
          <a:p>
            <a:pPr lvl="2"/>
            <a:r>
              <a:rPr lang="en-US" dirty="0"/>
              <a:t>%80 alt </a:t>
            </a:r>
            <a:r>
              <a:rPr lang="en-US" dirty="0" err="1"/>
              <a:t>örnekleme</a:t>
            </a:r>
            <a:r>
              <a:rPr lang="en-US" dirty="0"/>
              <a:t> (subsample)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F1BB07C-1453-4D9A-9FE9-AB8AC8895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315" y="2476736"/>
            <a:ext cx="5220429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740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F7226-0FDD-11E9-50D2-CFF8D2C96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6F7B5-2539-F346-C6DE-063DD1F60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Derin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mimarisi</a:t>
            </a:r>
            <a:r>
              <a:rPr lang="en-US" dirty="0"/>
              <a:t> (MLP)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9A83441-64A1-C4EE-821B-C1F865B2F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4" y="2043954"/>
            <a:ext cx="8626734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28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64116-D613-6B05-7C35-89D8A33DB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A53A8F-7BB6-0487-82E4-4F0EB7FAF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Derin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mimarisi</a:t>
            </a:r>
            <a:r>
              <a:rPr lang="en-US" dirty="0"/>
              <a:t> (MLP)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EF729B5-A25D-4728-57C3-598856FCF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katmanlı</a:t>
            </a:r>
            <a:r>
              <a:rPr lang="en-US" dirty="0"/>
              <a:t> </a:t>
            </a:r>
            <a:r>
              <a:rPr lang="en-US" dirty="0" err="1"/>
              <a:t>algılayıcı</a:t>
            </a:r>
            <a:r>
              <a:rPr lang="en-US" dirty="0"/>
              <a:t> (MLP) </a:t>
            </a:r>
            <a:r>
              <a:rPr lang="en-US" dirty="0" err="1"/>
              <a:t>mimarisi</a:t>
            </a:r>
            <a:endParaRPr lang="en-US" dirty="0"/>
          </a:p>
          <a:p>
            <a:pPr lvl="1"/>
            <a:r>
              <a:rPr lang="en-US" dirty="0" err="1"/>
              <a:t>Giriş</a:t>
            </a:r>
            <a:r>
              <a:rPr lang="en-US" dirty="0"/>
              <a:t> (8): proses + </a:t>
            </a:r>
            <a:r>
              <a:rPr lang="en-US" dirty="0" err="1"/>
              <a:t>singaz</a:t>
            </a:r>
            <a:endParaRPr lang="en-US" dirty="0"/>
          </a:p>
          <a:p>
            <a:pPr lvl="1"/>
            <a:r>
              <a:rPr lang="en-US" dirty="0" err="1"/>
              <a:t>Gizli</a:t>
            </a:r>
            <a:r>
              <a:rPr lang="en-US" dirty="0"/>
              <a:t> 1 (128): </a:t>
            </a:r>
            <a:r>
              <a:rPr lang="en-US" dirty="0" err="1"/>
              <a:t>ReLU</a:t>
            </a:r>
            <a:r>
              <a:rPr lang="en-US" dirty="0"/>
              <a:t> + BN +Dropout(0.3)</a:t>
            </a:r>
          </a:p>
          <a:p>
            <a:pPr lvl="1"/>
            <a:r>
              <a:rPr lang="en-US" dirty="0" err="1"/>
              <a:t>Gizli</a:t>
            </a:r>
            <a:r>
              <a:rPr lang="en-US" dirty="0"/>
              <a:t> 2 (64): </a:t>
            </a:r>
            <a:r>
              <a:rPr lang="en-US" dirty="0" err="1"/>
              <a:t>ReLU</a:t>
            </a:r>
            <a:r>
              <a:rPr lang="en-US" dirty="0"/>
              <a:t> + BN +Dropout(0.2)</a:t>
            </a:r>
          </a:p>
          <a:p>
            <a:pPr lvl="1"/>
            <a:r>
              <a:rPr lang="en-US" dirty="0" err="1"/>
              <a:t>Gizli</a:t>
            </a:r>
            <a:r>
              <a:rPr lang="en-US" dirty="0"/>
              <a:t> 3 (32): </a:t>
            </a:r>
            <a:r>
              <a:rPr lang="en-US" dirty="0" err="1"/>
              <a:t>ReLU</a:t>
            </a:r>
            <a:r>
              <a:rPr lang="en-US" dirty="0"/>
              <a:t> + Dropout(0.1)</a:t>
            </a:r>
          </a:p>
          <a:p>
            <a:pPr lvl="1"/>
            <a:r>
              <a:rPr lang="en-US" dirty="0" err="1"/>
              <a:t>Çıkış</a:t>
            </a:r>
            <a:r>
              <a:rPr lang="en-US" dirty="0"/>
              <a:t> (6): Biyo-</a:t>
            </a:r>
            <a:r>
              <a:rPr lang="en-US" dirty="0" err="1"/>
              <a:t>yağ</a:t>
            </a:r>
            <a:r>
              <a:rPr lang="en-US" dirty="0"/>
              <a:t> </a:t>
            </a:r>
            <a:r>
              <a:rPr lang="en-US" dirty="0" err="1"/>
              <a:t>bileşenleri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5325CE4-A11B-D17A-5FA3-26AB50C8D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298" y="2448157"/>
            <a:ext cx="5477639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58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7BD9F-5F50-F5D5-7418-D4503313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D112A90-FDC3-BF4B-BE9F-1A2F1D1AC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MLP </a:t>
            </a:r>
            <a:r>
              <a:rPr lang="en-US" dirty="0" err="1"/>
              <a:t>eğitimi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değerlendirme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F1F73C-C534-918B-925E-CA33E28A3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sürecinde</a:t>
            </a:r>
            <a:r>
              <a:rPr lang="en-US" dirty="0"/>
              <a:t> </a:t>
            </a:r>
            <a:r>
              <a:rPr lang="en-US" dirty="0" err="1"/>
              <a:t>stabilite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Callbacks </a:t>
            </a:r>
            <a:r>
              <a:rPr lang="en-US" dirty="0" err="1"/>
              <a:t>kullanılmıştır</a:t>
            </a:r>
            <a:endParaRPr lang="en-US" dirty="0"/>
          </a:p>
          <a:p>
            <a:pPr lvl="1"/>
            <a:r>
              <a:rPr lang="en-US" dirty="0"/>
              <a:t>Early stopping: 30 epoch </a:t>
            </a:r>
            <a:r>
              <a:rPr lang="en-US" dirty="0" err="1"/>
              <a:t>sabır</a:t>
            </a:r>
            <a:endParaRPr lang="en-US" dirty="0"/>
          </a:p>
          <a:p>
            <a:pPr lvl="1"/>
            <a:r>
              <a:rPr lang="en-US" dirty="0" err="1"/>
              <a:t>ReduceLROnPlateau</a:t>
            </a:r>
            <a:r>
              <a:rPr lang="en-US" dirty="0"/>
              <a:t>: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oranını</a:t>
            </a:r>
            <a:r>
              <a:rPr lang="en-US" dirty="0"/>
              <a:t> </a:t>
            </a:r>
            <a:r>
              <a:rPr lang="en-US" dirty="0" err="1"/>
              <a:t>dinamik</a:t>
            </a:r>
            <a:r>
              <a:rPr lang="en-US" dirty="0"/>
              <a:t> </a:t>
            </a:r>
            <a:r>
              <a:rPr lang="en-US" dirty="0" err="1"/>
              <a:t>azaltma</a:t>
            </a:r>
            <a:endParaRPr lang="en-US" dirty="0"/>
          </a:p>
          <a:p>
            <a:pPr lvl="1"/>
            <a:r>
              <a:rPr lang="en-US" dirty="0" err="1"/>
              <a:t>Normalizasyon</a:t>
            </a:r>
            <a:r>
              <a:rPr lang="en-US" dirty="0"/>
              <a:t>: </a:t>
            </a:r>
            <a:r>
              <a:rPr lang="en-US" dirty="0" err="1"/>
              <a:t>StandardScaler</a:t>
            </a:r>
            <a:r>
              <a:rPr lang="en-US" dirty="0"/>
              <a:t> (z-score) </a:t>
            </a:r>
            <a:r>
              <a:rPr lang="en-US" dirty="0" err="1"/>
              <a:t>kullanılmıştır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A3F0955A-E298-0972-25D7-840BCEA29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6" y="2543420"/>
            <a:ext cx="6020640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72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D7153-D721-3E25-8FBA-F322534AE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2CD9B7-CA0E-259D-1F0F-902A1E3F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Kullanım</a:t>
            </a:r>
            <a:r>
              <a:rPr lang="en-US" dirty="0"/>
              <a:t> </a:t>
            </a:r>
            <a:r>
              <a:rPr lang="en-US" dirty="0" err="1"/>
              <a:t>örneği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8B60DF3-6801-E8F6-7824-D74C85F05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665631" cy="3880773"/>
          </a:xfrm>
        </p:spPr>
        <p:txBody>
          <a:bodyPr/>
          <a:lstStyle/>
          <a:p>
            <a:r>
              <a:rPr lang="en-US" dirty="0" err="1"/>
              <a:t>Eğitilmiş</a:t>
            </a:r>
            <a:r>
              <a:rPr lang="en-US" dirty="0"/>
              <a:t> </a:t>
            </a:r>
            <a:r>
              <a:rPr lang="en-US" dirty="0" err="1"/>
              <a:t>modelin</a:t>
            </a:r>
            <a:r>
              <a:rPr lang="en-US" dirty="0"/>
              <a:t> (‘mlp_standard.h5’) yeni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noktası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yapmak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kullanımı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9EE40A5-70EC-946C-7CA9-464ED3B58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811" y="2381472"/>
            <a:ext cx="4944165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445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9FA32-EF3C-3EDF-7CBF-275FB980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CDFA73-F6EA-1528-D18F-4119DCAC0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Kullanılan</a:t>
            </a:r>
            <a:r>
              <a:rPr lang="en-US" dirty="0"/>
              <a:t> </a:t>
            </a:r>
            <a:r>
              <a:rPr lang="en-US" dirty="0" err="1"/>
              <a:t>kütüphaneler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CC6944-0237-BCA0-408C-F8EB47C5F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00" y="2357812"/>
            <a:ext cx="2783042" cy="1927317"/>
          </a:xfrm>
        </p:spPr>
        <p:txBody>
          <a:bodyPr/>
          <a:lstStyle/>
          <a:p>
            <a:r>
              <a:rPr lang="en-US" dirty="0"/>
              <a:t>Temel </a:t>
            </a:r>
            <a:r>
              <a:rPr lang="en-US" dirty="0" err="1"/>
              <a:t>kütüphaneler</a:t>
            </a:r>
            <a:endParaRPr lang="en-US" dirty="0"/>
          </a:p>
          <a:p>
            <a:pPr lvl="1"/>
            <a:r>
              <a:rPr lang="en-US" dirty="0"/>
              <a:t>pandas 1.5.0</a:t>
            </a:r>
          </a:p>
          <a:p>
            <a:pPr lvl="1"/>
            <a:r>
              <a:rPr lang="en-US" dirty="0" err="1"/>
              <a:t>numpy</a:t>
            </a:r>
            <a:r>
              <a:rPr lang="en-US" dirty="0"/>
              <a:t> 1.23.0</a:t>
            </a:r>
          </a:p>
          <a:p>
            <a:pPr lvl="1"/>
            <a:r>
              <a:rPr lang="en-US" dirty="0"/>
              <a:t>scikit-learn 1.2.0 </a:t>
            </a:r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C12CDC1A-1253-8294-0C38-14FF0B4B055D}"/>
              </a:ext>
            </a:extLst>
          </p:cNvPr>
          <p:cNvSpPr txBox="1">
            <a:spLocks/>
          </p:cNvSpPr>
          <p:nvPr/>
        </p:nvSpPr>
        <p:spPr>
          <a:xfrm>
            <a:off x="3584147" y="2357812"/>
            <a:ext cx="2783042" cy="1927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ML &amp; DL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2.12.0 </a:t>
            </a:r>
          </a:p>
          <a:p>
            <a:pPr lvl="1"/>
            <a:r>
              <a:rPr lang="en-US" dirty="0" err="1"/>
              <a:t>keras</a:t>
            </a:r>
            <a:r>
              <a:rPr lang="en-US" dirty="0"/>
              <a:t> 2.12.0</a:t>
            </a:r>
          </a:p>
          <a:p>
            <a:pPr lvl="1"/>
            <a:r>
              <a:rPr lang="en-US" dirty="0" err="1"/>
              <a:t>xgboost</a:t>
            </a:r>
            <a:r>
              <a:rPr lang="en-US" dirty="0"/>
              <a:t> 1.7.0</a:t>
            </a:r>
          </a:p>
        </p:txBody>
      </p:sp>
      <p:sp>
        <p:nvSpPr>
          <p:cNvPr id="7" name="İçerik Yer Tutucusu 2">
            <a:extLst>
              <a:ext uri="{FF2B5EF4-FFF2-40B4-BE49-F238E27FC236}">
                <a16:creationId xmlns:a16="http://schemas.microsoft.com/office/drawing/2014/main" id="{12AD9E4F-7361-60F5-5B87-B8FCEDC9409B}"/>
              </a:ext>
            </a:extLst>
          </p:cNvPr>
          <p:cNvSpPr txBox="1">
            <a:spLocks/>
          </p:cNvSpPr>
          <p:nvPr/>
        </p:nvSpPr>
        <p:spPr>
          <a:xfrm>
            <a:off x="7006417" y="2357811"/>
            <a:ext cx="3625723" cy="1927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Özel </a:t>
            </a:r>
            <a:r>
              <a:rPr lang="en-US" dirty="0" err="1"/>
              <a:t>araçlar</a:t>
            </a:r>
            <a:endParaRPr lang="en-US" dirty="0"/>
          </a:p>
          <a:p>
            <a:pPr lvl="1"/>
            <a:r>
              <a:rPr lang="en-US" dirty="0" err="1"/>
              <a:t>cantera</a:t>
            </a:r>
            <a:r>
              <a:rPr lang="en-US" dirty="0"/>
              <a:t> 2.6.0 (</a:t>
            </a:r>
            <a:r>
              <a:rPr lang="en-US" dirty="0" err="1"/>
              <a:t>simülasyon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pyodbc</a:t>
            </a:r>
            <a:r>
              <a:rPr lang="en-US" dirty="0"/>
              <a:t> (</a:t>
            </a:r>
            <a:r>
              <a:rPr lang="en-US" dirty="0" err="1"/>
              <a:t>veritabanı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matplotlib/seaborn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6E4E9FEF-FA3A-291A-86D0-F9479EB71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69" y="4418423"/>
            <a:ext cx="5534797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47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7A5DC-84E6-6E55-3306-11600C3F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4920-2B00-D509-240E-08C50ACC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Klasik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9F2F4-1FE1-DA8B-A4CF-D1E5EADAF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Linear </a:t>
            </a:r>
            <a:r>
              <a:rPr lang="en-US" dirty="0" err="1"/>
              <a:t>regresyon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ormanları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XGBoost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80FC92F-E886-505D-7B5A-C9F9F88E9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16" y="3605295"/>
            <a:ext cx="8345065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52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0B097-FAC0-B792-7659-AFBB6E486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C4B3-DF95-B81B-A407-9BF0B55C5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Derin </a:t>
            </a:r>
            <a:r>
              <a:rPr lang="en-US" dirty="0" err="1"/>
              <a:t>öğrenme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FD03F24-7655-4C3D-39DC-82AE5F733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058" y="2016231"/>
            <a:ext cx="8459381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572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78A2B-E05E-692C-76CC-A3AD2A922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5DDA-8F6B-2145-F1F1-6DDCC9849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Kollektik</a:t>
            </a:r>
            <a:r>
              <a:rPr lang="en-US" dirty="0"/>
              <a:t> </a:t>
            </a:r>
            <a:r>
              <a:rPr lang="en-US" dirty="0" err="1"/>
              <a:t>öğrenme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BB4F6-F800-FF15-3C5A-4F8DC2111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r>
              <a:rPr lang="en-US" dirty="0"/>
              <a:t>Basit </a:t>
            </a:r>
            <a:r>
              <a:rPr lang="en-US" dirty="0" err="1"/>
              <a:t>ortalama</a:t>
            </a:r>
            <a:r>
              <a:rPr lang="en-US" dirty="0"/>
              <a:t> ensemble, </a:t>
            </a:r>
          </a:p>
          <a:p>
            <a:pPr lvl="1"/>
            <a:r>
              <a:rPr lang="en-US" dirty="0"/>
              <a:t>Random Forest + </a:t>
            </a:r>
            <a:r>
              <a:rPr lang="en-US" dirty="0" err="1"/>
              <a:t>XGBoost</a:t>
            </a:r>
            <a:r>
              <a:rPr lang="en-US" dirty="0"/>
              <a:t> + </a:t>
            </a:r>
            <a:r>
              <a:rPr lang="en-US" dirty="0" err="1"/>
              <a:t>standart</a:t>
            </a:r>
            <a:r>
              <a:rPr lang="en-US" dirty="0"/>
              <a:t> </a:t>
            </a:r>
            <a:r>
              <a:rPr lang="en-US" dirty="0" err="1"/>
              <a:t>MLP'nin</a:t>
            </a:r>
            <a:r>
              <a:rPr lang="en-US" dirty="0"/>
              <a:t> </a:t>
            </a:r>
            <a:r>
              <a:rPr lang="en-US" dirty="0" err="1"/>
              <a:t>tahminlerinin</a:t>
            </a:r>
            <a:r>
              <a:rPr lang="en-US" dirty="0"/>
              <a:t> </a:t>
            </a:r>
            <a:r>
              <a:rPr lang="en-US" dirty="0" err="1"/>
              <a:t>eşit</a:t>
            </a:r>
            <a:r>
              <a:rPr lang="en-US" dirty="0"/>
              <a:t> </a:t>
            </a:r>
            <a:r>
              <a:rPr lang="en-US" dirty="0" err="1"/>
              <a:t>ağırlıkla</a:t>
            </a:r>
            <a:r>
              <a:rPr lang="en-US" dirty="0"/>
              <a:t> </a:t>
            </a:r>
            <a:r>
              <a:rPr lang="en-US" dirty="0" err="1"/>
              <a:t>ortalaması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Genel </a:t>
            </a:r>
            <a:r>
              <a:rPr lang="en-US" dirty="0" err="1"/>
              <a:t>ortalama</a:t>
            </a:r>
            <a:r>
              <a:rPr lang="en-US" dirty="0"/>
              <a:t> R² = 0.746, </a:t>
            </a:r>
            <a:r>
              <a:rPr lang="en-US" dirty="0" err="1"/>
              <a:t>ortalama</a:t>
            </a:r>
            <a:r>
              <a:rPr lang="en-US" dirty="0"/>
              <a:t> RMSE = %7.69, </a:t>
            </a:r>
            <a:r>
              <a:rPr lang="en-US" dirty="0" err="1"/>
              <a:t>ortalama</a:t>
            </a:r>
            <a:r>
              <a:rPr lang="en-US" dirty="0"/>
              <a:t> MAE = %5.16. </a:t>
            </a:r>
          </a:p>
          <a:p>
            <a:r>
              <a:rPr lang="en-US" dirty="0" err="1"/>
              <a:t>Ağırlıklı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ensemble, </a:t>
            </a:r>
          </a:p>
          <a:p>
            <a:pPr lvl="1"/>
            <a:r>
              <a:rPr lang="en-US" dirty="0" err="1"/>
              <a:t>standart</a:t>
            </a:r>
            <a:r>
              <a:rPr lang="en-US" dirty="0"/>
              <a:t> </a:t>
            </a:r>
            <a:r>
              <a:rPr lang="en-US" dirty="0" err="1"/>
              <a:t>MLP'ye</a:t>
            </a:r>
            <a:r>
              <a:rPr lang="en-US" dirty="0"/>
              <a:t> %50 </a:t>
            </a:r>
            <a:r>
              <a:rPr lang="en-US" dirty="0" err="1"/>
              <a:t>ağırlık</a:t>
            </a:r>
            <a:r>
              <a:rPr lang="en-US" dirty="0"/>
              <a:t>, </a:t>
            </a:r>
            <a:r>
              <a:rPr lang="en-US" dirty="0" err="1"/>
              <a:t>XGBoost'a</a:t>
            </a:r>
            <a:r>
              <a:rPr lang="en-US" dirty="0"/>
              <a:t> %25, Random </a:t>
            </a:r>
            <a:r>
              <a:rPr lang="en-US" dirty="0" err="1"/>
              <a:t>Forest'a</a:t>
            </a:r>
            <a:r>
              <a:rPr lang="en-US" dirty="0"/>
              <a:t> %25: </a:t>
            </a:r>
          </a:p>
          <a:p>
            <a:pPr lvl="1"/>
            <a:r>
              <a:rPr lang="en-US" dirty="0"/>
              <a:t>Genel </a:t>
            </a:r>
            <a:r>
              <a:rPr lang="en-US" dirty="0" err="1"/>
              <a:t>ortalama</a:t>
            </a:r>
            <a:r>
              <a:rPr lang="en-US" dirty="0"/>
              <a:t> R² = 0.797, </a:t>
            </a:r>
            <a:r>
              <a:rPr lang="en-US" dirty="0" err="1"/>
              <a:t>ortalama</a:t>
            </a:r>
            <a:r>
              <a:rPr lang="en-US" dirty="0"/>
              <a:t> RMSE = %6.94, </a:t>
            </a:r>
            <a:r>
              <a:rPr lang="en-US" dirty="0" err="1"/>
              <a:t>ortalama</a:t>
            </a:r>
            <a:r>
              <a:rPr lang="en-US" dirty="0"/>
              <a:t> MAE = %4.75. Bu ensemble </a:t>
            </a:r>
            <a:r>
              <a:rPr lang="en-US" dirty="0" err="1"/>
              <a:t>yöntemlerinin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iyisi</a:t>
            </a:r>
            <a:r>
              <a:rPr lang="en-US" dirty="0"/>
              <a:t> </a:t>
            </a:r>
            <a:r>
              <a:rPr lang="en-US" dirty="0" err="1"/>
              <a:t>oldu</a:t>
            </a:r>
            <a:r>
              <a:rPr lang="en-US" dirty="0"/>
              <a:t> ama </a:t>
            </a:r>
            <a:r>
              <a:rPr lang="en-US" dirty="0" err="1"/>
              <a:t>yine</a:t>
            </a:r>
            <a:r>
              <a:rPr lang="en-US" dirty="0"/>
              <a:t> de </a:t>
            </a:r>
            <a:r>
              <a:rPr lang="en-US" dirty="0" err="1"/>
              <a:t>standart</a:t>
            </a:r>
            <a:r>
              <a:rPr lang="en-US" dirty="0"/>
              <a:t> </a:t>
            </a:r>
            <a:r>
              <a:rPr lang="en-US" dirty="0" err="1"/>
              <a:t>MLP'den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kötü</a:t>
            </a:r>
            <a:r>
              <a:rPr lang="en-US" dirty="0"/>
              <a:t>. </a:t>
            </a:r>
          </a:p>
          <a:p>
            <a:r>
              <a:rPr lang="en-US" dirty="0"/>
              <a:t>Ridge </a:t>
            </a:r>
            <a:r>
              <a:rPr lang="en-US" dirty="0" err="1"/>
              <a:t>regresyon</a:t>
            </a:r>
            <a:r>
              <a:rPr lang="en-US" dirty="0"/>
              <a:t> meta-model </a:t>
            </a:r>
            <a:r>
              <a:rPr lang="en-US" dirty="0" err="1"/>
              <a:t>kullanan</a:t>
            </a:r>
            <a:r>
              <a:rPr lang="en-US" dirty="0"/>
              <a:t> Stacking ensemble: </a:t>
            </a:r>
          </a:p>
          <a:p>
            <a:pPr lvl="1"/>
            <a:r>
              <a:rPr lang="en-US" dirty="0"/>
              <a:t>Genel </a:t>
            </a:r>
            <a:r>
              <a:rPr lang="en-US" dirty="0" err="1"/>
              <a:t>ortalama</a:t>
            </a:r>
            <a:r>
              <a:rPr lang="en-US" dirty="0"/>
              <a:t> R² = 0.562, </a:t>
            </a:r>
            <a:r>
              <a:rPr lang="en-US" dirty="0" err="1"/>
              <a:t>ortalama</a:t>
            </a:r>
            <a:r>
              <a:rPr lang="en-US" dirty="0"/>
              <a:t> RMSE = %9.95, </a:t>
            </a:r>
            <a:r>
              <a:rPr lang="en-US" dirty="0" err="1"/>
              <a:t>ortalama</a:t>
            </a:r>
            <a:r>
              <a:rPr lang="en-US" dirty="0"/>
              <a:t> MAE = %6.34. Bu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kötü</a:t>
            </a:r>
            <a:r>
              <a:rPr lang="en-US" dirty="0"/>
              <a:t> ensemble </a:t>
            </a:r>
            <a:r>
              <a:rPr lang="en-US" dirty="0" err="1"/>
              <a:t>sonucu</a:t>
            </a:r>
            <a:r>
              <a:rPr lang="en-US" dirty="0"/>
              <a:t> </a:t>
            </a:r>
            <a:r>
              <a:rPr lang="en-US" dirty="0" err="1"/>
              <a:t>oldu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0035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61B22-D047-4AE9-F9D5-EF262B93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0D609-7871-440B-E373-BD93539F2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Sonuçlar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954015A-A5E0-F93F-D308-59667C176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128" y="2374598"/>
            <a:ext cx="7895183" cy="343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99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82785-82F6-3FE3-8BC7-D3C241529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6EAB8-8FC7-0F36-0A08-FFCB58EC1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Sonuçlar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53A8CF1-FC96-553C-D83B-F7BB5179B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12" y="2136556"/>
            <a:ext cx="8871074" cy="379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367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1EDB3-BB90-D82F-42B2-990EB9639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82D-AFB7-32F8-1A12-57DE2F07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Özet</a:t>
            </a:r>
            <a:r>
              <a:rPr lang="en-US" dirty="0"/>
              <a:t> </a:t>
            </a:r>
            <a:r>
              <a:rPr lang="en-US" dirty="0" err="1"/>
              <a:t>akış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CB5A1-6267-FCD1-D0F9-86408026B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6522A31-42AF-0C72-3975-19B18CA35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14" y="2997199"/>
            <a:ext cx="10449934" cy="204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16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235FD-8E4B-0AEB-EF3E-FFAA9B2D0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E34A-1B18-44C4-7A3F-CEE14ACFF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Özet</a:t>
            </a:r>
            <a:r>
              <a:rPr lang="en-US" dirty="0"/>
              <a:t> </a:t>
            </a:r>
            <a:r>
              <a:rPr lang="en-US" dirty="0" err="1"/>
              <a:t>akış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FECF3AA-4C3D-BB21-F457-00BFBCB32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395" y="1270000"/>
            <a:ext cx="6928708" cy="540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286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980DBBD-D4D7-5D71-CE7C-F4048084B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39906"/>
          </a:xfrm>
        </p:spPr>
        <p:txBody>
          <a:bodyPr/>
          <a:lstStyle/>
          <a:p>
            <a:r>
              <a:rPr lang="en-US" dirty="0" err="1"/>
              <a:t>Çalışmanın</a:t>
            </a:r>
            <a:r>
              <a:rPr lang="en-US" dirty="0"/>
              <a:t> </a:t>
            </a:r>
            <a:r>
              <a:rPr lang="en-US" dirty="0" err="1"/>
              <a:t>kalan</a:t>
            </a:r>
            <a:r>
              <a:rPr lang="en-US" dirty="0"/>
              <a:t> </a:t>
            </a:r>
            <a:r>
              <a:rPr lang="en-US" dirty="0" err="1"/>
              <a:t>kısmında</a:t>
            </a:r>
            <a:r>
              <a:rPr lang="en-US" dirty="0"/>
              <a:t> </a:t>
            </a:r>
            <a:r>
              <a:rPr lang="en-US" dirty="0" err="1"/>
              <a:t>yapılacaklar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A8228CF-E292-A706-BD22-6CB4F22AD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1553"/>
            <a:ext cx="8596668" cy="435684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Geliştirilen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modelinin</a:t>
            </a:r>
            <a:r>
              <a:rPr lang="en-US" dirty="0"/>
              <a:t> (R² = 0.863) </a:t>
            </a:r>
            <a:r>
              <a:rPr lang="en-US" dirty="0" err="1"/>
              <a:t>endüstriyel</a:t>
            </a:r>
            <a:r>
              <a:rPr lang="en-US" dirty="0"/>
              <a:t> </a:t>
            </a:r>
            <a:r>
              <a:rPr lang="en-US" dirty="0" err="1"/>
              <a:t>uygulamaya</a:t>
            </a:r>
            <a:r>
              <a:rPr lang="en-US" dirty="0"/>
              <a:t> </a:t>
            </a:r>
            <a:r>
              <a:rPr lang="en-US" dirty="0" err="1"/>
              <a:t>dönüştürülmesi</a:t>
            </a:r>
            <a:r>
              <a:rPr lang="en-US" dirty="0"/>
              <a:t> </a:t>
            </a:r>
            <a:r>
              <a:rPr lang="en-US" dirty="0" err="1"/>
              <a:t>hedeflenmektedir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kapsamda</a:t>
            </a:r>
            <a:r>
              <a:rPr lang="en-US" dirty="0"/>
              <a:t>, </a:t>
            </a:r>
            <a:r>
              <a:rPr lang="en-US" dirty="0" err="1"/>
              <a:t>ölçülen</a:t>
            </a:r>
            <a:r>
              <a:rPr lang="en-US" dirty="0"/>
              <a:t> </a:t>
            </a: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kompozisyonundan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bileşimini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zamanlı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ters</a:t>
            </a:r>
            <a:r>
              <a:rPr lang="en-US" dirty="0"/>
              <a:t> model, model </a:t>
            </a:r>
            <a:r>
              <a:rPr lang="en-US" dirty="0" err="1"/>
              <a:t>öngörülü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(Model Predictive Control - MPC) </a:t>
            </a:r>
            <a:r>
              <a:rPr lang="en-US" dirty="0" err="1"/>
              <a:t>mimarisi</a:t>
            </a:r>
            <a:r>
              <a:rPr lang="en-US" dirty="0"/>
              <a:t> </a:t>
            </a:r>
            <a:r>
              <a:rPr lang="en-US" dirty="0" err="1"/>
              <a:t>içerisine</a:t>
            </a:r>
            <a:r>
              <a:rPr lang="en-US" dirty="0"/>
              <a:t> </a:t>
            </a:r>
            <a:r>
              <a:rPr lang="en-US" dirty="0" err="1"/>
              <a:t>entegre</a:t>
            </a:r>
            <a:r>
              <a:rPr lang="en-US" dirty="0"/>
              <a:t> </a:t>
            </a:r>
            <a:r>
              <a:rPr lang="en-US" dirty="0" err="1"/>
              <a:t>edilecektir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çalışmasında</a:t>
            </a:r>
            <a:r>
              <a:rPr lang="en-US" dirty="0"/>
              <a:t>,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değişkenleri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kaynaklardan</a:t>
            </a:r>
            <a:r>
              <a:rPr lang="en-US" dirty="0"/>
              <a:t> </a:t>
            </a:r>
            <a:r>
              <a:rPr lang="en-US" dirty="0" err="1"/>
              <a:t>temin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biyoyağların</a:t>
            </a:r>
            <a:r>
              <a:rPr lang="en-US" dirty="0"/>
              <a:t> </a:t>
            </a:r>
            <a:r>
              <a:rPr lang="en-US" dirty="0" err="1"/>
              <a:t>karışım</a:t>
            </a:r>
            <a:r>
              <a:rPr lang="en-US" dirty="0"/>
              <a:t> </a:t>
            </a:r>
            <a:r>
              <a:rPr lang="en-US" dirty="0" err="1"/>
              <a:t>oranları</a:t>
            </a:r>
            <a:r>
              <a:rPr lang="en-US" dirty="0"/>
              <a:t> (</a:t>
            </a:r>
            <a:r>
              <a:rPr lang="en-US" dirty="0" err="1"/>
              <a:t>aromatik-zengin</a:t>
            </a:r>
            <a:r>
              <a:rPr lang="en-US" dirty="0"/>
              <a:t>, </a:t>
            </a:r>
            <a:r>
              <a:rPr lang="en-US" dirty="0" err="1"/>
              <a:t>asit-zengin</a:t>
            </a:r>
            <a:r>
              <a:rPr lang="en-US" dirty="0"/>
              <a:t>, </a:t>
            </a:r>
            <a:r>
              <a:rPr lang="en-US" dirty="0" err="1"/>
              <a:t>alkol-zengin</a:t>
            </a:r>
            <a:r>
              <a:rPr lang="en-US" dirty="0"/>
              <a:t> vb. 30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kompozisyonunun</a:t>
            </a:r>
            <a:r>
              <a:rPr lang="en-US" dirty="0"/>
              <a:t> %0-100 </a:t>
            </a:r>
            <a:r>
              <a:rPr lang="en-US" dirty="0" err="1"/>
              <a:t>aralığında</a:t>
            </a:r>
            <a:r>
              <a:rPr lang="en-US" dirty="0"/>
              <a:t> </a:t>
            </a:r>
            <a:r>
              <a:rPr lang="en-US" dirty="0" err="1"/>
              <a:t>harmanlanması</a:t>
            </a:r>
            <a:r>
              <a:rPr lang="en-US" dirty="0"/>
              <a:t>)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proses </a:t>
            </a:r>
            <a:r>
              <a:rPr lang="en-US" dirty="0" err="1"/>
              <a:t>koşulları</a:t>
            </a:r>
            <a:r>
              <a:rPr lang="en-US" dirty="0"/>
              <a:t> (reformer </a:t>
            </a:r>
            <a:r>
              <a:rPr lang="en-US" dirty="0" err="1"/>
              <a:t>sıcaklığı</a:t>
            </a:r>
            <a:r>
              <a:rPr lang="en-US" dirty="0"/>
              <a:t> 650-850°C, </a:t>
            </a:r>
            <a:r>
              <a:rPr lang="en-US" dirty="0" err="1"/>
              <a:t>basınç</a:t>
            </a:r>
            <a:r>
              <a:rPr lang="en-US" dirty="0"/>
              <a:t> 5-30 bar, </a:t>
            </a:r>
            <a:r>
              <a:rPr lang="en-US" dirty="0" err="1"/>
              <a:t>buhar-karbon</a:t>
            </a:r>
            <a:r>
              <a:rPr lang="en-US" dirty="0"/>
              <a:t> </a:t>
            </a:r>
            <a:r>
              <a:rPr lang="en-US" dirty="0" err="1"/>
              <a:t>oranı</a:t>
            </a:r>
            <a:r>
              <a:rPr lang="en-US" dirty="0"/>
              <a:t> 2-6) optimize </a:t>
            </a:r>
            <a:r>
              <a:rPr lang="en-US" dirty="0" err="1"/>
              <a:t>edilecektir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568759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89624-EA13-271B-5F37-5750EF7A2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C589BBF-F658-EF7A-F969-E0CBE7E8D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39906"/>
          </a:xfrm>
        </p:spPr>
        <p:txBody>
          <a:bodyPr/>
          <a:lstStyle/>
          <a:p>
            <a:r>
              <a:rPr lang="en-US" dirty="0" err="1"/>
              <a:t>Çalışmanın</a:t>
            </a:r>
            <a:r>
              <a:rPr lang="en-US" dirty="0"/>
              <a:t> </a:t>
            </a:r>
            <a:r>
              <a:rPr lang="en-US" dirty="0" err="1"/>
              <a:t>kalan</a:t>
            </a:r>
            <a:r>
              <a:rPr lang="en-US" dirty="0"/>
              <a:t> </a:t>
            </a:r>
            <a:r>
              <a:rPr lang="en-US" dirty="0" err="1"/>
              <a:t>kısmında</a:t>
            </a:r>
            <a:r>
              <a:rPr lang="en-US" dirty="0"/>
              <a:t> </a:t>
            </a:r>
            <a:r>
              <a:rPr lang="en-US" dirty="0" err="1"/>
              <a:t>yapılacaklar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6D15CF5-C1D9-2910-5767-FDB0B6574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1553"/>
            <a:ext cx="8596668" cy="435684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Amaç </a:t>
            </a:r>
            <a:r>
              <a:rPr lang="en-US" dirty="0" err="1"/>
              <a:t>fonksiyonu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hedeflenen</a:t>
            </a:r>
            <a:r>
              <a:rPr lang="en-US" dirty="0"/>
              <a:t> </a:t>
            </a:r>
            <a:r>
              <a:rPr lang="en-US" dirty="0" err="1"/>
              <a:t>hidrojen</a:t>
            </a:r>
            <a:r>
              <a:rPr lang="en-US" dirty="0"/>
              <a:t> </a:t>
            </a:r>
            <a:r>
              <a:rPr lang="en-US" dirty="0" err="1"/>
              <a:t>verimi</a:t>
            </a:r>
            <a:r>
              <a:rPr lang="en-US" dirty="0"/>
              <a:t> </a:t>
            </a:r>
            <a:r>
              <a:rPr lang="en-US" dirty="0" err="1"/>
              <a:t>maksimizasyonu</a:t>
            </a:r>
            <a:r>
              <a:rPr lang="en-US" dirty="0"/>
              <a:t>, H2/CO </a:t>
            </a:r>
            <a:r>
              <a:rPr lang="en-US" dirty="0" err="1"/>
              <a:t>oranının</a:t>
            </a:r>
            <a:r>
              <a:rPr lang="en-US" dirty="0"/>
              <a:t> </a:t>
            </a:r>
            <a:r>
              <a:rPr lang="en-US" dirty="0" err="1"/>
              <a:t>belirlenen</a:t>
            </a:r>
            <a:r>
              <a:rPr lang="en-US" dirty="0"/>
              <a:t> </a:t>
            </a:r>
            <a:r>
              <a:rPr lang="en-US" dirty="0" err="1"/>
              <a:t>hedef</a:t>
            </a:r>
            <a:r>
              <a:rPr lang="en-US" dirty="0"/>
              <a:t> </a:t>
            </a:r>
            <a:r>
              <a:rPr lang="en-US" dirty="0" err="1"/>
              <a:t>değere</a:t>
            </a:r>
            <a:r>
              <a:rPr lang="en-US" dirty="0"/>
              <a:t> </a:t>
            </a:r>
            <a:r>
              <a:rPr lang="en-US" dirty="0" err="1"/>
              <a:t>yaklaştırılması</a:t>
            </a:r>
            <a:r>
              <a:rPr lang="en-US" dirty="0"/>
              <a:t>, CO2 </a:t>
            </a:r>
            <a:r>
              <a:rPr lang="en-US" dirty="0" err="1"/>
              <a:t>emisyonunun</a:t>
            </a:r>
            <a:r>
              <a:rPr lang="en-US" dirty="0"/>
              <a:t> minimize </a:t>
            </a:r>
            <a:r>
              <a:rPr lang="en-US" dirty="0" err="1"/>
              <a:t>edilmesi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hammadde</a:t>
            </a:r>
            <a:r>
              <a:rPr lang="en-US" dirty="0"/>
              <a:t> </a:t>
            </a:r>
            <a:r>
              <a:rPr lang="en-US" dirty="0" err="1"/>
              <a:t>maliyetinin</a:t>
            </a:r>
            <a:r>
              <a:rPr lang="en-US" dirty="0"/>
              <a:t> </a:t>
            </a:r>
            <a:r>
              <a:rPr lang="en-US" dirty="0" err="1"/>
              <a:t>düşürülmesi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amaçlı</a:t>
            </a:r>
            <a:r>
              <a:rPr lang="en-US" dirty="0"/>
              <a:t> </a:t>
            </a:r>
            <a:r>
              <a:rPr lang="en-US" dirty="0" err="1"/>
              <a:t>hedefler</a:t>
            </a:r>
            <a:r>
              <a:rPr lang="en-US" dirty="0"/>
              <a:t> </a:t>
            </a:r>
            <a:r>
              <a:rPr lang="en-US" dirty="0" err="1"/>
              <a:t>eşzamanlı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alınacaktır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Genetik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, </a:t>
            </a:r>
            <a:r>
              <a:rPr lang="en-US" dirty="0" err="1"/>
              <a:t>parçacık</a:t>
            </a:r>
            <a:r>
              <a:rPr lang="en-US" dirty="0"/>
              <a:t> </a:t>
            </a:r>
            <a:r>
              <a:rPr lang="en-US" dirty="0" err="1"/>
              <a:t>sürü</a:t>
            </a:r>
            <a:r>
              <a:rPr lang="en-US" dirty="0"/>
              <a:t> </a:t>
            </a:r>
            <a:r>
              <a:rPr lang="en-US" dirty="0" err="1"/>
              <a:t>optimizasyonu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Bayesian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meta-</a:t>
            </a:r>
            <a:r>
              <a:rPr lang="en-US" dirty="0" err="1"/>
              <a:t>sezgisel</a:t>
            </a:r>
            <a:r>
              <a:rPr lang="en-US" dirty="0"/>
              <a:t> </a:t>
            </a:r>
            <a:r>
              <a:rPr lang="en-US" dirty="0" err="1"/>
              <a:t>yöntemler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,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hesaplanacak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karışımı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, </a:t>
            </a:r>
            <a:r>
              <a:rPr lang="en-US" dirty="0" err="1"/>
              <a:t>istenilen</a:t>
            </a:r>
            <a:r>
              <a:rPr lang="en-US" dirty="0"/>
              <a:t> </a:t>
            </a: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kalitesini</a:t>
            </a:r>
            <a:r>
              <a:rPr lang="en-US" dirty="0"/>
              <a:t> </a:t>
            </a:r>
            <a:r>
              <a:rPr lang="en-US" dirty="0" err="1"/>
              <a:t>üretecek</a:t>
            </a:r>
            <a:r>
              <a:rPr lang="en-US" dirty="0"/>
              <a:t> </a:t>
            </a:r>
            <a:r>
              <a:rPr lang="en-US" dirty="0" err="1"/>
              <a:t>işletme</a:t>
            </a:r>
            <a:r>
              <a:rPr lang="en-US" dirty="0"/>
              <a:t> </a:t>
            </a:r>
            <a:r>
              <a:rPr lang="en-US" dirty="0" err="1"/>
              <a:t>koşulları</a:t>
            </a:r>
            <a:r>
              <a:rPr lang="en-US" dirty="0"/>
              <a:t> </a:t>
            </a:r>
            <a:r>
              <a:rPr lang="en-US" dirty="0" err="1"/>
              <a:t>belirlenecektir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Ayrıca</a:t>
            </a:r>
            <a:r>
              <a:rPr lang="en-US" dirty="0"/>
              <a:t>, </a:t>
            </a:r>
            <a:r>
              <a:rPr lang="en-US" dirty="0" err="1"/>
              <a:t>reaktör</a:t>
            </a:r>
            <a:r>
              <a:rPr lang="en-US" dirty="0"/>
              <a:t> </a:t>
            </a:r>
            <a:r>
              <a:rPr lang="en-US" dirty="0" err="1"/>
              <a:t>çıkışındaki</a:t>
            </a:r>
            <a:r>
              <a:rPr lang="en-US" dirty="0"/>
              <a:t> </a:t>
            </a:r>
            <a:r>
              <a:rPr lang="en-US" dirty="0" err="1"/>
              <a:t>anlık</a:t>
            </a:r>
            <a:r>
              <a:rPr lang="en-US" dirty="0"/>
              <a:t> </a:t>
            </a: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ölçümlerinden</a:t>
            </a:r>
            <a:r>
              <a:rPr lang="en-US" dirty="0"/>
              <a:t> </a:t>
            </a:r>
            <a:r>
              <a:rPr lang="en-US" dirty="0" err="1"/>
              <a:t>yola</a:t>
            </a:r>
            <a:r>
              <a:rPr lang="en-US" dirty="0"/>
              <a:t> </a:t>
            </a:r>
            <a:r>
              <a:rPr lang="en-US" dirty="0" err="1"/>
              <a:t>çıkarak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kompozisyonundaki</a:t>
            </a:r>
            <a:r>
              <a:rPr lang="en-US" dirty="0"/>
              <a:t> </a:t>
            </a:r>
            <a:r>
              <a:rPr lang="en-US" dirty="0" err="1"/>
              <a:t>sapmaların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edilmesi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beslemeli</a:t>
            </a:r>
            <a:r>
              <a:rPr lang="en-US" dirty="0"/>
              <a:t> </a:t>
            </a:r>
            <a:r>
              <a:rPr lang="en-US" dirty="0" err="1"/>
              <a:t>düzeltme</a:t>
            </a:r>
            <a:r>
              <a:rPr lang="en-US" dirty="0"/>
              <a:t> </a:t>
            </a:r>
            <a:r>
              <a:rPr lang="en-US" dirty="0" err="1"/>
              <a:t>yapılması</a:t>
            </a:r>
            <a:r>
              <a:rPr lang="en-US" dirty="0"/>
              <a:t> </a:t>
            </a:r>
            <a:r>
              <a:rPr lang="en-US" dirty="0" err="1"/>
              <a:t>mümkün</a:t>
            </a:r>
            <a:r>
              <a:rPr lang="en-US" dirty="0"/>
              <a:t> </a:t>
            </a:r>
            <a:r>
              <a:rPr lang="en-US" dirty="0" err="1"/>
              <a:t>olacaktır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senaryosu</a:t>
            </a:r>
            <a:r>
              <a:rPr lang="en-US" dirty="0"/>
              <a:t> hem </a:t>
            </a:r>
            <a:r>
              <a:rPr lang="en-US" dirty="0" err="1"/>
              <a:t>hammadde</a:t>
            </a:r>
            <a:r>
              <a:rPr lang="en-US" dirty="0"/>
              <a:t> </a:t>
            </a:r>
            <a:r>
              <a:rPr lang="en-US" dirty="0" err="1"/>
              <a:t>kalite</a:t>
            </a:r>
            <a:r>
              <a:rPr lang="en-US" dirty="0"/>
              <a:t> </a:t>
            </a:r>
            <a:r>
              <a:rPr lang="en-US" dirty="0" err="1"/>
              <a:t>kontrolü</a:t>
            </a:r>
            <a:r>
              <a:rPr lang="en-US" dirty="0"/>
              <a:t> hem de proses </a:t>
            </a:r>
            <a:r>
              <a:rPr lang="en-US" dirty="0" err="1"/>
              <a:t>verimliliğinin</a:t>
            </a:r>
            <a:r>
              <a:rPr lang="en-US" dirty="0"/>
              <a:t> </a:t>
            </a:r>
            <a:r>
              <a:rPr lang="en-US" dirty="0" err="1"/>
              <a:t>eşzamanlı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artırılmasına</a:t>
            </a:r>
            <a:r>
              <a:rPr lang="en-US" dirty="0"/>
              <a:t> </a:t>
            </a:r>
            <a:r>
              <a:rPr lang="en-US" dirty="0" err="1"/>
              <a:t>olanak</a:t>
            </a:r>
            <a:r>
              <a:rPr lang="en-US" dirty="0"/>
              <a:t> </a:t>
            </a:r>
            <a:r>
              <a:rPr lang="en-US" dirty="0" err="1"/>
              <a:t>tanıyacaktır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690915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827524" y="463189"/>
            <a:ext cx="7920880" cy="496855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Vaktiniz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ve ilginiz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için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		teşekkürler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                    </a:t>
            </a:r>
            <a:r>
              <a:rPr lang="tr-TR" sz="72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…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0804" y="5431741"/>
            <a:ext cx="7467600" cy="122318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/>
              <a:buNone/>
            </a:pPr>
            <a:r>
              <a:rPr lang="tr-TR" dirty="0"/>
              <a:t>Orhun Uzdiyem</a:t>
            </a:r>
          </a:p>
          <a:p>
            <a:pPr algn="ctr">
              <a:buFont typeface="Wingdings"/>
              <a:buNone/>
            </a:pPr>
            <a:r>
              <a:rPr lang="tr-TR" dirty="0">
                <a:hlinkClick r:id="rId3"/>
              </a:rPr>
              <a:t>orhun.uzdiyem@gmail.com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454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1"/>
    </mc:Choice>
    <mc:Fallback xmlns="">
      <p:transition spd="slow" advTm="67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10449</TotalTime>
  <Words>1568</Words>
  <Application>Microsoft Office PowerPoint</Application>
  <PresentationFormat>Geniş ekran</PresentationFormat>
  <Paragraphs>188</Paragraphs>
  <Slides>37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37</vt:i4>
      </vt:variant>
    </vt:vector>
  </HeadingPairs>
  <TitlesOfParts>
    <vt:vector size="45" baseType="lpstr">
      <vt:lpstr>Arial</vt:lpstr>
      <vt:lpstr>Calibri</vt:lpstr>
      <vt:lpstr>Harrington</vt:lpstr>
      <vt:lpstr>Times New Roman</vt:lpstr>
      <vt:lpstr>Trebuchet MS</vt:lpstr>
      <vt:lpstr>Wingdings</vt:lpstr>
      <vt:lpstr>Wingdings 3</vt:lpstr>
      <vt:lpstr>Facet</vt:lpstr>
      <vt:lpstr>Biyokütleden Elde Edilen Biyoyağ Kompozisyonunun Makine Öğrenmesi ile   Tahmini ve Model Öngörülü Kontrol Tabanlı Süreç Optimizasyonu Tez İzleme Sunumu - 4</vt:lpstr>
      <vt:lpstr>Tezin amacı</vt:lpstr>
      <vt:lpstr>Önceki Dönemlerde Yapılan  Çalışmalar</vt:lpstr>
      <vt:lpstr>Piroliz Verisi Toplama ve Önişleme</vt:lpstr>
      <vt:lpstr>Piroliz Verisi</vt:lpstr>
      <vt:lpstr>Makine öğrenmesi</vt:lpstr>
      <vt:lpstr>Yeni Makine Öğrenmesi Yaklaşımı</vt:lpstr>
      <vt:lpstr>Proses Seçimi</vt:lpstr>
      <vt:lpstr>Dönem İçinde Yapılan Çalışmalar</vt:lpstr>
      <vt:lpstr>Buhar reforming</vt:lpstr>
      <vt:lpstr>Yeni yaklaşım</vt:lpstr>
      <vt:lpstr>Ters makine öğrenmesi</vt:lpstr>
      <vt:lpstr>Cantera</vt:lpstr>
      <vt:lpstr>Cantera</vt:lpstr>
      <vt:lpstr>Cantera</vt:lpstr>
      <vt:lpstr>Cantera</vt:lpstr>
      <vt:lpstr>Ana kontrolcü kod (generate_data_cantera.py)</vt:lpstr>
      <vt:lpstr>Denge hesaplayıcı (cantera_equilibrium.py)</vt:lpstr>
      <vt:lpstr>Veri yükleme (data_loader.py)</vt:lpstr>
      <vt:lpstr>Veri ön işleme ve bölme</vt:lpstr>
      <vt:lpstr>Random forest modeli</vt:lpstr>
      <vt:lpstr>XGBoost modeli</vt:lpstr>
      <vt:lpstr>Derin öğrenme mimarisi (MLP)</vt:lpstr>
      <vt:lpstr>Derin öğrenme mimarisi (MLP)</vt:lpstr>
      <vt:lpstr>MLP eğitimi ve değerlendirme</vt:lpstr>
      <vt:lpstr>Kullanım örneği</vt:lpstr>
      <vt:lpstr>Kullanılan kütüphaneler</vt:lpstr>
      <vt:lpstr>Klasik makine öğrenmesi</vt:lpstr>
      <vt:lpstr>Derin öğrenme</vt:lpstr>
      <vt:lpstr>Kollektik öğrenme</vt:lpstr>
      <vt:lpstr>Sonuçlar</vt:lpstr>
      <vt:lpstr>Sonuçlar</vt:lpstr>
      <vt:lpstr>Özet akış</vt:lpstr>
      <vt:lpstr>Özet akış</vt:lpstr>
      <vt:lpstr>Çalışmanın kalan kısmında yapılacaklar</vt:lpstr>
      <vt:lpstr>Çalışmanın kalan kısmında yapılacaklar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orhun uzdiyem</dc:creator>
  <cp:lastModifiedBy>Orhun Uz</cp:lastModifiedBy>
  <cp:revision>206</cp:revision>
  <dcterms:created xsi:type="dcterms:W3CDTF">2023-05-23T10:14:23Z</dcterms:created>
  <dcterms:modified xsi:type="dcterms:W3CDTF">2025-12-26T06:48:22Z</dcterms:modified>
</cp:coreProperties>
</file>