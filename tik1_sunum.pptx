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256" r:id="rId2"/>
    <p:sldId id="280" r:id="rId3"/>
    <p:sldId id="295" r:id="rId4"/>
    <p:sldId id="297" r:id="rId5"/>
    <p:sldId id="298" r:id="rId6"/>
    <p:sldId id="294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288" r:id="rId18"/>
    <p:sldId id="267" r:id="rId19"/>
    <p:sldId id="261" r:id="rId20"/>
    <p:sldId id="277" r:id="rId21"/>
    <p:sldId id="283" r:id="rId22"/>
    <p:sldId id="285" r:id="rId23"/>
    <p:sldId id="289" r:id="rId24"/>
    <p:sldId id="286" r:id="rId25"/>
    <p:sldId id="279" r:id="rId26"/>
    <p:sldId id="309" r:id="rId27"/>
    <p:sldId id="310" r:id="rId28"/>
    <p:sldId id="29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5C1EF-337A-4A14-9C0C-535002ACE8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7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biortech.2017.02.120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biortech.2018.07.117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fuel.2020.119164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orhun.uzdiyem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682" y="188259"/>
            <a:ext cx="9807388" cy="3306765"/>
          </a:xfrm>
        </p:spPr>
        <p:txBody>
          <a:bodyPr/>
          <a:lstStyle/>
          <a:p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Biyokütleden Elde Edilen </a:t>
            </a:r>
            <a:r>
              <a:rPr lang="tr-TR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Biyoyağ</a:t>
            </a: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Kompozisyonunun Makine Öğrenmesi ile </a:t>
            </a:r>
            <a:b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Tahmini ve Model Öngörülü Kontrol Tabanlı Süreç Optimizasyonu</a:t>
            </a:r>
            <a:b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Tez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İzleme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Sunumu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- 1</a:t>
            </a:r>
            <a:endParaRPr lang="en-US" sz="8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4050833"/>
            <a:ext cx="8861627" cy="23051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en-US" dirty="0" err="1"/>
              <a:t>Komite</a:t>
            </a:r>
            <a:r>
              <a:rPr lang="en-US" dirty="0"/>
              <a:t>: Prof. Dr. </a:t>
            </a:r>
            <a:r>
              <a:rPr lang="en-US" dirty="0" err="1"/>
              <a:t>Hayati</a:t>
            </a:r>
            <a:r>
              <a:rPr lang="en-US" dirty="0"/>
              <a:t> </a:t>
            </a:r>
            <a:r>
              <a:rPr lang="en-US" dirty="0" err="1"/>
              <a:t>Olgun</a:t>
            </a:r>
            <a:r>
              <a:rPr lang="en-US" dirty="0"/>
              <a:t>(Tez </a:t>
            </a:r>
            <a:r>
              <a:rPr lang="en-US" dirty="0" err="1"/>
              <a:t>danışmanı</a:t>
            </a:r>
            <a:r>
              <a:rPr lang="en-US" dirty="0"/>
              <a:t>),  </a:t>
            </a:r>
          </a:p>
          <a:p>
            <a:r>
              <a:rPr lang="en-US" dirty="0"/>
              <a:t>Prof. Dr. Harun Kemal </a:t>
            </a:r>
            <a:r>
              <a:rPr lang="en-US" dirty="0" err="1"/>
              <a:t>Öztürk</a:t>
            </a:r>
            <a:r>
              <a:rPr lang="en-US" dirty="0"/>
              <a:t>,  </a:t>
            </a:r>
          </a:p>
          <a:p>
            <a:r>
              <a:rPr lang="en-US" dirty="0"/>
              <a:t>Dr. </a:t>
            </a:r>
            <a:r>
              <a:rPr lang="en-US" dirty="0" err="1"/>
              <a:t>Öğretim</a:t>
            </a:r>
            <a:r>
              <a:rPr lang="en-US" dirty="0"/>
              <a:t> </a:t>
            </a:r>
            <a:r>
              <a:rPr lang="en-US" dirty="0" err="1"/>
              <a:t>Üyesi</a:t>
            </a:r>
            <a:r>
              <a:rPr lang="en-US" dirty="0"/>
              <a:t> </a:t>
            </a:r>
            <a:r>
              <a:rPr lang="en-US" dirty="0" err="1"/>
              <a:t>Özben</a:t>
            </a:r>
            <a:r>
              <a:rPr lang="en-US" dirty="0"/>
              <a:t> </a:t>
            </a:r>
            <a:r>
              <a:rPr lang="en-US" dirty="0" err="1"/>
              <a:t>Kutlu</a:t>
            </a:r>
            <a:endParaRPr lang="en-US" dirty="0"/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r>
              <a:rPr lang="en-US" dirty="0"/>
              <a:t> </a:t>
            </a:r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en-US" dirty="0" err="1"/>
              <a:t>Haziran</a:t>
            </a:r>
            <a:r>
              <a:rPr lang="en-US" dirty="0"/>
              <a:t> 24, 2024</a:t>
            </a:r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FED5-0A15-7AD8-0B8B-344CB0D2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0293"/>
            <a:ext cx="8596668" cy="1320800"/>
          </a:xfrm>
        </p:spPr>
        <p:txBody>
          <a:bodyPr/>
          <a:lstStyle/>
          <a:p>
            <a:r>
              <a:rPr lang="en-US" dirty="0" err="1"/>
              <a:t>İçerik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3F3E-6CAE-FB07-4F6B-95D72BE0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1947"/>
            <a:ext cx="8596668" cy="543180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err="1"/>
              <a:t>Tezin</a:t>
            </a:r>
            <a:r>
              <a:rPr lang="en-US" dirty="0"/>
              <a:t> </a:t>
            </a:r>
            <a:r>
              <a:rPr lang="en-US" dirty="0" err="1"/>
              <a:t>Amacı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İçinde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kodlarının</a:t>
            </a:r>
            <a:r>
              <a:rPr lang="en-US" dirty="0"/>
              <a:t> </a:t>
            </a:r>
            <a:r>
              <a:rPr lang="en-US" dirty="0" err="1"/>
              <a:t>yazılması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Bir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İçerisinde</a:t>
            </a:r>
            <a:r>
              <a:rPr lang="en-US" dirty="0"/>
              <a:t> </a:t>
            </a:r>
            <a:r>
              <a:rPr lang="en-US" dirty="0" err="1"/>
              <a:t>Yapılacak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0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Tezin </a:t>
            </a:r>
            <a:r>
              <a:rPr lang="en-US" dirty="0"/>
              <a:t>a</a:t>
            </a:r>
            <a:r>
              <a:rPr lang="tr-TR" dirty="0" err="1"/>
              <a:t>macı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Çalışmanın temel amacı: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Biyokütlenin özelliklerine göre biyoyağ içeriğini tahmin edebilen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tr-TR" dirty="0"/>
              <a:t>modeli 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Yapılan tahminler doğrultusunda </a:t>
            </a:r>
            <a:r>
              <a:rPr lang="tr-TR" dirty="0" err="1"/>
              <a:t>biyoyağdan</a:t>
            </a:r>
            <a:r>
              <a:rPr lang="tr-TR" dirty="0"/>
              <a:t> üretilebilecek ürünlerin belirlenmesi 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Karar verilen ürünlerin üretiminde Model Öngörülü Kontrol (MÖK) senaryosu</a:t>
            </a:r>
          </a:p>
        </p:txBody>
      </p:sp>
    </p:spTree>
    <p:extLst>
      <p:ext uri="{BB962C8B-B14F-4D97-AF65-F5344CB8AC3E}">
        <p14:creationId xmlns:p14="http://schemas.microsoft.com/office/powerpoint/2010/main" val="280662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Biyoyağ</a:t>
            </a:r>
            <a:r>
              <a:rPr lang="tr-TR" dirty="0"/>
              <a:t> </a:t>
            </a:r>
            <a:r>
              <a:rPr lang="en-US" dirty="0" err="1"/>
              <a:t>i</a:t>
            </a:r>
            <a:r>
              <a:rPr lang="tr-TR" dirty="0" err="1"/>
              <a:t>çeriği</a:t>
            </a:r>
            <a:r>
              <a:rPr lang="tr-TR" dirty="0"/>
              <a:t> </a:t>
            </a:r>
            <a:r>
              <a:rPr lang="en-US" dirty="0"/>
              <a:t>t</a:t>
            </a:r>
            <a:r>
              <a:rPr lang="tr-TR" dirty="0" err="1"/>
              <a:t>ahmini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0009"/>
            <a:ext cx="8596668" cy="4561354"/>
          </a:xfrm>
        </p:spPr>
        <p:txBody>
          <a:bodyPr>
            <a:normAutofit/>
          </a:bodyPr>
          <a:lstStyle/>
          <a:p>
            <a:r>
              <a:rPr lang="tr-TR" sz="2400" dirty="0"/>
              <a:t>Biyokütleden biyoyağ üretimi üzerine literatür taraması</a:t>
            </a:r>
          </a:p>
          <a:p>
            <a:r>
              <a:rPr lang="tr-TR" sz="2400" dirty="0" err="1"/>
              <a:t>Veritabanı</a:t>
            </a:r>
            <a:r>
              <a:rPr lang="tr-TR" sz="2400" dirty="0"/>
              <a:t> hazırlanması</a:t>
            </a:r>
            <a:endParaRPr lang="en-US" sz="2400" dirty="0"/>
          </a:p>
          <a:p>
            <a:pPr lvl="1"/>
            <a:r>
              <a:rPr lang="en-US" sz="2000" dirty="0" err="1"/>
              <a:t>Bağımsız</a:t>
            </a:r>
            <a:r>
              <a:rPr lang="en-US" sz="2000" dirty="0"/>
              <a:t> </a:t>
            </a:r>
            <a:r>
              <a:rPr lang="en-US" sz="2000" dirty="0" err="1"/>
              <a:t>değişkenler</a:t>
            </a:r>
            <a:endParaRPr lang="tr-TR" sz="2000" dirty="0"/>
          </a:p>
          <a:p>
            <a:pPr lvl="2"/>
            <a:r>
              <a:rPr lang="tr-TR" sz="1800" dirty="0"/>
              <a:t>Biyokütle özellikleri</a:t>
            </a:r>
          </a:p>
          <a:p>
            <a:pPr lvl="3"/>
            <a:r>
              <a:rPr lang="tr-TR" sz="1600" dirty="0"/>
              <a:t>Kısa analiz sonuçları</a:t>
            </a:r>
          </a:p>
          <a:p>
            <a:pPr lvl="3"/>
            <a:r>
              <a:rPr lang="tr-TR" sz="1600" dirty="0"/>
              <a:t>Elementel analiz sonuçları</a:t>
            </a:r>
          </a:p>
          <a:p>
            <a:pPr lvl="3"/>
            <a:r>
              <a:rPr lang="tr-TR" sz="1600" dirty="0"/>
              <a:t>Isıl analiz sonuçları</a:t>
            </a:r>
          </a:p>
          <a:p>
            <a:pPr lvl="2"/>
            <a:r>
              <a:rPr lang="tr-TR" sz="1800" dirty="0"/>
              <a:t>Proses koşulları</a:t>
            </a:r>
            <a:endParaRPr lang="en-US" sz="1800" dirty="0"/>
          </a:p>
          <a:p>
            <a:pPr lvl="1"/>
            <a:r>
              <a:rPr lang="en-US" sz="2000" dirty="0" err="1"/>
              <a:t>Sonuç</a:t>
            </a:r>
            <a:r>
              <a:rPr lang="en-US" sz="2000" dirty="0"/>
              <a:t> </a:t>
            </a:r>
            <a:r>
              <a:rPr lang="en-US" sz="2000" dirty="0" err="1"/>
              <a:t>değişkeni</a:t>
            </a:r>
            <a:endParaRPr lang="tr-TR" sz="2000" dirty="0"/>
          </a:p>
          <a:p>
            <a:pPr lvl="2"/>
            <a:r>
              <a:rPr lang="tr-TR" sz="1800" dirty="0" err="1"/>
              <a:t>Biyoyağ</a:t>
            </a:r>
            <a:r>
              <a:rPr lang="tr-TR" sz="1800" dirty="0"/>
              <a:t> kompozisyonu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595123" y="2745626"/>
          <a:ext cx="419100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193053" imgH="2337860" progId="Visio.Drawing.11">
                  <p:embed/>
                </p:oleObj>
              </mc:Choice>
              <mc:Fallback>
                <p:oleObj name="Visio" r:id="rId2" imgW="4193053" imgH="2337860" progId="Visio.Drawing.11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123" y="2745626"/>
                        <a:ext cx="4191000" cy="233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00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0649-A5B3-3822-A658-75918B89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4333937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 err="1"/>
              <a:t>Dönem</a:t>
            </a:r>
            <a:r>
              <a:rPr lang="en-US" sz="4000" dirty="0"/>
              <a:t> </a:t>
            </a:r>
            <a:r>
              <a:rPr lang="en-US" sz="4000" dirty="0" err="1"/>
              <a:t>İçinde</a:t>
            </a:r>
            <a:r>
              <a:rPr lang="en-US" sz="4000" dirty="0"/>
              <a:t> </a:t>
            </a:r>
            <a:r>
              <a:rPr lang="en-US" sz="4000" dirty="0" err="1"/>
              <a:t>Yapılan</a:t>
            </a:r>
            <a:r>
              <a:rPr lang="en-US" sz="4000" dirty="0"/>
              <a:t> </a:t>
            </a:r>
            <a:r>
              <a:rPr lang="en-US" sz="4000" dirty="0" err="1"/>
              <a:t>Çalışmalar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6033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Hu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baseline="30000" dirty="0"/>
              <a:t>[1]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: </a:t>
            </a:r>
            <a:r>
              <a:rPr lang="en-US" dirty="0" err="1"/>
              <a:t>bambu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: </a:t>
            </a:r>
            <a:r>
              <a:rPr lang="en-US" dirty="0" err="1"/>
              <a:t>sıcaklık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(6 </a:t>
            </a:r>
            <a:r>
              <a:rPr lang="en-US" dirty="0" err="1"/>
              <a:t>kombinasyon</a:t>
            </a:r>
            <a:r>
              <a:rPr lang="en-US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parametreleri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Sıcaklık</a:t>
            </a:r>
            <a:r>
              <a:rPr lang="en-US" dirty="0"/>
              <a:t>, </a:t>
            </a:r>
            <a:r>
              <a:rPr lang="en-US" dirty="0" err="1"/>
              <a:t>katalizör</a:t>
            </a:r>
            <a:r>
              <a:rPr lang="en-US" dirty="0"/>
              <a:t>, </a:t>
            </a:r>
            <a:r>
              <a:rPr lang="en-US" dirty="0" err="1"/>
              <a:t>katalizör</a:t>
            </a:r>
            <a:r>
              <a:rPr lang="en-US" dirty="0"/>
              <a:t> </a:t>
            </a:r>
            <a:r>
              <a:rPr lang="en-US" dirty="0" err="1"/>
              <a:t>miktarı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18 </a:t>
            </a:r>
            <a:r>
              <a:rPr lang="en-US" dirty="0" err="1"/>
              <a:t>kombinasyon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C4D4EB1-C31F-8C8D-12A0-7B3B280434CF}"/>
              </a:ext>
            </a:extLst>
          </p:cNvPr>
          <p:cNvSpPr txBox="1"/>
          <p:nvPr/>
        </p:nvSpPr>
        <p:spPr>
          <a:xfrm>
            <a:off x="1" y="6340653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[1]: 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Hu, Z., Zhu, L., 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Cai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H., Huang, M., 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J., 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Cai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B., Chen, D., Zhu, L., Yang, Y., Ma, Z., 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Enhancement of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production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bio-aromatics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bamboo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Wet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torrefaction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pretreatment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coupled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catalytic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</a:t>
            </a:r>
            <a:r>
              <a:rPr lang="tr-TR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Analytical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Applied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”, 169(2023):105818​​.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2093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Zhang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baseline="30000" dirty="0"/>
              <a:t>[2]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: </a:t>
            </a:r>
            <a:r>
              <a:rPr lang="en-US" dirty="0" err="1"/>
              <a:t>pirinç</a:t>
            </a:r>
            <a:r>
              <a:rPr lang="en-US" dirty="0"/>
              <a:t> </a:t>
            </a:r>
            <a:r>
              <a:rPr lang="en-US" dirty="0" err="1"/>
              <a:t>kabuğu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: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sıcaklıklarda</a:t>
            </a:r>
            <a:r>
              <a:rPr lang="en-US" dirty="0"/>
              <a:t> </a:t>
            </a: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ısıl</a:t>
            </a:r>
            <a:r>
              <a:rPr lang="en-US" dirty="0"/>
              <a:t> </a:t>
            </a:r>
            <a:r>
              <a:rPr lang="en-US" dirty="0" err="1"/>
              <a:t>işlem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5 set </a:t>
            </a:r>
            <a:r>
              <a:rPr lang="en-US" dirty="0" err="1"/>
              <a:t>deney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17AA7AA-662D-DFB1-8DC9-101F3EAC1365}"/>
              </a:ext>
            </a:extLst>
          </p:cNvPr>
          <p:cNvSpPr txBox="1"/>
          <p:nvPr/>
        </p:nvSpPr>
        <p:spPr>
          <a:xfrm>
            <a:off x="1" y="6566955"/>
            <a:ext cx="1219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[2]: </a:t>
            </a:r>
            <a:r>
              <a:rPr lang="tr-TR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Zhang, S., Chen, T., </a:t>
            </a:r>
            <a:r>
              <a:rPr lang="tr-TR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Xiong</a:t>
            </a:r>
            <a:r>
              <a:rPr lang="tr-TR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Y., Dong, Q.,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Effects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wet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torrefaction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physicochemical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properties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properties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rice</a:t>
            </a:r>
            <a:r>
              <a:rPr lang="tr-TR" sz="1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husk</a:t>
            </a:r>
            <a:r>
              <a:rPr lang="tr-TR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</a:t>
            </a:r>
            <a:r>
              <a:rPr lang="tr-TR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Energy</a:t>
            </a:r>
            <a:r>
              <a:rPr lang="tr-TR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Conversion </a:t>
            </a:r>
            <a:r>
              <a:rPr lang="tr-TR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Management”, 141(2017):403-409​​.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97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Hwang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baseline="30000" dirty="0"/>
              <a:t>[3]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: sari </a:t>
            </a:r>
            <a:r>
              <a:rPr lang="en-US" dirty="0" err="1"/>
              <a:t>kavak</a:t>
            </a:r>
            <a:r>
              <a:rPr lang="en-US" dirty="0"/>
              <a:t> </a:t>
            </a:r>
            <a:r>
              <a:rPr lang="en-US" dirty="0" err="1"/>
              <a:t>odunu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: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konsantrasyonlarda</a:t>
            </a:r>
            <a:r>
              <a:rPr lang="en-US" dirty="0"/>
              <a:t> HCl </a:t>
            </a:r>
            <a:r>
              <a:rPr lang="en-US" dirty="0" err="1"/>
              <a:t>çözeltisi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5 set </a:t>
            </a:r>
            <a:r>
              <a:rPr lang="en-US" dirty="0" err="1"/>
              <a:t>deney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767F0FD-C93E-6EAF-48D2-D4E7A0BF8EDC}"/>
              </a:ext>
            </a:extLst>
          </p:cNvPr>
          <p:cNvSpPr txBox="1"/>
          <p:nvPr/>
        </p:nvSpPr>
        <p:spPr>
          <a:xfrm>
            <a:off x="1" y="6340653"/>
            <a:ext cx="1219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[3]:</a:t>
            </a:r>
            <a:r>
              <a:rPr lang="en-US" sz="1000" dirty="0"/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Hwang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H., Oh, S.,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Choi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Choi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J.W.,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potassium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impregnated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poplar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wood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characterization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influence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formation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well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porperties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pyrolyctic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"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Bioresource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", 150(2013):359-366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62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Chen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baseline="30000" dirty="0"/>
              <a:t>[4]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: </a:t>
            </a:r>
            <a:r>
              <a:rPr lang="en-US" dirty="0" err="1"/>
              <a:t>çam</a:t>
            </a:r>
            <a:r>
              <a:rPr lang="en-US" dirty="0"/>
              <a:t> </a:t>
            </a:r>
            <a:r>
              <a:rPr lang="en-US" dirty="0" err="1"/>
              <a:t>fıstığı</a:t>
            </a:r>
            <a:r>
              <a:rPr lang="en-US" dirty="0"/>
              <a:t> </a:t>
            </a:r>
            <a:r>
              <a:rPr lang="en-US" dirty="0" err="1"/>
              <a:t>kabuğu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parametresi</a:t>
            </a:r>
            <a:r>
              <a:rPr lang="en-US" dirty="0"/>
              <a:t>: </a:t>
            </a:r>
            <a:r>
              <a:rPr lang="en-US" dirty="0" err="1"/>
              <a:t>sıcaklık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4 set </a:t>
            </a:r>
            <a:r>
              <a:rPr lang="en-US" dirty="0" err="1"/>
              <a:t>deney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C00B9DE-D77E-E1E5-3467-8A6B3ECB34A0}"/>
              </a:ext>
            </a:extLst>
          </p:cNvPr>
          <p:cNvSpPr txBox="1"/>
          <p:nvPr/>
        </p:nvSpPr>
        <p:spPr>
          <a:xfrm>
            <a:off x="1" y="6340653"/>
            <a:ext cx="1219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[4]:</a:t>
            </a:r>
            <a:r>
              <a:rPr lang="en-US" sz="1000" dirty="0"/>
              <a:t> 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Chen, D., Chen, X., Sun, J., Zheng, Z., &amp; Fu, K. (2016).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polygeneration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pine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nut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shell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study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preparation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activated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carbon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biochar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Bioresource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216, 629–636. https://doi.org/10.1016/j.biortech.2016.05.107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2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Chen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baseline="30000" dirty="0"/>
              <a:t>[5]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: </a:t>
            </a:r>
            <a:r>
              <a:rPr lang="en-US" dirty="0" err="1"/>
              <a:t>pamuk</a:t>
            </a:r>
            <a:r>
              <a:rPr lang="en-US" dirty="0"/>
              <a:t> </a:t>
            </a:r>
            <a:r>
              <a:rPr lang="en-US" dirty="0" err="1"/>
              <a:t>sapı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Sulu </a:t>
            </a:r>
            <a:r>
              <a:rPr lang="en-US" dirty="0" err="1"/>
              <a:t>faz</a:t>
            </a:r>
            <a:r>
              <a:rPr lang="en-US" dirty="0"/>
              <a:t> </a:t>
            </a:r>
            <a:r>
              <a:rPr lang="en-US" dirty="0" err="1"/>
              <a:t>biyoyağ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yıkama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torrefaksiyon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4 set </a:t>
            </a:r>
            <a:r>
              <a:rPr lang="en-US" dirty="0" err="1"/>
              <a:t>deney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BA2CCEC-B034-CCE1-570F-534F4CC7B033}"/>
              </a:ext>
            </a:extLst>
          </p:cNvPr>
          <p:cNvSpPr txBox="1"/>
          <p:nvPr/>
        </p:nvSpPr>
        <p:spPr>
          <a:xfrm>
            <a:off x="1" y="6340653"/>
            <a:ext cx="1219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[5]: 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Chen, D.,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K.,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Jing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Gao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C., &amp; Ma, Z. (2017). An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approach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upgrading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biomass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combination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aqueous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phase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bio-oil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washing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torrefaction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pretreatment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Bioresource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233, 150–158. </a:t>
            </a:r>
            <a:r>
              <a:rPr lang="tr-TR" sz="10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https://doi.org/10.1016/j.biortech.2017.02.120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12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Wang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baseline="30000" dirty="0"/>
              <a:t>[6]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: </a:t>
            </a:r>
            <a:r>
              <a:rPr lang="en-US" dirty="0" err="1"/>
              <a:t>mısır</a:t>
            </a:r>
            <a:r>
              <a:rPr lang="en-US" dirty="0"/>
              <a:t> </a:t>
            </a:r>
            <a:r>
              <a:rPr lang="en-US" dirty="0" err="1"/>
              <a:t>koçanı</a:t>
            </a:r>
            <a:r>
              <a:rPr lang="en-US" dirty="0"/>
              <a:t> </a:t>
            </a:r>
            <a:r>
              <a:rPr lang="en-US" dirty="0" err="1"/>
              <a:t>lignini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parametresi</a:t>
            </a:r>
            <a:r>
              <a:rPr lang="en-US" dirty="0"/>
              <a:t>: </a:t>
            </a:r>
            <a:r>
              <a:rPr lang="en-US" dirty="0" err="1"/>
              <a:t>sıcaklık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5 set </a:t>
            </a:r>
            <a:r>
              <a:rPr lang="en-US" dirty="0" err="1"/>
              <a:t>deney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D9BBDCC-68B9-7ED6-C92F-49D7089F67D1}"/>
              </a:ext>
            </a:extLst>
          </p:cNvPr>
          <p:cNvSpPr txBox="1"/>
          <p:nvPr/>
        </p:nvSpPr>
        <p:spPr>
          <a:xfrm>
            <a:off x="1" y="6340653"/>
            <a:ext cx="1219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[6]:</a:t>
            </a:r>
            <a:r>
              <a:rPr lang="en-US" sz="1000" dirty="0"/>
              <a:t> 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Wang, S.,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Z.,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Bai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W., &amp; Fu, P. (2018).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Influence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inherent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hierarchical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porous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alkali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alkaline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earth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metallic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species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 lignin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pyrolysis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Bioresource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268, 323–331. </a:t>
            </a:r>
            <a:r>
              <a:rPr lang="tr-TR" sz="10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https://doi.org/10.1016/j.biortech.2018.07.117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3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Cao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</a:t>
            </a:r>
            <a:r>
              <a:rPr lang="en-US" baseline="30000" dirty="0"/>
              <a:t>[7]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: </a:t>
            </a:r>
            <a:r>
              <a:rPr lang="tr-TR" dirty="0" err="1">
                <a:effectLst/>
                <a:ea typeface="Times New Roman" panose="02020603050405020304" pitchFamily="18" charset="0"/>
              </a:rPr>
              <a:t>Enteromorpha</a:t>
            </a:r>
            <a:r>
              <a:rPr lang="tr-TR" dirty="0">
                <a:effectLst/>
                <a:ea typeface="Times New Roman" panose="02020603050405020304" pitchFamily="18" charset="0"/>
              </a:rPr>
              <a:t> </a:t>
            </a:r>
            <a:r>
              <a:rPr lang="tr-TR" dirty="0" err="1">
                <a:effectLst/>
                <a:ea typeface="Times New Roman" panose="02020603050405020304" pitchFamily="18" charset="0"/>
              </a:rPr>
              <a:t>clathrata</a:t>
            </a:r>
            <a:r>
              <a:rPr lang="tr-TR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ea typeface="Times New Roman" panose="02020603050405020304" pitchFamily="18" charset="0"/>
              </a:rPr>
              <a:t>(</a:t>
            </a:r>
            <a:r>
              <a:rPr lang="tr-TR" dirty="0">
                <a:effectLst/>
                <a:ea typeface="Times New Roman" panose="02020603050405020304" pitchFamily="18" charset="0"/>
              </a:rPr>
              <a:t>yeşil alg</a:t>
            </a:r>
            <a:r>
              <a:rPr lang="en-US" dirty="0">
                <a:effectLst/>
                <a:ea typeface="Times New Roman" panose="02020603050405020304" pitchFamily="18" charset="0"/>
              </a:rPr>
              <a:t>)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parametresi</a:t>
            </a:r>
            <a:r>
              <a:rPr lang="en-US" dirty="0"/>
              <a:t>: </a:t>
            </a:r>
            <a:r>
              <a:rPr lang="en-US" dirty="0" err="1"/>
              <a:t>katalizör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7 set </a:t>
            </a:r>
            <a:r>
              <a:rPr lang="en-US" dirty="0" err="1"/>
              <a:t>deney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832BC80-E2C1-C131-0010-AE5A1F73CDF3}"/>
              </a:ext>
            </a:extLst>
          </p:cNvPr>
          <p:cNvSpPr txBox="1"/>
          <p:nvPr/>
        </p:nvSpPr>
        <p:spPr>
          <a:xfrm>
            <a:off x="1" y="6340653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[7]: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Cao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B., Yuan, J., Jiang, D., Wang, S.,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Barati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B., Hu, Y., Yuan, C.,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X., &amp; Wang, Q. (2021).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Seaweed-derived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biochar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multiple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active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sites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a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heterogeneous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catalyst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converting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macroalgae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into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acid-free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biooil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containing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abundant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ester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sugar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substances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tr-TR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Fuel</a:t>
            </a:r>
            <a:r>
              <a:rPr lang="tr-TR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285. </a:t>
            </a:r>
            <a:r>
              <a:rPr lang="tr-TR" sz="10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https://doi.org/10.1016/j.fuel.2020.119164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081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Toplam</a:t>
            </a:r>
            <a:r>
              <a:rPr lang="en-US" dirty="0"/>
              <a:t> 48 set </a:t>
            </a:r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Veritabanı</a:t>
            </a:r>
            <a:r>
              <a:rPr lang="en-US" dirty="0"/>
              <a:t>: SQL Server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Kaynak – 11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Katalizör</a:t>
            </a:r>
            <a:r>
              <a:rPr lang="en-US" dirty="0"/>
              <a:t> – 13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 – 37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denemesi</a:t>
            </a:r>
            <a:r>
              <a:rPr lang="en-US" dirty="0"/>
              <a:t> – 88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– 48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Biyokömür</a:t>
            </a:r>
            <a:r>
              <a:rPr lang="en-US" dirty="0"/>
              <a:t> – 33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78447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Biyokütle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Parçacık</a:t>
            </a:r>
            <a:r>
              <a:rPr lang="en-US" dirty="0"/>
              <a:t> </a:t>
            </a:r>
            <a:r>
              <a:rPr lang="en-US" dirty="0" err="1"/>
              <a:t>boyutu</a:t>
            </a:r>
            <a:r>
              <a:rPr lang="en-US" dirty="0"/>
              <a:t> [mm]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sonuçları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Kül</a:t>
            </a:r>
            <a:r>
              <a:rPr lang="en-US" dirty="0"/>
              <a:t>,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karbon</a:t>
            </a:r>
            <a:r>
              <a:rPr lang="en-US" dirty="0"/>
              <a:t>, </a:t>
            </a:r>
            <a:r>
              <a:rPr lang="en-US" dirty="0" err="1"/>
              <a:t>uçucu</a:t>
            </a:r>
            <a:r>
              <a:rPr lang="en-US" dirty="0"/>
              <a:t> </a:t>
            </a:r>
            <a:r>
              <a:rPr lang="en-US" dirty="0" err="1"/>
              <a:t>madde</a:t>
            </a:r>
            <a:r>
              <a:rPr lang="en-US" dirty="0"/>
              <a:t> [%]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Elementel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sonuçları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C, H, N, S, O [%]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Selülöz</a:t>
            </a:r>
            <a:r>
              <a:rPr lang="en-US" dirty="0"/>
              <a:t>, </a:t>
            </a:r>
            <a:r>
              <a:rPr lang="en-US" dirty="0" err="1"/>
              <a:t>hemiselülöz</a:t>
            </a:r>
            <a:r>
              <a:rPr lang="en-US" dirty="0"/>
              <a:t>, </a:t>
            </a:r>
            <a:r>
              <a:rPr lang="en-US" dirty="0" err="1"/>
              <a:t>holoselülüz</a:t>
            </a:r>
            <a:r>
              <a:rPr lang="en-US" dirty="0"/>
              <a:t>, lignin [%]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HHV [</a:t>
            </a:r>
            <a:r>
              <a:rPr lang="en-US" dirty="0" err="1"/>
              <a:t>Mj</a:t>
            </a:r>
            <a:r>
              <a:rPr lang="en-US" dirty="0"/>
              <a:t>/kg]</a:t>
            </a:r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87093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denemesi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sıcaklığı</a:t>
            </a:r>
            <a:r>
              <a:rPr lang="en-US" dirty="0"/>
              <a:t> [C]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Besleme</a:t>
            </a:r>
            <a:r>
              <a:rPr lang="en-US" dirty="0"/>
              <a:t> </a:t>
            </a:r>
            <a:r>
              <a:rPr lang="en-US" dirty="0" err="1"/>
              <a:t>debisi</a:t>
            </a:r>
            <a:r>
              <a:rPr lang="en-US" dirty="0"/>
              <a:t> [gram/</a:t>
            </a:r>
            <a:r>
              <a:rPr lang="en-US" dirty="0" err="1"/>
              <a:t>dakika</a:t>
            </a:r>
            <a:r>
              <a:rPr lang="en-US" dirty="0"/>
              <a:t>], </a:t>
            </a:r>
            <a:r>
              <a:rPr lang="en-US" dirty="0" err="1"/>
              <a:t>temas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[</a:t>
            </a:r>
            <a:r>
              <a:rPr lang="en-US" dirty="0" err="1"/>
              <a:t>saniye</a:t>
            </a:r>
            <a:r>
              <a:rPr lang="en-US" dirty="0"/>
              <a:t>]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İnert </a:t>
            </a:r>
            <a:r>
              <a:rPr lang="en-US" dirty="0" err="1"/>
              <a:t>gaz</a:t>
            </a:r>
            <a:r>
              <a:rPr lang="en-US" dirty="0"/>
              <a:t> </a:t>
            </a:r>
            <a:r>
              <a:rPr lang="en-US" dirty="0" err="1"/>
              <a:t>debisi</a:t>
            </a:r>
            <a:r>
              <a:rPr lang="en-US" dirty="0"/>
              <a:t> [ml/</a:t>
            </a:r>
            <a:r>
              <a:rPr lang="en-US" dirty="0" err="1"/>
              <a:t>dakika</a:t>
            </a:r>
            <a:r>
              <a:rPr lang="en-US" dirty="0"/>
              <a:t>], </a:t>
            </a:r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[</a:t>
            </a:r>
            <a:r>
              <a:rPr lang="en-US" dirty="0" err="1"/>
              <a:t>dakika</a:t>
            </a:r>
            <a:r>
              <a:rPr lang="en-US" dirty="0"/>
              <a:t>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Katalizör</a:t>
            </a:r>
            <a:r>
              <a:rPr lang="en-US" dirty="0"/>
              <a:t> [integer]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Katalizör</a:t>
            </a:r>
            <a:r>
              <a:rPr lang="en-US" dirty="0"/>
              <a:t>/</a:t>
            </a:r>
            <a:r>
              <a:rPr lang="en-US" dirty="0" err="1"/>
              <a:t>biyoktüle</a:t>
            </a:r>
            <a:r>
              <a:rPr lang="en-US" dirty="0"/>
              <a:t> </a:t>
            </a:r>
            <a:r>
              <a:rPr lang="en-US" dirty="0" err="1"/>
              <a:t>oranı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Katı</a:t>
            </a:r>
            <a:r>
              <a:rPr lang="en-US" dirty="0"/>
              <a:t>, </a:t>
            </a:r>
            <a:r>
              <a:rPr lang="en-US" dirty="0" err="1"/>
              <a:t>sıvı</a:t>
            </a:r>
            <a:r>
              <a:rPr lang="en-US" dirty="0"/>
              <a:t>, </a:t>
            </a:r>
            <a:r>
              <a:rPr lang="en-US" dirty="0" err="1"/>
              <a:t>gaz</a:t>
            </a:r>
            <a:r>
              <a:rPr lang="en-US" dirty="0"/>
              <a:t>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oranları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72792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(FTIR </a:t>
            </a:r>
            <a:r>
              <a:rPr lang="en-US" dirty="0" err="1"/>
              <a:t>sonuçları</a:t>
            </a:r>
            <a:r>
              <a:rPr lang="en-US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Aromatik</a:t>
            </a:r>
            <a:r>
              <a:rPr lang="en-US" dirty="0"/>
              <a:t> </a:t>
            </a:r>
            <a:r>
              <a:rPr lang="en-US" dirty="0" err="1"/>
              <a:t>hidrokarbonlar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Alifatik</a:t>
            </a:r>
            <a:r>
              <a:rPr lang="en-US" dirty="0"/>
              <a:t> </a:t>
            </a:r>
            <a:r>
              <a:rPr lang="en-US" dirty="0" err="1"/>
              <a:t>hidrokarbonlar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Fenoller</a:t>
            </a:r>
            <a:r>
              <a:rPr lang="en-US" dirty="0"/>
              <a:t>, </a:t>
            </a:r>
            <a:r>
              <a:rPr lang="en-US" dirty="0" err="1"/>
              <a:t>Asitler</a:t>
            </a:r>
            <a:r>
              <a:rPr lang="en-US" dirty="0"/>
              <a:t>, </a:t>
            </a:r>
            <a:r>
              <a:rPr lang="en-US" dirty="0" err="1"/>
              <a:t>Alkoller</a:t>
            </a:r>
            <a:r>
              <a:rPr lang="en-US" dirty="0"/>
              <a:t>, </a:t>
            </a:r>
            <a:r>
              <a:rPr lang="en-US" dirty="0" err="1"/>
              <a:t>Esterler</a:t>
            </a:r>
            <a:r>
              <a:rPr lang="en-US" dirty="0"/>
              <a:t>, </a:t>
            </a:r>
            <a:r>
              <a:rPr lang="en-US" dirty="0" err="1"/>
              <a:t>Furanlar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Aldehidler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ketonlar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Şeker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Quaiacol</a:t>
            </a:r>
            <a:r>
              <a:rPr lang="en-US" dirty="0"/>
              <a:t>, </a:t>
            </a:r>
            <a:r>
              <a:rPr lang="en-US" dirty="0" err="1"/>
              <a:t>syringol</a:t>
            </a:r>
            <a:r>
              <a:rPr lang="en-US" dirty="0"/>
              <a:t>, catechol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Azotlu</a:t>
            </a:r>
            <a:r>
              <a:rPr lang="en-US" dirty="0"/>
              <a:t> </a:t>
            </a:r>
            <a:r>
              <a:rPr lang="en-US" dirty="0" err="1"/>
              <a:t>bileşikler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7574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CA33-19BE-6D85-E1C5-80E7DB76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5" y="0"/>
            <a:ext cx="10076330" cy="94966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Artificial Neural Network - ANN (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376E5-2033-C020-EC11-D5B290738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33" y="949666"/>
            <a:ext cx="10076332" cy="51601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74151"/>
                </a:solidFill>
                <a:latin typeface="Söhne"/>
              </a:rPr>
              <a:t>ANN,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insan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beynindeki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nöronların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çalışma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şeklinden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esinlenilerek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geliştirilmiştir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tr-TR" sz="1800" dirty="0">
                <a:solidFill>
                  <a:srgbClr val="374151"/>
                </a:solidFill>
                <a:latin typeface="Söhne"/>
              </a:rPr>
              <a:t>Artık mantar substratının microdalga ışınımı ile biyokömürleştirme ile biyoyakıt üretiminin öngörüsü ve optimizasyonu </a:t>
            </a:r>
            <a:r>
              <a:rPr lang="tr-TR" sz="1800" baseline="30000" dirty="0">
                <a:solidFill>
                  <a:srgbClr val="374151"/>
                </a:solidFill>
                <a:latin typeface="Söhne"/>
              </a:rPr>
              <a:t>[</a:t>
            </a:r>
            <a:r>
              <a:rPr lang="en-US" sz="1800" baseline="30000" dirty="0">
                <a:solidFill>
                  <a:srgbClr val="374151"/>
                </a:solidFill>
                <a:latin typeface="Söhne"/>
              </a:rPr>
              <a:t>8</a:t>
            </a:r>
            <a:r>
              <a:rPr lang="tr-TR" sz="1800" baseline="30000" dirty="0">
                <a:solidFill>
                  <a:srgbClr val="374151"/>
                </a:solidFill>
                <a:latin typeface="Söhne"/>
              </a:rPr>
              <a:t>]</a:t>
            </a:r>
          </a:p>
          <a:p>
            <a:pPr lvl="2">
              <a:lnSpc>
                <a:spcPct val="150000"/>
              </a:lnSpc>
            </a:pPr>
            <a:r>
              <a:rPr lang="tr-TR" sz="1600" dirty="0">
                <a:solidFill>
                  <a:srgbClr val="374151"/>
                </a:solidFill>
                <a:latin typeface="Söhne"/>
              </a:rPr>
              <a:t>Taguchi deney tasarımı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R</a:t>
            </a:r>
            <a:r>
              <a:rPr lang="en-US" sz="1600" baseline="30000" dirty="0"/>
              <a:t>2</a:t>
            </a:r>
            <a:r>
              <a:rPr lang="en-US" sz="1600" dirty="0"/>
              <a:t>: ~</a:t>
            </a:r>
            <a:r>
              <a:rPr lang="tr-TR" sz="1600" dirty="0"/>
              <a:t>99</a:t>
            </a:r>
            <a:r>
              <a:rPr lang="en-US" sz="1600" dirty="0"/>
              <a:t> %</a:t>
            </a:r>
            <a:endParaRPr lang="tr-TR" sz="1600" dirty="0">
              <a:solidFill>
                <a:srgbClr val="374151"/>
              </a:solidFill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rgbClr val="374151"/>
                </a:solidFill>
                <a:latin typeface="Söhne"/>
              </a:rPr>
              <a:t>H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am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biyokütlenin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yaklaşık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analiz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sonuçları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sabit-karbon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uçucu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madde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kül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değerleri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)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deneysel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koşullar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tr-TR" sz="1800" dirty="0">
                <a:solidFill>
                  <a:srgbClr val="374151"/>
                </a:solidFill>
                <a:latin typeface="Söhne"/>
              </a:rPr>
              <a:t>biyokömürleştirme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sıcaklığı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süresi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)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temel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alınarak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tr-TR" sz="1800" b="0" i="0" dirty="0">
                <a:solidFill>
                  <a:srgbClr val="374151"/>
                </a:solidFill>
                <a:effectLst/>
                <a:latin typeface="Söhne"/>
              </a:rPr>
              <a:t>karbonlaştırılmış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biyokütlenin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karbon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hidrojen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oksijen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içeriği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yüksek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ısıl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değeri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(HHV) </a:t>
            </a:r>
            <a:r>
              <a:rPr lang="tr-TR" sz="1800" b="0" i="0" dirty="0">
                <a:solidFill>
                  <a:srgbClr val="374151"/>
                </a:solidFill>
                <a:effectLst/>
                <a:latin typeface="Söhne"/>
              </a:rPr>
              <a:t>öngörüsü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sz="1800" b="0" i="0" baseline="30000" dirty="0">
                <a:solidFill>
                  <a:srgbClr val="374151"/>
                </a:solidFill>
                <a:effectLst/>
                <a:latin typeface="Söhne"/>
              </a:rPr>
              <a:t>[9]</a:t>
            </a:r>
            <a:endParaRPr lang="en-US" sz="1800" baseline="30000" dirty="0"/>
          </a:p>
          <a:p>
            <a:pPr lvl="2">
              <a:lnSpc>
                <a:spcPct val="150000"/>
              </a:lnSpc>
            </a:pPr>
            <a:r>
              <a:rPr lang="tr-TR" sz="1600" dirty="0"/>
              <a:t>Literatür taraması yoluyla 61 çalışmadan toplanan veri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R</a:t>
            </a:r>
            <a:r>
              <a:rPr lang="en-US" sz="1600" baseline="30000" dirty="0"/>
              <a:t>2</a:t>
            </a:r>
            <a:r>
              <a:rPr lang="en-US" sz="1600" dirty="0"/>
              <a:t>: (83.70 – 91.79) %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E7516-31EF-2BED-F42E-61B4060F70B3}"/>
              </a:ext>
            </a:extLst>
          </p:cNvPr>
          <p:cNvSpPr txBox="1"/>
          <p:nvPr/>
        </p:nvSpPr>
        <p:spPr>
          <a:xfrm>
            <a:off x="0" y="6565055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[9]: </a:t>
            </a:r>
            <a:r>
              <a:rPr lang="en-US" sz="1200" dirty="0" err="1"/>
              <a:t>Kartal,F</a:t>
            </a:r>
            <a:r>
              <a:rPr lang="en-US" sz="1200" dirty="0"/>
              <a:t>., </a:t>
            </a:r>
            <a:r>
              <a:rPr lang="en-US" sz="1200" dirty="0" err="1"/>
              <a:t>Özveren,U</a:t>
            </a:r>
            <a:r>
              <a:rPr lang="en-US" sz="1200" dirty="0"/>
              <a:t>., </a:t>
            </a:r>
            <a:r>
              <a:rPr lang="en-US" sz="1200" i="1" dirty="0"/>
              <a:t>Prediction of torrefied biomass properties from raw biomass, </a:t>
            </a:r>
            <a:r>
              <a:rPr lang="en-US" sz="1200" dirty="0"/>
              <a:t>“Renewable Energy”, 182(2022)578-591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663A3-866B-95B9-9C6F-6A3D016DF4DB}"/>
              </a:ext>
            </a:extLst>
          </p:cNvPr>
          <p:cNvSpPr txBox="1"/>
          <p:nvPr/>
        </p:nvSpPr>
        <p:spPr>
          <a:xfrm>
            <a:off x="-1" y="610339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[8]: </a:t>
            </a:r>
            <a:r>
              <a:rPr lang="en-US" sz="1200" dirty="0" err="1"/>
              <a:t>Aniza,R</a:t>
            </a:r>
            <a:r>
              <a:rPr lang="en-US" sz="1200" dirty="0"/>
              <a:t>., </a:t>
            </a:r>
            <a:r>
              <a:rPr lang="en-US" sz="1200" dirty="0" err="1"/>
              <a:t>Chen,W</a:t>
            </a:r>
            <a:r>
              <a:rPr lang="en-US" sz="1200" dirty="0"/>
              <a:t>., </a:t>
            </a:r>
            <a:r>
              <a:rPr lang="en-US" sz="1200" dirty="0" err="1"/>
              <a:t>Yang,F</a:t>
            </a:r>
            <a:r>
              <a:rPr lang="en-US" sz="1200" dirty="0"/>
              <a:t>., </a:t>
            </a:r>
            <a:r>
              <a:rPr lang="en-US" sz="1200" i="1" dirty="0" err="1"/>
              <a:t>Pugazhendh,A</a:t>
            </a:r>
            <a:r>
              <a:rPr lang="en-US" sz="1200" i="1" dirty="0"/>
              <a:t>., </a:t>
            </a:r>
            <a:r>
              <a:rPr lang="en-US" sz="1200" i="1" dirty="0" err="1"/>
              <a:t>Singh,Y</a:t>
            </a:r>
            <a:r>
              <a:rPr lang="en-US" sz="1200" i="1" dirty="0"/>
              <a:t>., Integrating Taguchi method and artificial neural network for predicting and maximizing biofuel production via torrefaction and pyrolysis</a:t>
            </a:r>
            <a:r>
              <a:rPr lang="en-US" sz="1200" dirty="0"/>
              <a:t>, "Bioresource Technology", 343(2022)126140</a:t>
            </a:r>
          </a:p>
        </p:txBody>
      </p:sp>
    </p:spTree>
    <p:extLst>
      <p:ext uri="{BB962C8B-B14F-4D97-AF65-F5344CB8AC3E}">
        <p14:creationId xmlns:p14="http://schemas.microsoft.com/office/powerpoint/2010/main" val="3134412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0FCC9-F388-BC05-C530-A584D058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7762"/>
            <a:ext cx="8596668" cy="93739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Support Vector Regression - SVR </a:t>
            </a:r>
            <a:br>
              <a:rPr lang="en-US" sz="3600" dirty="0"/>
            </a:br>
            <a:r>
              <a:rPr lang="en-US" sz="3600" dirty="0"/>
              <a:t>(</a:t>
            </a:r>
            <a:r>
              <a:rPr lang="en-US" sz="3600" dirty="0" err="1"/>
              <a:t>Destek</a:t>
            </a:r>
            <a:r>
              <a:rPr lang="en-US" sz="3600" dirty="0"/>
              <a:t> </a:t>
            </a:r>
            <a:r>
              <a:rPr lang="en-US" sz="3600" dirty="0" err="1"/>
              <a:t>Vektör</a:t>
            </a:r>
            <a:r>
              <a:rPr lang="en-US" sz="3600" dirty="0"/>
              <a:t> </a:t>
            </a:r>
            <a:r>
              <a:rPr lang="en-US" sz="3600" dirty="0" err="1"/>
              <a:t>Regresyonu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5C085-DE8D-6684-9F91-CEEF909D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91437"/>
            <a:ext cx="9544840" cy="350747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Biyokütlenin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hızlı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piroliz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sürecinde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üç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fazlı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ürün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dağılımı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biyoyakıt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ısıl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değerinin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tr-TR" sz="2000" dirty="0">
                <a:solidFill>
                  <a:srgbClr val="374151"/>
                </a:solidFill>
                <a:latin typeface="Söhne"/>
              </a:rPr>
              <a:t>öngörüsü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sz="2000" b="0" i="0" baseline="30000" dirty="0">
                <a:solidFill>
                  <a:srgbClr val="374151"/>
                </a:solidFill>
                <a:effectLst/>
                <a:latin typeface="Söhne"/>
              </a:rPr>
              <a:t>[</a:t>
            </a:r>
            <a:r>
              <a:rPr lang="en-US" sz="2000" baseline="30000" dirty="0">
                <a:solidFill>
                  <a:srgbClr val="374151"/>
                </a:solidFill>
                <a:latin typeface="Söhne"/>
              </a:rPr>
              <a:t>10</a:t>
            </a:r>
            <a:r>
              <a:rPr lang="en-US" sz="2000" b="0" i="0" baseline="30000" dirty="0">
                <a:solidFill>
                  <a:srgbClr val="374151"/>
                </a:solidFill>
                <a:effectLst/>
                <a:latin typeface="Söhne"/>
              </a:rPr>
              <a:t>]</a:t>
            </a:r>
            <a:endParaRPr lang="tr-TR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tr-TR" sz="2000" dirty="0">
                <a:solidFill>
                  <a:srgbClr val="374151"/>
                </a:solidFill>
                <a:latin typeface="Söhne"/>
              </a:rPr>
              <a:t>Literatürden toplanan 122 adet veri seti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</a:t>
            </a:r>
            <a:r>
              <a:rPr lang="en-US" sz="2000" baseline="30000" dirty="0"/>
              <a:t>2</a:t>
            </a:r>
            <a:r>
              <a:rPr lang="en-US" sz="2000" dirty="0"/>
              <a:t>: (</a:t>
            </a:r>
            <a:r>
              <a:rPr lang="tr-TR" sz="2000" dirty="0"/>
              <a:t>70</a:t>
            </a:r>
            <a:r>
              <a:rPr lang="en-US" sz="2000" dirty="0"/>
              <a:t> – </a:t>
            </a:r>
            <a:r>
              <a:rPr lang="tr-TR" sz="2000" dirty="0"/>
              <a:t>80</a:t>
            </a:r>
            <a:r>
              <a:rPr lang="en-US" sz="2000" dirty="0"/>
              <a:t>) %</a:t>
            </a:r>
            <a:endParaRPr lang="tr-TR" sz="2000" dirty="0">
              <a:solidFill>
                <a:srgbClr val="374151"/>
              </a:solidFill>
              <a:latin typeface="Söhne"/>
            </a:endParaRPr>
          </a:p>
          <a:p>
            <a:pPr lvl="1"/>
            <a:endParaRPr lang="tr-TR" sz="2000" dirty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3A160-BD9D-0B82-3E31-EADC85C2D9C3}"/>
              </a:ext>
            </a:extLst>
          </p:cNvPr>
          <p:cNvSpPr txBox="1"/>
          <p:nvPr/>
        </p:nvSpPr>
        <p:spPr>
          <a:xfrm>
            <a:off x="0" y="632518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[10]: </a:t>
            </a:r>
            <a:r>
              <a:rPr lang="en-US" sz="1200" dirty="0" err="1"/>
              <a:t>Leng,E</a:t>
            </a:r>
            <a:r>
              <a:rPr lang="en-US" sz="1200" dirty="0"/>
              <a:t>., </a:t>
            </a:r>
            <a:r>
              <a:rPr lang="en-US" sz="1200" dirty="0" err="1"/>
              <a:t>He,B</a:t>
            </a:r>
            <a:r>
              <a:rPr lang="en-US" sz="1200" dirty="0"/>
              <a:t>., </a:t>
            </a:r>
            <a:r>
              <a:rPr lang="en-US" sz="1200" dirty="0" err="1"/>
              <a:t>Chen,J</a:t>
            </a:r>
            <a:r>
              <a:rPr lang="en-US" sz="1200" dirty="0"/>
              <a:t>., </a:t>
            </a:r>
            <a:r>
              <a:rPr lang="en-US" sz="1200" dirty="0" err="1"/>
              <a:t>Liao,G</a:t>
            </a:r>
            <a:r>
              <a:rPr lang="en-US" sz="1200" dirty="0"/>
              <a:t>., </a:t>
            </a:r>
            <a:r>
              <a:rPr lang="en-US" sz="1200" dirty="0" err="1"/>
              <a:t>Ma,Y</a:t>
            </a:r>
            <a:r>
              <a:rPr lang="en-US" sz="1200" dirty="0"/>
              <a:t>., </a:t>
            </a:r>
            <a:r>
              <a:rPr lang="en-US" sz="1200" dirty="0" err="1"/>
              <a:t>Zhang,F</a:t>
            </a:r>
            <a:r>
              <a:rPr lang="en-US" sz="1200" dirty="0"/>
              <a:t>., </a:t>
            </a:r>
            <a:r>
              <a:rPr lang="en-US" sz="1200" dirty="0" err="1"/>
              <a:t>Liu,S</a:t>
            </a:r>
            <a:r>
              <a:rPr lang="en-US" sz="1200" dirty="0"/>
              <a:t>., E,J., </a:t>
            </a:r>
            <a:r>
              <a:rPr lang="en-US" sz="1200" i="1" dirty="0"/>
              <a:t>Prediction of three-phased product distribution and bio-oil heating value of biomass fast pyrolysis based on machine learning, </a:t>
            </a:r>
            <a:r>
              <a:rPr lang="en-US" sz="1200" dirty="0"/>
              <a:t>“Energy”, 236(2021)121401.</a:t>
            </a:r>
          </a:p>
        </p:txBody>
      </p:sp>
    </p:spTree>
    <p:extLst>
      <p:ext uri="{BB962C8B-B14F-4D97-AF65-F5344CB8AC3E}">
        <p14:creationId xmlns:p14="http://schemas.microsoft.com/office/powerpoint/2010/main" val="163451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5361-1B0E-D5B1-9B1D-02696C1F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51CA-F3D6-C835-D9CF-78DA585D0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901"/>
            <a:ext cx="8596668" cy="4526462"/>
          </a:xfrm>
        </p:spPr>
        <p:txBody>
          <a:bodyPr>
            <a:normAutofit/>
          </a:bodyPr>
          <a:lstStyle/>
          <a:p>
            <a:r>
              <a:rPr lang="en-US" sz="2400" dirty="0"/>
              <a:t>Pamuk </a:t>
            </a:r>
            <a:r>
              <a:rPr lang="en-US" sz="2400" dirty="0" err="1"/>
              <a:t>sapından</a:t>
            </a:r>
            <a:r>
              <a:rPr lang="en-US" sz="2400" dirty="0"/>
              <a:t> </a:t>
            </a:r>
            <a:r>
              <a:rPr lang="en-US" sz="2400" dirty="0" err="1"/>
              <a:t>biyokömür</a:t>
            </a:r>
            <a:r>
              <a:rPr lang="en-US" sz="2400" dirty="0"/>
              <a:t> </a:t>
            </a:r>
            <a:r>
              <a:rPr lang="en-US" sz="2400" dirty="0" err="1"/>
              <a:t>üretimi</a:t>
            </a:r>
            <a:r>
              <a:rPr lang="en-US" sz="2400" dirty="0"/>
              <a:t> </a:t>
            </a:r>
            <a:r>
              <a:rPr lang="en-US" sz="2400" baseline="30000" dirty="0"/>
              <a:t>[11]</a:t>
            </a:r>
          </a:p>
          <a:p>
            <a:r>
              <a:rPr lang="en-US" sz="2400" dirty="0" err="1"/>
              <a:t>Deney</a:t>
            </a:r>
            <a:r>
              <a:rPr lang="en-US" sz="2400" dirty="0"/>
              <a:t> </a:t>
            </a:r>
            <a:r>
              <a:rPr lang="en-US" sz="2400" dirty="0" err="1"/>
              <a:t>Setleri</a:t>
            </a:r>
            <a:r>
              <a:rPr lang="en-US" sz="2400" dirty="0"/>
              <a:t>:</a:t>
            </a:r>
          </a:p>
          <a:p>
            <a:pPr lvl="1"/>
            <a:r>
              <a:rPr lang="en-US" sz="2000" b="0" i="0" u="none" strike="noStrike" baseline="0" dirty="0"/>
              <a:t>Box-Behnken </a:t>
            </a:r>
            <a:r>
              <a:rPr lang="en-US" sz="2000" b="0" i="0" u="none" strike="noStrike" baseline="0" dirty="0" err="1"/>
              <a:t>tasarım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modeli</a:t>
            </a:r>
            <a:r>
              <a:rPr lang="en-US" sz="2000" b="0" i="0" u="none" strike="noStrike" baseline="0" dirty="0"/>
              <a:t> </a:t>
            </a:r>
          </a:p>
          <a:p>
            <a:pPr lvl="2"/>
            <a:r>
              <a:rPr lang="en-US" sz="1800" dirty="0" err="1"/>
              <a:t>Sıcaklık</a:t>
            </a:r>
            <a:r>
              <a:rPr lang="en-US" sz="1800" dirty="0"/>
              <a:t> (A): </a:t>
            </a:r>
            <a:r>
              <a:rPr lang="en-US" sz="1800" b="0" i="0" u="none" strike="noStrike" baseline="0" dirty="0"/>
              <a:t>260°C - 320°C</a:t>
            </a:r>
          </a:p>
          <a:p>
            <a:pPr lvl="2"/>
            <a:r>
              <a:rPr lang="en-US" sz="1800" dirty="0" err="1"/>
              <a:t>Bekletme</a:t>
            </a:r>
            <a:r>
              <a:rPr lang="en-US" sz="1800" dirty="0"/>
              <a:t> </a:t>
            </a:r>
            <a:r>
              <a:rPr lang="en-US" sz="1800" dirty="0" err="1"/>
              <a:t>süresi</a:t>
            </a:r>
            <a:r>
              <a:rPr lang="en-US" sz="1800" dirty="0"/>
              <a:t> (B): </a:t>
            </a:r>
            <a:r>
              <a:rPr lang="en-US" sz="1800" b="0" i="0" u="none" strike="noStrike" baseline="0" dirty="0"/>
              <a:t>10 </a:t>
            </a:r>
            <a:r>
              <a:rPr lang="en-US" sz="1800" b="0" i="0" u="none" strike="noStrike" baseline="0" dirty="0" err="1"/>
              <a:t>dakika</a:t>
            </a:r>
            <a:r>
              <a:rPr lang="en-US" sz="1800" b="0" i="0" u="none" strike="noStrike" baseline="0" dirty="0"/>
              <a:t> - 60 </a:t>
            </a:r>
            <a:r>
              <a:rPr lang="en-US" sz="1800" b="0" i="0" u="none" strike="noStrike" baseline="0" dirty="0" err="1"/>
              <a:t>dakika</a:t>
            </a:r>
            <a:endParaRPr lang="en-US" sz="1800" b="0" i="0" u="none" strike="noStrike" baseline="0" dirty="0"/>
          </a:p>
          <a:p>
            <a:pPr lvl="2"/>
            <a:r>
              <a:rPr lang="en-US" sz="1800" dirty="0" err="1"/>
              <a:t>Yoğunluk</a:t>
            </a:r>
            <a:r>
              <a:rPr lang="en-US" sz="1800" dirty="0"/>
              <a:t> (C): </a:t>
            </a:r>
            <a:r>
              <a:rPr lang="en-US" sz="1800" b="0" i="0" u="none" strike="noStrike" baseline="0" dirty="0"/>
              <a:t>125 kg/m3 - 175 kg/m3</a:t>
            </a:r>
            <a:endParaRPr lang="tr-TR" sz="1800" b="0" i="0" u="none" strike="noStrike" baseline="0" dirty="0"/>
          </a:p>
          <a:p>
            <a:pPr lvl="2"/>
            <a:r>
              <a:rPr lang="tr-TR" sz="1800" dirty="0"/>
              <a:t>Karbon yüzdesi: sonuç değişkeni</a:t>
            </a:r>
            <a:endParaRPr lang="en-US" sz="1800" b="0" i="0" u="none" strike="noStrike" baseline="0" dirty="0"/>
          </a:p>
          <a:p>
            <a:pPr lvl="1"/>
            <a:r>
              <a:rPr lang="en-US" sz="2000" dirty="0"/>
              <a:t>15 </a:t>
            </a:r>
            <a:r>
              <a:rPr lang="en-US" sz="2000" dirty="0" err="1"/>
              <a:t>adet</a:t>
            </a:r>
            <a:r>
              <a:rPr lang="en-US" sz="2000" dirty="0"/>
              <a:t> </a:t>
            </a:r>
            <a:r>
              <a:rPr lang="en-US" sz="2000" dirty="0" err="1"/>
              <a:t>deney</a:t>
            </a:r>
            <a:endParaRPr lang="en-US" sz="2000" dirty="0"/>
          </a:p>
          <a:p>
            <a:pPr lvl="2"/>
            <a:r>
              <a:rPr lang="en-US" sz="1800" dirty="0" err="1"/>
              <a:t>Eğitim</a:t>
            </a:r>
            <a:r>
              <a:rPr lang="en-US" sz="1800" dirty="0"/>
              <a:t> </a:t>
            </a:r>
            <a:r>
              <a:rPr lang="en-US" sz="1800" dirty="0" err="1"/>
              <a:t>verisi</a:t>
            </a:r>
            <a:r>
              <a:rPr lang="en-US" sz="1800" dirty="0"/>
              <a:t>: 10</a:t>
            </a:r>
          </a:p>
          <a:p>
            <a:pPr lvl="2"/>
            <a:r>
              <a:rPr lang="en-US" sz="1800" dirty="0" err="1"/>
              <a:t>Doğrulama</a:t>
            </a:r>
            <a:r>
              <a:rPr lang="en-US" sz="1800" dirty="0"/>
              <a:t> </a:t>
            </a:r>
            <a:r>
              <a:rPr lang="en-US" sz="1800" dirty="0" err="1"/>
              <a:t>verisi</a:t>
            </a:r>
            <a:r>
              <a:rPr lang="en-US" sz="1800" dirty="0"/>
              <a:t>: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073CC-1C74-7EC2-83FD-AD8E71ECF298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[11]: </a:t>
            </a:r>
            <a:r>
              <a:rPr lang="en-US" sz="1200" dirty="0" err="1"/>
              <a:t>Kutlu,Ö</a:t>
            </a:r>
            <a:r>
              <a:rPr lang="en-US" sz="1200" dirty="0"/>
              <a:t>., </a:t>
            </a:r>
            <a:r>
              <a:rPr lang="en-US" sz="1200" dirty="0" err="1"/>
              <a:t>Koçar,G</a:t>
            </a:r>
            <a:r>
              <a:rPr lang="en-US" sz="1200" dirty="0"/>
              <a:t>., </a:t>
            </a:r>
            <a:r>
              <a:rPr lang="en-US" sz="1200" i="1" dirty="0"/>
              <a:t>Upgrading lignocellulosic waste to fuel by torrefaction: </a:t>
            </a:r>
            <a:r>
              <a:rPr lang="en-US" sz="1200" i="1" dirty="0" err="1"/>
              <a:t>Characterisation</a:t>
            </a:r>
            <a:r>
              <a:rPr lang="en-US" sz="1200" i="1" dirty="0"/>
              <a:t> and process optimization by response surface methodology. </a:t>
            </a:r>
            <a:r>
              <a:rPr lang="en-US" sz="1200" dirty="0"/>
              <a:t>“</a:t>
            </a:r>
            <a:r>
              <a:rPr lang="en-US" sz="1200" dirty="0" err="1"/>
              <a:t>Interational</a:t>
            </a:r>
            <a:r>
              <a:rPr lang="en-US" sz="1200" dirty="0"/>
              <a:t> Journal of Energy Research”, 42(2018)4746-4760.</a:t>
            </a:r>
          </a:p>
        </p:txBody>
      </p:sp>
    </p:spTree>
    <p:extLst>
      <p:ext uri="{BB962C8B-B14F-4D97-AF65-F5344CB8AC3E}">
        <p14:creationId xmlns:p14="http://schemas.microsoft.com/office/powerpoint/2010/main" val="279317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ACC72C-DBF8-393B-ABED-98CD2B3E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" y="1930400"/>
            <a:ext cx="11459411" cy="414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70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Neural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64BE1-CF25-0FE6-1557-92D0DD29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4" y="3428996"/>
            <a:ext cx="11" cy="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4AB3F5-E2E8-A5DA-F555-AC2D1CBDA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1405496"/>
            <a:ext cx="9999561" cy="49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Random Forest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64BE1-CF25-0FE6-1557-92D0DD29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4" y="3428996"/>
            <a:ext cx="11" cy="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7A2778-EE98-115C-3121-D6728E6FE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08" y="1930399"/>
            <a:ext cx="10938784" cy="386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28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C9FF-7BA5-D50B-2B83-F1B47EDC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06186-8E46-AC87-C799-141F1A3D3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29" y="1290919"/>
            <a:ext cx="10004612" cy="5082585"/>
          </a:xfrm>
        </p:spPr>
        <p:txBody>
          <a:bodyPr>
            <a:noAutofit/>
          </a:bodyPr>
          <a:lstStyle/>
          <a:p>
            <a:r>
              <a:rPr lang="en-US" sz="2400" dirty="0" err="1"/>
              <a:t>Hiper</a:t>
            </a:r>
            <a:r>
              <a:rPr lang="en-US" sz="2400" dirty="0"/>
              <a:t> </a:t>
            </a:r>
            <a:r>
              <a:rPr lang="en-US" sz="2400" dirty="0" err="1"/>
              <a:t>parametreler</a:t>
            </a:r>
            <a:r>
              <a:rPr lang="en-US" sz="2400" dirty="0"/>
              <a:t>:</a:t>
            </a:r>
          </a:p>
          <a:p>
            <a:pPr lvl="1"/>
            <a:r>
              <a:rPr lang="en-US" sz="2400" dirty="0" err="1"/>
              <a:t>n_estimators</a:t>
            </a:r>
            <a:r>
              <a:rPr lang="en-US" sz="2400" dirty="0"/>
              <a:t>: </a:t>
            </a:r>
          </a:p>
          <a:p>
            <a:pPr lvl="2"/>
            <a:r>
              <a:rPr lang="en-US" sz="1800" dirty="0" err="1"/>
              <a:t>Oluşturulacak</a:t>
            </a:r>
            <a:r>
              <a:rPr lang="en-US" sz="1800" dirty="0"/>
              <a:t> </a:t>
            </a:r>
            <a:r>
              <a:rPr lang="en-US" sz="1800" dirty="0" err="1"/>
              <a:t>karar</a:t>
            </a:r>
            <a:r>
              <a:rPr lang="en-US" sz="1800" dirty="0"/>
              <a:t> </a:t>
            </a:r>
            <a:r>
              <a:rPr lang="en-US" sz="1800" dirty="0" err="1"/>
              <a:t>ağacı</a:t>
            </a:r>
            <a:r>
              <a:rPr lang="en-US" sz="1800" dirty="0"/>
              <a:t> </a:t>
            </a:r>
            <a:r>
              <a:rPr lang="en-US" sz="1800" dirty="0" err="1"/>
              <a:t>sayısı</a:t>
            </a:r>
            <a:r>
              <a:rPr lang="en-US" sz="1800" dirty="0"/>
              <a:t>.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fazla</a:t>
            </a:r>
            <a:r>
              <a:rPr lang="en-US" sz="1800" dirty="0"/>
              <a:t> </a:t>
            </a:r>
            <a:r>
              <a:rPr lang="en-US" sz="1800" dirty="0" err="1"/>
              <a:t>ağaç</a:t>
            </a:r>
            <a:r>
              <a:rPr lang="en-US" sz="1800" dirty="0"/>
              <a:t> </a:t>
            </a:r>
            <a:r>
              <a:rPr lang="en-US" sz="1800" dirty="0" err="1"/>
              <a:t>genellikle</a:t>
            </a:r>
            <a:r>
              <a:rPr lang="en-US" sz="1800" dirty="0"/>
              <a:t> </a:t>
            </a:r>
            <a:r>
              <a:rPr lang="en-US" sz="1800" dirty="0" err="1"/>
              <a:t>daha</a:t>
            </a:r>
            <a:r>
              <a:rPr lang="en-US" sz="1800" dirty="0"/>
              <a:t> iyi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performans</a:t>
            </a:r>
            <a:r>
              <a:rPr lang="en-US" sz="1800" dirty="0"/>
              <a:t> </a:t>
            </a:r>
            <a:r>
              <a:rPr lang="en-US" sz="1800" dirty="0" err="1"/>
              <a:t>sağlar</a:t>
            </a:r>
            <a:r>
              <a:rPr lang="en-US" sz="1800" dirty="0"/>
              <a:t>, </a:t>
            </a:r>
            <a:r>
              <a:rPr lang="en-US" sz="1800" dirty="0" err="1"/>
              <a:t>ancak</a:t>
            </a:r>
            <a:r>
              <a:rPr lang="en-US" sz="1800" dirty="0"/>
              <a:t> </a:t>
            </a:r>
            <a:r>
              <a:rPr lang="en-US" sz="1800" dirty="0" err="1"/>
              <a:t>eğitim</a:t>
            </a:r>
            <a:r>
              <a:rPr lang="en-US" sz="1800" dirty="0"/>
              <a:t> </a:t>
            </a:r>
            <a:r>
              <a:rPr lang="en-US" sz="1800" dirty="0" err="1"/>
              <a:t>süresini</a:t>
            </a:r>
            <a:r>
              <a:rPr lang="en-US" sz="1800" dirty="0"/>
              <a:t> </a:t>
            </a:r>
            <a:r>
              <a:rPr lang="en-US" sz="1800" dirty="0" err="1"/>
              <a:t>uzatabilir</a:t>
            </a:r>
            <a:r>
              <a:rPr lang="en-US" sz="1800" dirty="0"/>
              <a:t>. </a:t>
            </a:r>
          </a:p>
          <a:p>
            <a:pPr lvl="2"/>
            <a:r>
              <a:rPr lang="en-US" sz="1800" dirty="0" err="1"/>
              <a:t>Örnek</a:t>
            </a:r>
            <a:r>
              <a:rPr lang="en-US" sz="1800" dirty="0"/>
              <a:t>: 100</a:t>
            </a:r>
          </a:p>
          <a:p>
            <a:pPr lvl="1"/>
            <a:r>
              <a:rPr lang="en-US" sz="2400" dirty="0" err="1"/>
              <a:t>max_depth</a:t>
            </a:r>
            <a:r>
              <a:rPr lang="en-US" sz="2400" dirty="0"/>
              <a:t>: </a:t>
            </a:r>
          </a:p>
          <a:p>
            <a:pPr lvl="2"/>
            <a:r>
              <a:rPr lang="en-US" sz="1800" dirty="0" err="1"/>
              <a:t>Ağaçların</a:t>
            </a:r>
            <a:r>
              <a:rPr lang="en-US" sz="1800" dirty="0"/>
              <a:t> </a:t>
            </a:r>
            <a:r>
              <a:rPr lang="en-US" sz="1800" dirty="0" err="1"/>
              <a:t>maksimum</a:t>
            </a:r>
            <a:r>
              <a:rPr lang="en-US" sz="1800" dirty="0"/>
              <a:t> </a:t>
            </a:r>
            <a:r>
              <a:rPr lang="en-US" sz="1800" dirty="0" err="1"/>
              <a:t>derinliği</a:t>
            </a:r>
            <a:r>
              <a:rPr lang="en-US" sz="1800" dirty="0"/>
              <a:t>.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derin</a:t>
            </a:r>
            <a:r>
              <a:rPr lang="en-US" sz="1800" dirty="0"/>
              <a:t> </a:t>
            </a:r>
            <a:r>
              <a:rPr lang="en-US" sz="1800" dirty="0" err="1"/>
              <a:t>ağaçlar</a:t>
            </a:r>
            <a:r>
              <a:rPr lang="en-US" sz="1800" dirty="0"/>
              <a:t>,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karmaşık</a:t>
            </a:r>
            <a:r>
              <a:rPr lang="en-US" sz="1800" dirty="0"/>
              <a:t> </a:t>
            </a:r>
            <a:r>
              <a:rPr lang="en-US" sz="1800" dirty="0" err="1"/>
              <a:t>ilişkileri</a:t>
            </a:r>
            <a:r>
              <a:rPr lang="en-US" sz="1800" dirty="0"/>
              <a:t> </a:t>
            </a:r>
            <a:r>
              <a:rPr lang="en-US" sz="1800" dirty="0" err="1"/>
              <a:t>yakalayabilir</a:t>
            </a:r>
            <a:r>
              <a:rPr lang="en-US" sz="1800" dirty="0"/>
              <a:t>, </a:t>
            </a:r>
            <a:r>
              <a:rPr lang="en-US" sz="1800" dirty="0" err="1"/>
              <a:t>ancak</a:t>
            </a:r>
            <a:r>
              <a:rPr lang="en-US" sz="1800" dirty="0"/>
              <a:t> </a:t>
            </a:r>
            <a:r>
              <a:rPr lang="en-US" sz="1800" dirty="0" err="1"/>
              <a:t>aşırı</a:t>
            </a:r>
            <a:r>
              <a:rPr lang="en-US" sz="1800" dirty="0"/>
              <a:t> </a:t>
            </a:r>
            <a:r>
              <a:rPr lang="en-US" sz="1800" dirty="0" err="1"/>
              <a:t>uydurmayı</a:t>
            </a:r>
            <a:r>
              <a:rPr lang="en-US" sz="1800" dirty="0"/>
              <a:t> (overfitting) </a:t>
            </a:r>
            <a:r>
              <a:rPr lang="en-US" sz="1800" dirty="0" err="1"/>
              <a:t>teşvik</a:t>
            </a:r>
            <a:r>
              <a:rPr lang="en-US" sz="1800" dirty="0"/>
              <a:t> </a:t>
            </a:r>
            <a:r>
              <a:rPr lang="en-US" sz="1800" dirty="0" err="1"/>
              <a:t>edebilir</a:t>
            </a:r>
            <a:r>
              <a:rPr lang="en-US" sz="1800" dirty="0"/>
              <a:t>. </a:t>
            </a:r>
          </a:p>
          <a:p>
            <a:pPr lvl="2"/>
            <a:r>
              <a:rPr lang="en-US" sz="1800" dirty="0" err="1"/>
              <a:t>Örnek</a:t>
            </a:r>
            <a:r>
              <a:rPr lang="en-US" sz="1800" dirty="0"/>
              <a:t>: 10</a:t>
            </a:r>
          </a:p>
          <a:p>
            <a:pPr lvl="1"/>
            <a:r>
              <a:rPr lang="en-US" sz="2400" dirty="0" err="1"/>
              <a:t>min_samples_leaf</a:t>
            </a:r>
            <a:r>
              <a:rPr lang="en-US" sz="2400" dirty="0"/>
              <a:t>: </a:t>
            </a:r>
          </a:p>
          <a:p>
            <a:pPr lvl="2"/>
            <a:r>
              <a:rPr lang="en-US" sz="1800" dirty="0"/>
              <a:t>Bir </a:t>
            </a:r>
            <a:r>
              <a:rPr lang="en-US" sz="1800" dirty="0" err="1"/>
              <a:t>yaprak</a:t>
            </a:r>
            <a:r>
              <a:rPr lang="en-US" sz="1800" dirty="0"/>
              <a:t> </a:t>
            </a:r>
            <a:r>
              <a:rPr lang="en-US" sz="1800" dirty="0" err="1"/>
              <a:t>düğümünde</a:t>
            </a:r>
            <a:r>
              <a:rPr lang="en-US" sz="1800" dirty="0"/>
              <a:t> </a:t>
            </a:r>
            <a:r>
              <a:rPr lang="en-US" sz="1800" dirty="0" err="1"/>
              <a:t>gereken</a:t>
            </a:r>
            <a:r>
              <a:rPr lang="en-US" sz="1800" dirty="0"/>
              <a:t> minimum </a:t>
            </a:r>
            <a:r>
              <a:rPr lang="en-US" sz="1800" dirty="0" err="1"/>
              <a:t>örnek</a:t>
            </a:r>
            <a:r>
              <a:rPr lang="en-US" sz="1800" dirty="0"/>
              <a:t> </a:t>
            </a:r>
            <a:r>
              <a:rPr lang="en-US" sz="1800" dirty="0" err="1"/>
              <a:t>sayısı</a:t>
            </a:r>
            <a:r>
              <a:rPr lang="en-US" sz="1800" dirty="0"/>
              <a:t>.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yüksek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değer</a:t>
            </a:r>
            <a:r>
              <a:rPr lang="en-US" sz="1800" dirty="0"/>
              <a:t>, </a:t>
            </a:r>
            <a:r>
              <a:rPr lang="en-US" sz="1800" dirty="0" err="1"/>
              <a:t>ağaçların</a:t>
            </a:r>
            <a:r>
              <a:rPr lang="en-US" sz="1800" dirty="0"/>
              <a:t>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genelleyici</a:t>
            </a:r>
            <a:r>
              <a:rPr lang="en-US" sz="1800" dirty="0"/>
              <a:t> hale </a:t>
            </a:r>
            <a:r>
              <a:rPr lang="en-US" sz="1800" dirty="0" err="1"/>
              <a:t>gelmesini</a:t>
            </a:r>
            <a:r>
              <a:rPr lang="en-US" sz="1800" dirty="0"/>
              <a:t> </a:t>
            </a:r>
            <a:r>
              <a:rPr lang="en-US" sz="1800" dirty="0" err="1"/>
              <a:t>sağlar</a:t>
            </a:r>
            <a:r>
              <a:rPr lang="en-US" sz="1800" dirty="0"/>
              <a:t>. </a:t>
            </a:r>
          </a:p>
          <a:p>
            <a:pPr lvl="2"/>
            <a:r>
              <a:rPr lang="en-US" sz="1800" dirty="0" err="1"/>
              <a:t>Örnek</a:t>
            </a:r>
            <a:r>
              <a:rPr lang="en-US" sz="1800" dirty="0"/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4235671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SVM, MARS, GTB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64BE1-CF25-0FE6-1557-92D0DD29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4" y="3428996"/>
            <a:ext cx="11" cy="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081208"/>
            <a:ext cx="10515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5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CCC6-1501-01FD-F85F-FF820436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D36FC9-8218-E503-57FE-306A883F3812}"/>
              </a:ext>
            </a:extLst>
          </p:cNvPr>
          <p:cNvGraphicFramePr>
            <a:graphicFrameLocks noGrp="1"/>
          </p:cNvGraphicFramePr>
          <p:nvPr/>
        </p:nvGraphicFramePr>
        <p:xfrm>
          <a:off x="2548287" y="1930400"/>
          <a:ext cx="4794208" cy="1645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912">
                  <a:extLst>
                    <a:ext uri="{9D8B030D-6E8A-4147-A177-3AD203B41FA5}">
                      <a16:colId xmlns:a16="http://schemas.microsoft.com/office/drawing/2014/main" val="1015100880"/>
                    </a:ext>
                  </a:extLst>
                </a:gridCol>
                <a:gridCol w="1178099">
                  <a:extLst>
                    <a:ext uri="{9D8B030D-6E8A-4147-A177-3AD203B41FA5}">
                      <a16:colId xmlns:a16="http://schemas.microsoft.com/office/drawing/2014/main" val="435728981"/>
                    </a:ext>
                  </a:extLst>
                </a:gridCol>
                <a:gridCol w="785399">
                  <a:extLst>
                    <a:ext uri="{9D8B030D-6E8A-4147-A177-3AD203B41FA5}">
                      <a16:colId xmlns:a16="http://schemas.microsoft.com/office/drawing/2014/main" val="2038805002"/>
                    </a:ext>
                  </a:extLst>
                </a:gridCol>
                <a:gridCol w="785399">
                  <a:extLst>
                    <a:ext uri="{9D8B030D-6E8A-4147-A177-3AD203B41FA5}">
                      <a16:colId xmlns:a16="http://schemas.microsoft.com/office/drawing/2014/main" val="3049731337"/>
                    </a:ext>
                  </a:extLst>
                </a:gridCol>
                <a:gridCol w="785399">
                  <a:extLst>
                    <a:ext uri="{9D8B030D-6E8A-4147-A177-3AD203B41FA5}">
                      <a16:colId xmlns:a16="http://schemas.microsoft.com/office/drawing/2014/main" val="2902151649"/>
                    </a:ext>
                  </a:extLst>
                </a:gridCol>
              </a:tblGrid>
              <a:tr h="781632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Random Forest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ANN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GTB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17873638"/>
                  </a:ext>
                </a:extLst>
              </a:tr>
              <a:tr h="431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R2 (%)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96.125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81.81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71.859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5021493"/>
                  </a:ext>
                </a:extLst>
              </a:tr>
              <a:tr h="431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PredR2 (%)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85.81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77.26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87.211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28.34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106683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81EABA-E1DD-AD79-8F96-2B007C99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875964"/>
            <a:ext cx="9491902" cy="27200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000" dirty="0"/>
              <a:t>Hiperparametreler değiştirilerek daha yüksek R</a:t>
            </a:r>
            <a:r>
              <a:rPr lang="tr-TR" sz="2000" baseline="30000" dirty="0"/>
              <a:t>2</a:t>
            </a:r>
            <a:r>
              <a:rPr lang="tr-TR" sz="2000" dirty="0"/>
              <a:t> değerlerine ulaşılabilir</a:t>
            </a:r>
          </a:p>
          <a:p>
            <a:pPr>
              <a:lnSpc>
                <a:spcPct val="150000"/>
              </a:lnSpc>
            </a:pPr>
            <a:r>
              <a:rPr lang="tr-TR" sz="2000" dirty="0"/>
              <a:t>Hiperparametre seçimi başlı başına bir optimizasyon konusudur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2695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CCC6-1501-01FD-F85F-FF820436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Bir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yapılacak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81EABA-E1DD-AD79-8F96-2B007C99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9491902" cy="46656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ANN </a:t>
            </a:r>
            <a:r>
              <a:rPr lang="en-US" sz="2000" dirty="0" err="1"/>
              <a:t>ve</a:t>
            </a:r>
            <a:r>
              <a:rPr lang="en-US" sz="2000" dirty="0"/>
              <a:t> RF </a:t>
            </a:r>
            <a:r>
              <a:rPr lang="en-US" sz="2000" dirty="0" err="1"/>
              <a:t>yöntemleri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detaylı</a:t>
            </a:r>
            <a:r>
              <a:rPr lang="en-US" sz="2000" dirty="0"/>
              <a:t> </a:t>
            </a:r>
            <a:r>
              <a:rPr lang="en-US" sz="2000" dirty="0" err="1"/>
              <a:t>programlanacak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Verinin</a:t>
            </a:r>
            <a:r>
              <a:rPr lang="en-US" sz="1800" dirty="0"/>
              <a:t> </a:t>
            </a:r>
            <a:r>
              <a:rPr lang="en-US" sz="1800" dirty="0" err="1"/>
              <a:t>SQL’den</a:t>
            </a:r>
            <a:r>
              <a:rPr lang="en-US" sz="1800" dirty="0"/>
              <a:t> </a:t>
            </a:r>
            <a:r>
              <a:rPr lang="en-US" sz="1800" dirty="0" err="1"/>
              <a:t>alımı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işlenmesi</a:t>
            </a:r>
            <a:r>
              <a:rPr lang="en-US" sz="1800" dirty="0"/>
              <a:t> </a:t>
            </a:r>
            <a:r>
              <a:rPr lang="en-US" sz="1800" dirty="0" err="1"/>
              <a:t>programlanacak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/>
              <a:t>Ham </a:t>
            </a:r>
            <a:r>
              <a:rPr lang="en-US" sz="1800" dirty="0" err="1"/>
              <a:t>veri</a:t>
            </a:r>
            <a:r>
              <a:rPr lang="en-US" sz="1800" dirty="0"/>
              <a:t> </a:t>
            </a:r>
            <a:r>
              <a:rPr lang="en-US" sz="1800" dirty="0" err="1"/>
              <a:t>işlenmesi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Hiperparametre</a:t>
            </a:r>
            <a:r>
              <a:rPr lang="en-US" sz="1800" dirty="0"/>
              <a:t> </a:t>
            </a:r>
            <a:r>
              <a:rPr lang="en-US" sz="1800" dirty="0" err="1"/>
              <a:t>optimizasyonu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Yöntemlerin</a:t>
            </a:r>
            <a:r>
              <a:rPr lang="en-US" sz="1800" dirty="0"/>
              <a:t> </a:t>
            </a:r>
            <a:r>
              <a:rPr lang="en-US" sz="1800" dirty="0" err="1"/>
              <a:t>karşılaştırılması</a:t>
            </a:r>
            <a:r>
              <a:rPr lang="en-US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Katma</a:t>
            </a:r>
            <a:r>
              <a:rPr lang="en-US" sz="2000" dirty="0"/>
              <a:t> </a:t>
            </a:r>
            <a:r>
              <a:rPr lang="en-US" sz="2000" dirty="0" err="1"/>
              <a:t>değerli</a:t>
            </a:r>
            <a:r>
              <a:rPr lang="en-US" sz="2000" dirty="0"/>
              <a:t> </a:t>
            </a:r>
            <a:r>
              <a:rPr lang="en-US" sz="2000" dirty="0" err="1"/>
              <a:t>ürün</a:t>
            </a:r>
            <a:r>
              <a:rPr lang="en-US" sz="2000" dirty="0"/>
              <a:t> </a:t>
            </a:r>
            <a:r>
              <a:rPr lang="en-US" sz="2000" dirty="0" err="1"/>
              <a:t>seçimi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proses </a:t>
            </a:r>
            <a:r>
              <a:rPr lang="en-US" sz="2000" dirty="0" err="1"/>
              <a:t>modellemesi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1800" dirty="0"/>
              <a:t>Karbon </a:t>
            </a:r>
            <a:r>
              <a:rPr lang="en-US" sz="1800" dirty="0" err="1"/>
              <a:t>bazlı</a:t>
            </a:r>
            <a:r>
              <a:rPr lang="en-US" sz="1800" dirty="0"/>
              <a:t> </a:t>
            </a:r>
            <a:r>
              <a:rPr lang="en-US" sz="1800" dirty="0" err="1"/>
              <a:t>nanomalzeme</a:t>
            </a:r>
            <a:r>
              <a:rPr lang="en-US" sz="1800" dirty="0"/>
              <a:t>, </a:t>
            </a:r>
            <a:r>
              <a:rPr lang="en-US" sz="1800" dirty="0" err="1"/>
              <a:t>karbon</a:t>
            </a:r>
            <a:r>
              <a:rPr lang="en-US" sz="1800" dirty="0"/>
              <a:t> fiber, </a:t>
            </a:r>
            <a:r>
              <a:rPr lang="en-US" sz="1800" dirty="0" err="1"/>
              <a:t>poliaktik</a:t>
            </a:r>
            <a:r>
              <a:rPr lang="en-US" sz="1800" dirty="0"/>
              <a:t> </a:t>
            </a:r>
            <a:r>
              <a:rPr lang="en-US" sz="1800" dirty="0" err="1"/>
              <a:t>asit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tr-TR" sz="2000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60047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CCC6-1501-01FD-F85F-FF820436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81EABA-E1DD-AD79-8F96-2B007C99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9491902" cy="46656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Ölçeklendirme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Standardizasyon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Eksik</a:t>
            </a:r>
            <a:r>
              <a:rPr lang="en-US" sz="2000" dirty="0"/>
              <a:t>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işleme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Özellik</a:t>
            </a:r>
            <a:r>
              <a:rPr lang="en-US" sz="2000" dirty="0"/>
              <a:t> </a:t>
            </a:r>
            <a:r>
              <a:rPr lang="en-US" sz="2000" dirty="0" err="1"/>
              <a:t>filtrelem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sarma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Özellik</a:t>
            </a:r>
            <a:r>
              <a:rPr lang="en-US" sz="2000" dirty="0"/>
              <a:t> </a:t>
            </a:r>
            <a:r>
              <a:rPr lang="en-US" sz="2000" dirty="0" err="1"/>
              <a:t>dönüşümü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Veri </a:t>
            </a:r>
            <a:r>
              <a:rPr lang="en-US" sz="2000" dirty="0" err="1"/>
              <a:t>normalizasyonu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tr-TR" sz="2000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09919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	teşekkürler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3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8582</TotalTime>
  <Words>1604</Words>
  <Application>Microsoft Office PowerPoint</Application>
  <PresentationFormat>Geniş ekran</PresentationFormat>
  <Paragraphs>200</Paragraphs>
  <Slides>28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39" baseType="lpstr">
      <vt:lpstr>Arial</vt:lpstr>
      <vt:lpstr>Calibri</vt:lpstr>
      <vt:lpstr>Courier New</vt:lpstr>
      <vt:lpstr>Harrington</vt:lpstr>
      <vt:lpstr>Söhne</vt:lpstr>
      <vt:lpstr>Times New Roman</vt:lpstr>
      <vt:lpstr>Trebuchet MS</vt:lpstr>
      <vt:lpstr>Wingdings</vt:lpstr>
      <vt:lpstr>Wingdings 3</vt:lpstr>
      <vt:lpstr>Facet</vt:lpstr>
      <vt:lpstr>Visio</vt:lpstr>
      <vt:lpstr>Biyokütleden Elde Edilen Biyoyağ Kompozisyonunun Makine Öğrenmesi ile   Tahmini ve Model Öngörülü Kontrol Tabanlı Süreç Optimizasyonu Tez İzleme Sunumu - 1</vt:lpstr>
      <vt:lpstr>İçerik</vt:lpstr>
      <vt:lpstr>Tezin amacı</vt:lpstr>
      <vt:lpstr>Biyoyağ içeriği tahmini</vt:lpstr>
      <vt:lpstr>Dönem İçinde Yapılan Çalışmalar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Literatür taraması ve veritabanı hazırlanması</vt:lpstr>
      <vt:lpstr>Artificial Neural Network - ANN (Yapay Sinir Ağları)</vt:lpstr>
      <vt:lpstr>Support Vector Regression - SVR  (Destek Vektör Regresyonu)</vt:lpstr>
      <vt:lpstr>Deney Verisi</vt:lpstr>
      <vt:lpstr>Python Kodları</vt:lpstr>
      <vt:lpstr>Python Kodları – Neural Network</vt:lpstr>
      <vt:lpstr>Python Kodları – Random Forest</vt:lpstr>
      <vt:lpstr>Python Kodları – Random Forest</vt:lpstr>
      <vt:lpstr>Python Kodları – SVM, MARS, GTB</vt:lpstr>
      <vt:lpstr>Sonuçlar</vt:lpstr>
      <vt:lpstr>Bir sonraki dönem içerisinde yapılacak çalışmalar</vt:lpstr>
      <vt:lpstr>Ham veri işlenmesi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</cp:lastModifiedBy>
  <cp:revision>44</cp:revision>
  <dcterms:created xsi:type="dcterms:W3CDTF">2023-05-23T10:14:23Z</dcterms:created>
  <dcterms:modified xsi:type="dcterms:W3CDTF">2024-06-23T21:12:30Z</dcterms:modified>
</cp:coreProperties>
</file>