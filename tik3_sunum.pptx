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4"/>
  </p:notesMasterIdLst>
  <p:sldIdLst>
    <p:sldId id="256" r:id="rId2"/>
    <p:sldId id="309" r:id="rId3"/>
    <p:sldId id="310" r:id="rId4"/>
    <p:sldId id="357" r:id="rId5"/>
    <p:sldId id="358" r:id="rId6"/>
    <p:sldId id="359" r:id="rId7"/>
    <p:sldId id="360" r:id="rId8"/>
    <p:sldId id="361" r:id="rId9"/>
    <p:sldId id="363" r:id="rId10"/>
    <p:sldId id="364" r:id="rId11"/>
    <p:sldId id="365" r:id="rId12"/>
    <p:sldId id="366" r:id="rId13"/>
    <p:sldId id="367" r:id="rId14"/>
    <p:sldId id="368" r:id="rId15"/>
    <p:sldId id="369" r:id="rId16"/>
    <p:sldId id="362" r:id="rId17"/>
    <p:sldId id="371" r:id="rId18"/>
    <p:sldId id="372" r:id="rId19"/>
    <p:sldId id="373" r:id="rId20"/>
    <p:sldId id="374" r:id="rId21"/>
    <p:sldId id="375" r:id="rId22"/>
    <p:sldId id="376" r:id="rId23"/>
    <p:sldId id="377" r:id="rId24"/>
    <p:sldId id="378" r:id="rId25"/>
    <p:sldId id="382" r:id="rId26"/>
    <p:sldId id="383" r:id="rId27"/>
    <p:sldId id="385" r:id="rId28"/>
    <p:sldId id="384" r:id="rId29"/>
    <p:sldId id="386" r:id="rId30"/>
    <p:sldId id="387" r:id="rId31"/>
    <p:sldId id="388" r:id="rId32"/>
    <p:sldId id="293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rhun uzdiyem" initials="ou" lastIdx="1" clrIdx="0">
    <p:extLst>
      <p:ext uri="{19B8F6BF-5375-455C-9EA6-DF929625EA0E}">
        <p15:presenceInfo xmlns:p15="http://schemas.microsoft.com/office/powerpoint/2012/main" userId="7c704e6ad42cbf6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06725-A5C6-4D97-BAB5-97495DA97B1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5C1EF-337A-4A14-9C0C-535002ACE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98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762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29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266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030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498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153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53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38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54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00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4510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75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9400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9821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10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41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6287EC-2D8B-4839-853F-448EC8EF3B8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83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mailto:orhun.uzdiyem@gmail.com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AFEF-9B2B-F339-7BA2-47BF50A9F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0682" y="188259"/>
            <a:ext cx="9807388" cy="3306765"/>
          </a:xfrm>
        </p:spPr>
        <p:txBody>
          <a:bodyPr/>
          <a:lstStyle/>
          <a:p>
            <a:r>
              <a:rPr lang="tr-TR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Biyokütleden Elde Edilen </a:t>
            </a:r>
            <a:r>
              <a:rPr lang="tr-TR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Biyoyağ</a:t>
            </a:r>
            <a:r>
              <a:rPr lang="tr-TR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Kompozisyonunun Makine Öğrenmesi ile </a:t>
            </a:r>
            <a:br>
              <a:rPr lang="tr-TR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tr-TR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Tahmini ve Model Öngörülü Kontrol Tabanlı Süreç Optimizasyonu</a:t>
            </a:r>
            <a:b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4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Tez </a:t>
            </a:r>
            <a:r>
              <a:rPr lang="en-US" sz="40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İzleme</a:t>
            </a:r>
            <a:r>
              <a:rPr lang="en-US" sz="4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Sunumu</a:t>
            </a:r>
            <a:r>
              <a:rPr lang="en-US" sz="4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- 3</a:t>
            </a:r>
            <a:endParaRPr lang="en-US" sz="8800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41569F-3488-D383-99CF-A515057064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376" y="4050833"/>
            <a:ext cx="8861627" cy="2305143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Hazırlayan</a:t>
            </a:r>
            <a:r>
              <a:rPr lang="en-US" dirty="0"/>
              <a:t>: Orhun Uzdiyem</a:t>
            </a:r>
          </a:p>
          <a:p>
            <a:r>
              <a:rPr lang="en-US" dirty="0" err="1"/>
              <a:t>Komite</a:t>
            </a:r>
            <a:r>
              <a:rPr lang="en-US" dirty="0"/>
              <a:t>: Prof. Dr. </a:t>
            </a:r>
            <a:r>
              <a:rPr lang="en-US" dirty="0" err="1"/>
              <a:t>Hayati</a:t>
            </a:r>
            <a:r>
              <a:rPr lang="en-US" dirty="0"/>
              <a:t> </a:t>
            </a:r>
            <a:r>
              <a:rPr lang="en-US" dirty="0" err="1"/>
              <a:t>Olgun</a:t>
            </a:r>
            <a:r>
              <a:rPr lang="en-US" dirty="0"/>
              <a:t>(Tez </a:t>
            </a:r>
            <a:r>
              <a:rPr lang="en-US" dirty="0" err="1"/>
              <a:t>danışmanı</a:t>
            </a:r>
            <a:r>
              <a:rPr lang="en-US" dirty="0"/>
              <a:t>),  </a:t>
            </a:r>
          </a:p>
          <a:p>
            <a:r>
              <a:rPr lang="en-US" dirty="0"/>
              <a:t>Prof. Dr. Harun Kemal </a:t>
            </a:r>
            <a:r>
              <a:rPr lang="en-US" dirty="0" err="1"/>
              <a:t>Öztürk</a:t>
            </a:r>
            <a:r>
              <a:rPr lang="en-US" dirty="0"/>
              <a:t>,  </a:t>
            </a:r>
          </a:p>
          <a:p>
            <a:r>
              <a:rPr lang="en-US" dirty="0"/>
              <a:t>Dr. </a:t>
            </a:r>
            <a:r>
              <a:rPr lang="en-US" dirty="0" err="1"/>
              <a:t>Öğretim</a:t>
            </a:r>
            <a:r>
              <a:rPr lang="en-US" dirty="0"/>
              <a:t> </a:t>
            </a:r>
            <a:r>
              <a:rPr lang="en-US" dirty="0" err="1"/>
              <a:t>Üyesi</a:t>
            </a:r>
            <a:r>
              <a:rPr lang="en-US" dirty="0"/>
              <a:t> </a:t>
            </a:r>
            <a:r>
              <a:rPr lang="en-US" dirty="0" err="1"/>
              <a:t>Özben</a:t>
            </a:r>
            <a:r>
              <a:rPr lang="en-US" dirty="0"/>
              <a:t> </a:t>
            </a:r>
            <a:r>
              <a:rPr lang="en-US" dirty="0" err="1"/>
              <a:t>Kutlu</a:t>
            </a:r>
            <a:endParaRPr lang="en-US" dirty="0"/>
          </a:p>
          <a:p>
            <a:r>
              <a:rPr lang="en-US" dirty="0" err="1"/>
              <a:t>Ege</a:t>
            </a:r>
            <a:r>
              <a:rPr lang="en-US" dirty="0"/>
              <a:t> </a:t>
            </a:r>
            <a:r>
              <a:rPr lang="en-US" dirty="0" err="1"/>
              <a:t>Üniversitesi</a:t>
            </a:r>
            <a:r>
              <a:rPr lang="en-US" dirty="0"/>
              <a:t> </a:t>
            </a:r>
            <a:r>
              <a:rPr lang="en-US" dirty="0" err="1"/>
              <a:t>Güneş</a:t>
            </a:r>
            <a:r>
              <a:rPr lang="en-US" dirty="0"/>
              <a:t> </a:t>
            </a:r>
            <a:r>
              <a:rPr lang="en-US" dirty="0" err="1"/>
              <a:t>Enerjisi</a:t>
            </a:r>
            <a:r>
              <a:rPr lang="en-US" dirty="0"/>
              <a:t> </a:t>
            </a:r>
            <a:r>
              <a:rPr lang="en-US" dirty="0" err="1"/>
              <a:t>Enstitüsü</a:t>
            </a:r>
            <a:r>
              <a:rPr lang="en-US" dirty="0"/>
              <a:t> –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Teknolojisi</a:t>
            </a:r>
            <a:r>
              <a:rPr lang="en-US" dirty="0"/>
              <a:t> </a:t>
            </a:r>
            <a:r>
              <a:rPr lang="en-US" dirty="0" err="1"/>
              <a:t>Anabilimdalı</a:t>
            </a:r>
            <a:endParaRPr lang="en-US" dirty="0"/>
          </a:p>
          <a:p>
            <a:r>
              <a:rPr lang="en-US" dirty="0"/>
              <a:t>Haziran 20, 2025</a:t>
            </a:r>
          </a:p>
        </p:txBody>
      </p:sp>
    </p:spTree>
    <p:extLst>
      <p:ext uri="{BB962C8B-B14F-4D97-AF65-F5344CB8AC3E}">
        <p14:creationId xmlns:p14="http://schemas.microsoft.com/office/powerpoint/2010/main" val="4101100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3E03A-0C6F-1770-1FDB-EF2712A42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CA809-6406-46C2-B92A-68ED3F2F3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4333937" cy="44106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dirty="0" err="1"/>
              <a:t>Dönem</a:t>
            </a:r>
            <a:r>
              <a:rPr lang="en-US" sz="4000" dirty="0"/>
              <a:t> </a:t>
            </a:r>
            <a:r>
              <a:rPr lang="en-US" sz="4000" dirty="0" err="1"/>
              <a:t>İçinde</a:t>
            </a:r>
            <a:r>
              <a:rPr lang="en-US" sz="4000" dirty="0"/>
              <a:t> </a:t>
            </a:r>
            <a:r>
              <a:rPr lang="en-US" sz="4000" dirty="0" err="1"/>
              <a:t>Yapılan</a:t>
            </a:r>
            <a:r>
              <a:rPr lang="en-US" sz="4000" dirty="0"/>
              <a:t> </a:t>
            </a:r>
            <a:r>
              <a:rPr lang="en-US" sz="4000" dirty="0" err="1"/>
              <a:t>Çalışmalar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691481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0114C-EB7F-DA0D-55D3-095E2AE9F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217FD-8882-81A5-D9E4-A848B6999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Verisi</a:t>
            </a:r>
            <a:r>
              <a:rPr lang="en-US" dirty="0"/>
              <a:t> </a:t>
            </a:r>
            <a:r>
              <a:rPr lang="en-US" dirty="0" err="1"/>
              <a:t>Toplama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B09FA-908A-318A-F77B-3B19ED355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Modak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arkadaşları</a:t>
            </a:r>
            <a:r>
              <a:rPr lang="en-US" dirty="0"/>
              <a:t> (2023) </a:t>
            </a:r>
            <a:r>
              <a:rPr lang="en-US" baseline="30000" dirty="0"/>
              <a:t>[1]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karışık</a:t>
            </a:r>
            <a:r>
              <a:rPr lang="en-US" dirty="0"/>
              <a:t> </a:t>
            </a:r>
            <a:r>
              <a:rPr lang="en-US" dirty="0" err="1"/>
              <a:t>pişmiş</a:t>
            </a:r>
            <a:r>
              <a:rPr lang="en-US" dirty="0"/>
              <a:t> </a:t>
            </a:r>
            <a:r>
              <a:rPr lang="en-US" dirty="0" err="1"/>
              <a:t>gıda</a:t>
            </a:r>
            <a:r>
              <a:rPr lang="en-US" dirty="0"/>
              <a:t> </a:t>
            </a:r>
            <a:r>
              <a:rPr lang="en-US" dirty="0" err="1"/>
              <a:t>atığı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üç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sıcaklığı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400 °</a:t>
            </a:r>
            <a:r>
              <a:rPr lang="en-US" dirty="0" err="1"/>
              <a:t>C’de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 ≈ %45 bio-</a:t>
            </a:r>
            <a:r>
              <a:rPr lang="en-US" dirty="0" err="1"/>
              <a:t>yağ</a:t>
            </a:r>
            <a:r>
              <a:rPr lang="en-US" dirty="0"/>
              <a:t> </a:t>
            </a:r>
            <a:r>
              <a:rPr lang="en-US" dirty="0" err="1"/>
              <a:t>verimi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500 °</a:t>
            </a:r>
            <a:r>
              <a:rPr lang="en-US" dirty="0" err="1"/>
              <a:t>C’de</a:t>
            </a:r>
            <a:r>
              <a:rPr lang="en-US" dirty="0"/>
              <a:t> </a:t>
            </a:r>
            <a:r>
              <a:rPr lang="en-US" dirty="0" err="1"/>
              <a:t>aromatik</a:t>
            </a:r>
            <a:r>
              <a:rPr lang="en-US" dirty="0"/>
              <a:t> </a:t>
            </a:r>
            <a:r>
              <a:rPr lang="en-US" dirty="0" err="1"/>
              <a:t>fraksiyon</a:t>
            </a:r>
            <a:r>
              <a:rPr lang="en-US" dirty="0"/>
              <a:t> &gt; %60</a:t>
            </a:r>
          </a:p>
          <a:p>
            <a:pPr>
              <a:lnSpc>
                <a:spcPct val="150000"/>
              </a:lnSpc>
            </a:pPr>
            <a:r>
              <a:rPr lang="en-US" dirty="0"/>
              <a:t>Bordoloi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arkadaşları</a:t>
            </a:r>
            <a:r>
              <a:rPr lang="en-US" dirty="0"/>
              <a:t> (2016)</a:t>
            </a:r>
            <a:r>
              <a:rPr lang="en-US" baseline="30000" dirty="0"/>
              <a:t> [2]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tatlı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mikroalgı</a:t>
            </a:r>
            <a:r>
              <a:rPr lang="en-US" dirty="0"/>
              <a:t> </a:t>
            </a:r>
            <a:r>
              <a:rPr lang="en-US" i="1" dirty="0"/>
              <a:t>Scenedesmus </a:t>
            </a:r>
            <a:r>
              <a:rPr lang="en-US" i="1" dirty="0" err="1"/>
              <a:t>dimorphus</a:t>
            </a:r>
            <a:r>
              <a:rPr lang="en-US" i="1" dirty="0"/>
              <a:t> </a:t>
            </a:r>
            <a:r>
              <a:rPr lang="en-US" dirty="0" err="1"/>
              <a:t>biyokütlesi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500 °</a:t>
            </a:r>
            <a:r>
              <a:rPr lang="en-US" dirty="0" err="1"/>
              <a:t>C’de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sıcaklığı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bio-</a:t>
            </a:r>
            <a:r>
              <a:rPr lang="en-US" dirty="0" err="1"/>
              <a:t>yağ</a:t>
            </a:r>
            <a:r>
              <a:rPr lang="en-US" dirty="0"/>
              <a:t> </a:t>
            </a:r>
            <a:r>
              <a:rPr lang="en-US" dirty="0" err="1"/>
              <a:t>verimi</a:t>
            </a:r>
            <a:r>
              <a:rPr lang="en-US" dirty="0"/>
              <a:t> %39,6 </a:t>
            </a:r>
          </a:p>
          <a:p>
            <a:pPr lvl="2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tr-TR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1B4EC4DE-4575-A68B-FEBE-414442F78453}"/>
              </a:ext>
            </a:extLst>
          </p:cNvPr>
          <p:cNvSpPr txBox="1"/>
          <p:nvPr/>
        </p:nvSpPr>
        <p:spPr>
          <a:xfrm>
            <a:off x="1" y="6396335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[2]: Bordoloi, N., </a:t>
            </a:r>
            <a:r>
              <a:rPr lang="en-US" sz="1200" dirty="0" err="1"/>
              <a:t>Narzari</a:t>
            </a:r>
            <a:r>
              <a:rPr lang="en-US" sz="1200" dirty="0"/>
              <a:t>, R., Sut, D., Saikia, R., Chutia, R. S., &amp; Kataki, R. </a:t>
            </a:r>
            <a:r>
              <a:rPr lang="en-US" sz="1200" i="1" dirty="0"/>
              <a:t>Characterization of bio-oil and its sub-fractions from pyrolysis of Scenedesmus </a:t>
            </a:r>
            <a:r>
              <a:rPr lang="en-US" sz="1200" i="1" dirty="0" err="1"/>
              <a:t>dimorphus</a:t>
            </a:r>
            <a:r>
              <a:rPr lang="en-US" sz="1200" dirty="0"/>
              <a:t>. Renewable Energy, 98 (2016): 245–253. https://doi.org/10.1016/j.renene.2016.03.081 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D4AF07D-9B2F-B2B9-0460-491285DFDB6B}"/>
              </a:ext>
            </a:extLst>
          </p:cNvPr>
          <p:cNvSpPr txBox="1"/>
          <p:nvPr/>
        </p:nvSpPr>
        <p:spPr>
          <a:xfrm>
            <a:off x="0" y="5934670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[1]: Modak, S., Katiyar, P., Yadav, S., Jain, S., Gole, B., &amp; Talukdar, D. </a:t>
            </a:r>
            <a:r>
              <a:rPr lang="en-US" sz="1200" i="1" dirty="0"/>
              <a:t>Generation and characterization of bio-oil obtained from the slow pyrolysis of cooked food waste at various temperatures</a:t>
            </a:r>
            <a:r>
              <a:rPr lang="en-US" sz="1200" dirty="0"/>
              <a:t>. Waste Management, 158 (2023): 23–36. https://doi.org/10.1016/j.wasman.2023.01.002 </a:t>
            </a:r>
          </a:p>
        </p:txBody>
      </p:sp>
    </p:spTree>
    <p:extLst>
      <p:ext uri="{BB962C8B-B14F-4D97-AF65-F5344CB8AC3E}">
        <p14:creationId xmlns:p14="http://schemas.microsoft.com/office/powerpoint/2010/main" val="693958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A0CB0-F31B-F127-3659-7960E1FE2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854F4-E224-1FF5-0E6C-675A1C453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Verisi</a:t>
            </a:r>
            <a:r>
              <a:rPr lang="en-US" dirty="0"/>
              <a:t> </a:t>
            </a:r>
            <a:r>
              <a:rPr lang="en-US" dirty="0" err="1"/>
              <a:t>Toplama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DAEDE-3349-3791-2191-2F72762DF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Sukiran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arkadaşları</a:t>
            </a:r>
            <a:r>
              <a:rPr lang="en-US" dirty="0"/>
              <a:t> (2009) </a:t>
            </a:r>
            <a:r>
              <a:rPr lang="en-US" baseline="30000" dirty="0"/>
              <a:t>[3]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Yağ</a:t>
            </a:r>
            <a:r>
              <a:rPr lang="en-US" dirty="0"/>
              <a:t> </a:t>
            </a:r>
            <a:r>
              <a:rPr lang="en-US" dirty="0" err="1"/>
              <a:t>palmiyesi</a:t>
            </a:r>
            <a:r>
              <a:rPr lang="en-US" dirty="0"/>
              <a:t> (</a:t>
            </a:r>
            <a:r>
              <a:rPr lang="en-US" i="1" dirty="0"/>
              <a:t>Elaeis guineensis</a:t>
            </a:r>
            <a:r>
              <a:rPr lang="en-US" dirty="0"/>
              <a:t>) </a:t>
            </a:r>
            <a:r>
              <a:rPr lang="en-US" dirty="0" err="1"/>
              <a:t>boş</a:t>
            </a:r>
            <a:r>
              <a:rPr lang="en-US" dirty="0"/>
              <a:t> </a:t>
            </a:r>
            <a:r>
              <a:rPr lang="en-US" dirty="0" err="1"/>
              <a:t>meyve</a:t>
            </a:r>
            <a:r>
              <a:rPr lang="en-US" dirty="0"/>
              <a:t> </a:t>
            </a:r>
            <a:r>
              <a:rPr lang="en-US" dirty="0" err="1"/>
              <a:t>salkımları</a:t>
            </a:r>
            <a:r>
              <a:rPr lang="en-US" dirty="0"/>
              <a:t> (EFB)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500 °</a:t>
            </a:r>
            <a:r>
              <a:rPr lang="en-US" dirty="0" err="1"/>
              <a:t>C’de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sıcaklığı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%42,3’e varan bio-</a:t>
            </a:r>
            <a:r>
              <a:rPr lang="en-US" dirty="0" err="1"/>
              <a:t>yağ</a:t>
            </a:r>
            <a:r>
              <a:rPr lang="en-US" dirty="0"/>
              <a:t> </a:t>
            </a:r>
            <a:r>
              <a:rPr lang="en-US" dirty="0" err="1"/>
              <a:t>verimi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20–21 MJ kg⁻¹ HHV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FT-IR </a:t>
            </a:r>
            <a:r>
              <a:rPr lang="en-US" dirty="0" err="1"/>
              <a:t>analizinde</a:t>
            </a:r>
            <a:r>
              <a:rPr lang="en-US" dirty="0"/>
              <a:t> </a:t>
            </a:r>
            <a:r>
              <a:rPr lang="en-US" dirty="0" err="1"/>
              <a:t>fenolik-ketonik</a:t>
            </a:r>
            <a:r>
              <a:rPr lang="en-US" dirty="0"/>
              <a:t> </a:t>
            </a:r>
            <a:r>
              <a:rPr lang="en-US" dirty="0" err="1"/>
              <a:t>zenginlik</a:t>
            </a:r>
            <a:r>
              <a:rPr lang="en-US" dirty="0"/>
              <a:t> 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F71D62F-DD23-75B6-8BCB-86D175A97DF5}"/>
              </a:ext>
            </a:extLst>
          </p:cNvPr>
          <p:cNvSpPr txBox="1"/>
          <p:nvPr/>
        </p:nvSpPr>
        <p:spPr>
          <a:xfrm>
            <a:off x="0" y="6396335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[3] Azri </a:t>
            </a:r>
            <a:r>
              <a:rPr lang="en-US" sz="1200" dirty="0" err="1"/>
              <a:t>Sukiran</a:t>
            </a:r>
            <a:r>
              <a:rPr lang="en-US" sz="1200" dirty="0"/>
              <a:t>, M. M., </a:t>
            </a:r>
            <a:r>
              <a:rPr lang="en-US" sz="1200" dirty="0" err="1"/>
              <a:t>Institusi</a:t>
            </a:r>
            <a:r>
              <a:rPr lang="en-US" sz="1200" dirty="0"/>
              <a:t>, P., Baru Bangi, B., Mee Chin, C., &amp; Kartini Abu Bakar, N. </a:t>
            </a:r>
            <a:r>
              <a:rPr lang="en-US" sz="1200" i="1" dirty="0"/>
              <a:t>Bio-oils from Pyrolysis of Oil Palm Empty Fruit Bunches</a:t>
            </a:r>
            <a:r>
              <a:rPr lang="en-US" sz="1200" dirty="0"/>
              <a:t>. American Journal of Applied Sciences, 6(5) (2009): 869–875. </a:t>
            </a:r>
          </a:p>
        </p:txBody>
      </p:sp>
    </p:spTree>
    <p:extLst>
      <p:ext uri="{BB962C8B-B14F-4D97-AF65-F5344CB8AC3E}">
        <p14:creationId xmlns:p14="http://schemas.microsoft.com/office/powerpoint/2010/main" val="3170775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534CA-63FC-66DF-0B0E-38666CBA8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114CA-33C9-8A4E-5027-F3266D543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Verisi</a:t>
            </a:r>
            <a:r>
              <a:rPr lang="en-US" dirty="0"/>
              <a:t> </a:t>
            </a:r>
            <a:r>
              <a:rPr lang="en-US" dirty="0" err="1"/>
              <a:t>Toplama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3AB3D-FEF8-11A6-0CCC-1C108D0B0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Mullen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arkadaşları</a:t>
            </a:r>
            <a:r>
              <a:rPr lang="en-US" dirty="0"/>
              <a:t> (2010)</a:t>
            </a:r>
            <a:r>
              <a:rPr lang="en-US" baseline="30000" dirty="0"/>
              <a:t> [4]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arpa</a:t>
            </a:r>
            <a:r>
              <a:rPr lang="en-US" dirty="0"/>
              <a:t> </a:t>
            </a:r>
            <a:r>
              <a:rPr lang="en-US" dirty="0" err="1"/>
              <a:t>sapı</a:t>
            </a:r>
            <a:r>
              <a:rPr lang="en-US" dirty="0"/>
              <a:t>, </a:t>
            </a:r>
            <a:r>
              <a:rPr lang="en-US" dirty="0" err="1"/>
              <a:t>arpa</a:t>
            </a:r>
            <a:r>
              <a:rPr lang="en-US" dirty="0"/>
              <a:t> </a:t>
            </a:r>
            <a:r>
              <a:rPr lang="en-US" dirty="0" err="1"/>
              <a:t>kabukları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damıtma</a:t>
            </a:r>
            <a:r>
              <a:rPr lang="en-US" dirty="0"/>
              <a:t> </a:t>
            </a:r>
            <a:r>
              <a:rPr lang="en-US" dirty="0" err="1"/>
              <a:t>işlemi</a:t>
            </a:r>
            <a:r>
              <a:rPr lang="en-US" dirty="0"/>
              <a:t> </a:t>
            </a:r>
            <a:r>
              <a:rPr lang="en-US" dirty="0" err="1"/>
              <a:t>sonucunda</a:t>
            </a:r>
            <a:r>
              <a:rPr lang="en-US" dirty="0"/>
              <a:t> </a:t>
            </a:r>
            <a:r>
              <a:rPr lang="en-US" dirty="0" err="1"/>
              <a:t>elde</a:t>
            </a:r>
            <a:r>
              <a:rPr lang="en-US" dirty="0"/>
              <a:t> </a:t>
            </a:r>
            <a:r>
              <a:rPr lang="en-US" dirty="0" err="1"/>
              <a:t>edilen</a:t>
            </a:r>
            <a:r>
              <a:rPr lang="en-US" dirty="0"/>
              <a:t> </a:t>
            </a:r>
            <a:r>
              <a:rPr lang="en-US" dirty="0" err="1"/>
              <a:t>kurutulmuş</a:t>
            </a:r>
            <a:r>
              <a:rPr lang="en-US" dirty="0"/>
              <a:t> </a:t>
            </a:r>
            <a:r>
              <a:rPr lang="en-US" dirty="0" err="1"/>
              <a:t>küspe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çözünür</a:t>
            </a:r>
            <a:r>
              <a:rPr lang="en-US" dirty="0"/>
              <a:t> </a:t>
            </a:r>
            <a:r>
              <a:rPr lang="en-US" dirty="0" err="1"/>
              <a:t>bileşenler</a:t>
            </a:r>
            <a:r>
              <a:rPr lang="en-US" dirty="0"/>
              <a:t> (DDGS) </a:t>
            </a:r>
            <a:r>
              <a:rPr lang="en-US" dirty="0" err="1"/>
              <a:t>olmak</a:t>
            </a:r>
            <a:r>
              <a:rPr lang="en-US" dirty="0"/>
              <a:t> </a:t>
            </a:r>
            <a:r>
              <a:rPr lang="en-US" dirty="0" err="1"/>
              <a:t>üzere</a:t>
            </a:r>
            <a:r>
              <a:rPr lang="en-US" dirty="0"/>
              <a:t> </a:t>
            </a:r>
            <a:r>
              <a:rPr lang="en-US" dirty="0" err="1"/>
              <a:t>üç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arpa</a:t>
            </a:r>
            <a:r>
              <a:rPr lang="en-US" dirty="0"/>
              <a:t> </a:t>
            </a:r>
            <a:r>
              <a:rPr lang="en-US" dirty="0" err="1"/>
              <a:t>biyokütlesi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500 °</a:t>
            </a:r>
            <a:r>
              <a:rPr lang="en-US" dirty="0" err="1"/>
              <a:t>C’lik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hızlı</a:t>
            </a:r>
            <a:r>
              <a:rPr lang="en-US" dirty="0"/>
              <a:t> </a:t>
            </a:r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sıcaklığı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bio-</a:t>
            </a:r>
            <a:r>
              <a:rPr lang="en-US" dirty="0" err="1"/>
              <a:t>yağ</a:t>
            </a:r>
            <a:r>
              <a:rPr lang="en-US" dirty="0"/>
              <a:t> </a:t>
            </a:r>
            <a:r>
              <a:rPr lang="en-US" dirty="0" err="1"/>
              <a:t>verimi</a:t>
            </a:r>
            <a:r>
              <a:rPr lang="en-US" dirty="0"/>
              <a:t> %42–50 </a:t>
            </a:r>
            <a:r>
              <a:rPr lang="en-US" dirty="0" err="1"/>
              <a:t>aralığında</a:t>
            </a:r>
            <a:endParaRPr lang="tr-TR" dirty="0"/>
          </a:p>
          <a:p>
            <a:pPr>
              <a:lnSpc>
                <a:spcPct val="150000"/>
              </a:lnSpc>
            </a:pPr>
            <a:r>
              <a:rPr lang="en-US" dirty="0" err="1"/>
              <a:t>Chukwuneke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arkadaşları</a:t>
            </a:r>
            <a:r>
              <a:rPr lang="en-US" dirty="0"/>
              <a:t> (2019)</a:t>
            </a:r>
            <a:r>
              <a:rPr lang="en-US" baseline="30000" dirty="0"/>
              <a:t> [5]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i="1" dirty="0"/>
              <a:t>Swietenia macrophylla </a:t>
            </a:r>
            <a:r>
              <a:rPr lang="en-US" dirty="0"/>
              <a:t>(</a:t>
            </a:r>
            <a:r>
              <a:rPr lang="en-US" dirty="0" err="1"/>
              <a:t>maun</a:t>
            </a:r>
            <a:r>
              <a:rPr lang="en-US" dirty="0"/>
              <a:t>) </a:t>
            </a:r>
            <a:r>
              <a:rPr lang="en-US" dirty="0" err="1"/>
              <a:t>odun</a:t>
            </a:r>
            <a:r>
              <a:rPr lang="en-US" dirty="0"/>
              <a:t> </a:t>
            </a:r>
            <a:r>
              <a:rPr lang="en-US" dirty="0" err="1"/>
              <a:t>atığı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450 °</a:t>
            </a:r>
            <a:r>
              <a:rPr lang="en-US" dirty="0" err="1"/>
              <a:t>C’lik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sıcaklığı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maksimum</a:t>
            </a:r>
            <a:r>
              <a:rPr lang="en-US" dirty="0"/>
              <a:t> bio-</a:t>
            </a:r>
            <a:r>
              <a:rPr lang="en-US" dirty="0" err="1"/>
              <a:t>yağ</a:t>
            </a:r>
            <a:r>
              <a:rPr lang="en-US" dirty="0"/>
              <a:t> </a:t>
            </a:r>
            <a:r>
              <a:rPr lang="en-US" dirty="0" err="1"/>
              <a:t>verimi</a:t>
            </a:r>
            <a:r>
              <a:rPr lang="en-US" dirty="0"/>
              <a:t> %69,5</a:t>
            </a:r>
          </a:p>
          <a:p>
            <a:pPr lvl="1">
              <a:lnSpc>
                <a:spcPct val="150000"/>
              </a:lnSpc>
            </a:pPr>
            <a:endParaRPr lang="tr-TR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53D72267-034A-3D42-7766-014E497CE1F2}"/>
              </a:ext>
            </a:extLst>
          </p:cNvPr>
          <p:cNvSpPr txBox="1"/>
          <p:nvPr/>
        </p:nvSpPr>
        <p:spPr>
          <a:xfrm>
            <a:off x="1" y="6396335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[5]: </a:t>
            </a:r>
            <a:r>
              <a:rPr lang="en-US" sz="1200" dirty="0" err="1"/>
              <a:t>Chukwuneke</a:t>
            </a:r>
            <a:r>
              <a:rPr lang="en-US" sz="1200" dirty="0"/>
              <a:t>, J. L., </a:t>
            </a:r>
            <a:r>
              <a:rPr lang="en-US" sz="1200" dirty="0" err="1"/>
              <a:t>Ewulonu</a:t>
            </a:r>
            <a:r>
              <a:rPr lang="en-US" sz="1200" dirty="0"/>
              <a:t>, M. C., </a:t>
            </a:r>
            <a:r>
              <a:rPr lang="en-US" sz="1200" dirty="0" err="1"/>
              <a:t>Chukwujike</a:t>
            </a:r>
            <a:r>
              <a:rPr lang="en-US" sz="1200" dirty="0"/>
              <a:t>, I. C., &amp; Okolie, P. C. </a:t>
            </a:r>
            <a:r>
              <a:rPr lang="en-US" sz="1200" i="1" dirty="0" err="1"/>
              <a:t>Physico</a:t>
            </a:r>
            <a:r>
              <a:rPr lang="en-US" sz="1200" i="1" dirty="0"/>
              <a:t>-chemical analysis of pyrolyzed bio-oil from Swietenia macrophylla (mahogany) wood</a:t>
            </a:r>
            <a:r>
              <a:rPr lang="en-US" sz="1200" dirty="0"/>
              <a:t>. </a:t>
            </a:r>
            <a:r>
              <a:rPr lang="en-US" sz="1200" dirty="0" err="1"/>
              <a:t>Heliyon</a:t>
            </a:r>
            <a:r>
              <a:rPr lang="en-US" sz="1200" dirty="0"/>
              <a:t>, 5(6) (2019): e01790. https://doi.org/10.1016/j.heliyon.2019.e01790  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7D97605-54F1-39BE-3A9E-B7D059E540E7}"/>
              </a:ext>
            </a:extLst>
          </p:cNvPr>
          <p:cNvSpPr txBox="1"/>
          <p:nvPr/>
        </p:nvSpPr>
        <p:spPr>
          <a:xfrm>
            <a:off x="0" y="5934670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[4]: Mullen, C. A., Boateng, A. A., Hicks, K. B., Goldberg, N. M., &amp; Moreau, R. A. </a:t>
            </a:r>
            <a:r>
              <a:rPr lang="en-US" sz="1200" i="1" dirty="0"/>
              <a:t>Analysis and comparison of bio-oil produced by fast pyrolysis from three barley biomass/byproduct streams</a:t>
            </a:r>
            <a:r>
              <a:rPr lang="en-US" sz="1200" dirty="0"/>
              <a:t>. Energy &amp; Fuels, 24(1) (2010): 699–706. https://doi.org/10.1021/ef900912s </a:t>
            </a:r>
          </a:p>
        </p:txBody>
      </p:sp>
    </p:spTree>
    <p:extLst>
      <p:ext uri="{BB962C8B-B14F-4D97-AF65-F5344CB8AC3E}">
        <p14:creationId xmlns:p14="http://schemas.microsoft.com/office/powerpoint/2010/main" val="3935813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B2799-1B9E-E6BD-0232-084F4ECA8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3CCAA-5742-D5F6-6B79-777B6112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Verisi</a:t>
            </a:r>
            <a:r>
              <a:rPr lang="en-US" dirty="0"/>
              <a:t> </a:t>
            </a:r>
            <a:r>
              <a:rPr lang="en-US" dirty="0" err="1"/>
              <a:t>Toplama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3C000-DDD9-0CC0-2AD2-303B5FA22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Khor,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arkadaşları</a:t>
            </a:r>
            <a:r>
              <a:rPr lang="en-US" dirty="0"/>
              <a:t> (2009)</a:t>
            </a:r>
            <a:r>
              <a:rPr lang="en-US" baseline="30000" dirty="0"/>
              <a:t> [6]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yağ</a:t>
            </a:r>
            <a:r>
              <a:rPr lang="en-US" dirty="0"/>
              <a:t> </a:t>
            </a:r>
            <a:r>
              <a:rPr lang="en-US" dirty="0" err="1"/>
              <a:t>palmiyesi</a:t>
            </a:r>
            <a:r>
              <a:rPr lang="en-US" dirty="0"/>
              <a:t> </a:t>
            </a:r>
            <a:r>
              <a:rPr lang="en-US" dirty="0" err="1"/>
              <a:t>boş</a:t>
            </a:r>
            <a:r>
              <a:rPr lang="en-US" dirty="0"/>
              <a:t> </a:t>
            </a:r>
            <a:r>
              <a:rPr lang="en-US" dirty="0" err="1"/>
              <a:t>meyve</a:t>
            </a:r>
            <a:r>
              <a:rPr lang="en-US" dirty="0"/>
              <a:t> </a:t>
            </a:r>
            <a:r>
              <a:rPr lang="en-US" dirty="0" err="1"/>
              <a:t>salkımı</a:t>
            </a:r>
            <a:r>
              <a:rPr lang="en-US" dirty="0"/>
              <a:t> </a:t>
            </a:r>
            <a:r>
              <a:rPr lang="en-US" dirty="0" err="1"/>
              <a:t>lifleri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600 °</a:t>
            </a:r>
            <a:r>
              <a:rPr lang="en-US" dirty="0" err="1"/>
              <a:t>C’lik</a:t>
            </a:r>
            <a:r>
              <a:rPr lang="en-US" dirty="0"/>
              <a:t> </a:t>
            </a:r>
            <a:r>
              <a:rPr lang="en-US" dirty="0" err="1"/>
              <a:t>yavaş</a:t>
            </a:r>
            <a:r>
              <a:rPr lang="en-US" dirty="0"/>
              <a:t> </a:t>
            </a:r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sıcaklığı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yalnızca</a:t>
            </a:r>
            <a:r>
              <a:rPr lang="en-US" dirty="0"/>
              <a:t> %13 </a:t>
            </a:r>
            <a:r>
              <a:rPr lang="en-US" dirty="0" err="1"/>
              <a:t>yağ</a:t>
            </a:r>
            <a:r>
              <a:rPr lang="en-US" dirty="0"/>
              <a:t> </a:t>
            </a:r>
            <a:r>
              <a:rPr lang="en-US" dirty="0" err="1"/>
              <a:t>verimine</a:t>
            </a:r>
            <a:r>
              <a:rPr lang="en-US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asit</a:t>
            </a:r>
            <a:r>
              <a:rPr lang="en-US" dirty="0"/>
              <a:t> </a:t>
            </a:r>
            <a:r>
              <a:rPr lang="en-US" dirty="0" err="1"/>
              <a:t>sayısı</a:t>
            </a:r>
            <a:r>
              <a:rPr lang="en-US" dirty="0"/>
              <a:t> (103 mg KOH g⁻¹) </a:t>
            </a:r>
            <a:r>
              <a:rPr lang="en-US" dirty="0" err="1"/>
              <a:t>nedeniyle</a:t>
            </a:r>
            <a:r>
              <a:rPr lang="en-US" dirty="0"/>
              <a:t> </a:t>
            </a:r>
            <a:r>
              <a:rPr lang="en-US" dirty="0" err="1"/>
              <a:t>depolama</a:t>
            </a:r>
            <a:r>
              <a:rPr lang="en-US" dirty="0"/>
              <a:t>/</a:t>
            </a:r>
            <a:r>
              <a:rPr lang="en-US" dirty="0" err="1"/>
              <a:t>taşıma</a:t>
            </a:r>
            <a:r>
              <a:rPr lang="en-US" dirty="0"/>
              <a:t> </a:t>
            </a:r>
            <a:r>
              <a:rPr lang="en-US" dirty="0" err="1"/>
              <a:t>korozivitesine</a:t>
            </a:r>
            <a:r>
              <a:rPr lang="en-US" dirty="0"/>
              <a:t> </a:t>
            </a:r>
            <a:r>
              <a:rPr lang="en-US" dirty="0" err="1"/>
              <a:t>vurgu</a:t>
            </a:r>
            <a:r>
              <a:rPr lang="en-US" dirty="0"/>
              <a:t> </a:t>
            </a:r>
            <a:r>
              <a:rPr lang="en-US" dirty="0" err="1"/>
              <a:t>yapılmıştır</a:t>
            </a:r>
            <a:r>
              <a:rPr lang="en-US" dirty="0"/>
              <a:t>. </a:t>
            </a:r>
            <a:endParaRPr lang="tr-TR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1DDE9387-41C4-1192-ABF0-6A310D140411}"/>
              </a:ext>
            </a:extLst>
          </p:cNvPr>
          <p:cNvSpPr txBox="1"/>
          <p:nvPr/>
        </p:nvSpPr>
        <p:spPr>
          <a:xfrm>
            <a:off x="0" y="6396335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[6]: Khor, K. H., Lim, K. O., &amp; Zainal, Z. A. </a:t>
            </a:r>
            <a:r>
              <a:rPr lang="en-US" sz="1200" i="1" dirty="0"/>
              <a:t>Characterization of Bio-Oil: A By-Product from Slow Pyrolysis of Oil Palm Empty Fruit Bunches</a:t>
            </a:r>
            <a:r>
              <a:rPr lang="en-US" sz="1200" dirty="0"/>
              <a:t>. American Journal of Applied Sciences, 6(9) (2009): 1647–1652. </a:t>
            </a:r>
          </a:p>
        </p:txBody>
      </p:sp>
    </p:spTree>
    <p:extLst>
      <p:ext uri="{BB962C8B-B14F-4D97-AF65-F5344CB8AC3E}">
        <p14:creationId xmlns:p14="http://schemas.microsoft.com/office/powerpoint/2010/main" val="3855981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8B68B-566A-8D2B-9218-C80A5D89C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25B1D-C487-B808-C58E-8FC710EB4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BaşlıkPiroliz</a:t>
            </a:r>
            <a:r>
              <a:rPr lang="en-US" dirty="0"/>
              <a:t> </a:t>
            </a:r>
            <a:r>
              <a:rPr lang="en-US" dirty="0" err="1"/>
              <a:t>Verisi</a:t>
            </a:r>
            <a:r>
              <a:rPr lang="en-US" dirty="0"/>
              <a:t> </a:t>
            </a:r>
            <a:r>
              <a:rPr lang="en-US" dirty="0" err="1"/>
              <a:t>Toplama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3DACF-5D84-9BBB-40BB-DD81CC330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Sampaio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arkadaşları</a:t>
            </a:r>
            <a:r>
              <a:rPr lang="en-US" dirty="0"/>
              <a:t>(2025)</a:t>
            </a:r>
            <a:r>
              <a:rPr lang="en-US" baseline="30000" dirty="0"/>
              <a:t> [7]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kapsamlı</a:t>
            </a:r>
            <a:r>
              <a:rPr lang="en-US" dirty="0"/>
              <a:t> </a:t>
            </a:r>
            <a:r>
              <a:rPr lang="en-US" dirty="0" err="1"/>
              <a:t>derleme</a:t>
            </a:r>
            <a:r>
              <a:rPr lang="en-US" dirty="0"/>
              <a:t> </a:t>
            </a:r>
            <a:r>
              <a:rPr lang="en-US" dirty="0" err="1"/>
              <a:t>çalışması</a:t>
            </a:r>
            <a:r>
              <a:rPr lang="en-US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14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biyokütle</a:t>
            </a:r>
            <a:r>
              <a:rPr lang="en-US" dirty="0"/>
              <a:t> </a:t>
            </a:r>
            <a:r>
              <a:rPr lang="en-US" dirty="0" err="1"/>
              <a:t>incelenip</a:t>
            </a:r>
            <a:r>
              <a:rPr lang="en-US" dirty="0"/>
              <a:t> </a:t>
            </a:r>
            <a:r>
              <a:rPr lang="en-US" dirty="0" err="1"/>
              <a:t>karşılaştırılmıştır</a:t>
            </a:r>
            <a:r>
              <a:rPr lang="en-US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Çalışmada</a:t>
            </a:r>
            <a:r>
              <a:rPr lang="en-US" dirty="0"/>
              <a:t>, O/C </a:t>
            </a:r>
            <a:r>
              <a:rPr lang="en-US" dirty="0" err="1"/>
              <a:t>ve</a:t>
            </a:r>
            <a:r>
              <a:rPr lang="en-US" dirty="0"/>
              <a:t> H/C </a:t>
            </a:r>
            <a:r>
              <a:rPr lang="en-US" dirty="0" err="1"/>
              <a:t>oranları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kimyasal</a:t>
            </a:r>
            <a:r>
              <a:rPr lang="en-US" dirty="0"/>
              <a:t> </a:t>
            </a:r>
            <a:r>
              <a:rPr lang="en-US" dirty="0" err="1"/>
              <a:t>dağılım</a:t>
            </a:r>
            <a:r>
              <a:rPr lang="en-US" dirty="0"/>
              <a:t> (</a:t>
            </a:r>
            <a:r>
              <a:rPr lang="en-US" dirty="0" err="1"/>
              <a:t>fenoller</a:t>
            </a:r>
            <a:r>
              <a:rPr lang="en-US" dirty="0"/>
              <a:t>, </a:t>
            </a:r>
            <a:r>
              <a:rPr lang="en-US" dirty="0" err="1"/>
              <a:t>ketonlar</a:t>
            </a:r>
            <a:r>
              <a:rPr lang="en-US" dirty="0"/>
              <a:t>, </a:t>
            </a:r>
            <a:r>
              <a:rPr lang="en-US" dirty="0" err="1"/>
              <a:t>asitler</a:t>
            </a:r>
            <a:r>
              <a:rPr lang="en-US" dirty="0"/>
              <a:t>, </a:t>
            </a:r>
            <a:r>
              <a:rPr lang="en-US" dirty="0" err="1"/>
              <a:t>furanslar</a:t>
            </a:r>
            <a:r>
              <a:rPr lang="en-US" dirty="0"/>
              <a:t> vb.)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ısı</a:t>
            </a:r>
            <a:r>
              <a:rPr lang="en-US" dirty="0"/>
              <a:t> </a:t>
            </a:r>
            <a:r>
              <a:rPr lang="en-US" dirty="0" err="1"/>
              <a:t>değerindeki</a:t>
            </a:r>
            <a:r>
              <a:rPr lang="en-US" dirty="0"/>
              <a:t> (HHV) </a:t>
            </a:r>
            <a:r>
              <a:rPr lang="en-US" dirty="0" err="1"/>
              <a:t>değişimler</a:t>
            </a:r>
            <a:r>
              <a:rPr lang="en-US" dirty="0"/>
              <a:t> </a:t>
            </a:r>
            <a:r>
              <a:rPr lang="en-US" dirty="0" err="1"/>
              <a:t>ortaya</a:t>
            </a:r>
            <a:r>
              <a:rPr lang="en-US" dirty="0"/>
              <a:t> </a:t>
            </a:r>
            <a:r>
              <a:rPr lang="en-US" dirty="0" err="1"/>
              <a:t>konmuştur</a:t>
            </a:r>
            <a:r>
              <a:rPr lang="en-US" dirty="0"/>
              <a:t>. 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8E229EA3-3136-EDA2-D005-71A4A4241760}"/>
              </a:ext>
            </a:extLst>
          </p:cNvPr>
          <p:cNvSpPr txBox="1"/>
          <p:nvPr/>
        </p:nvSpPr>
        <p:spPr>
          <a:xfrm>
            <a:off x="1" y="6396335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[7] Sampaio, T. Q. S., Lima, S. B., &amp; Pires, C. A. M. </a:t>
            </a:r>
            <a:r>
              <a:rPr lang="en-US" sz="1200" i="1" dirty="0"/>
              <a:t>Influence of extractives on the composition of bio-oil from biomass pyrolysis – A review</a:t>
            </a:r>
            <a:r>
              <a:rPr lang="en-US" sz="1200" dirty="0"/>
              <a:t>. Journal of Analytical and Applied Pyrolysis, 186 (2025): 106919. https://doi.org/10.1016/j.jaap.2024.106919 </a:t>
            </a:r>
          </a:p>
        </p:txBody>
      </p:sp>
    </p:spTree>
    <p:extLst>
      <p:ext uri="{BB962C8B-B14F-4D97-AF65-F5344CB8AC3E}">
        <p14:creationId xmlns:p14="http://schemas.microsoft.com/office/powerpoint/2010/main" val="682574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BD837-7C23-4E76-BEA1-CD7EBF244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41F48-A2DD-BDB1-29B9-FFF7483F2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Verisi</a:t>
            </a:r>
            <a:r>
              <a:rPr lang="en-US" dirty="0"/>
              <a:t> </a:t>
            </a:r>
            <a:r>
              <a:rPr lang="en-US" dirty="0" err="1"/>
              <a:t>Toplama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5E316-647A-C365-80CE-357E8090A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7 </a:t>
            </a:r>
            <a:r>
              <a:rPr lang="en-US" dirty="0" err="1"/>
              <a:t>adet</a:t>
            </a:r>
            <a:r>
              <a:rPr lang="en-US" dirty="0"/>
              <a:t> yeni </a:t>
            </a:r>
            <a:r>
              <a:rPr lang="en-US" dirty="0" err="1"/>
              <a:t>çalışmadan</a:t>
            </a:r>
            <a:r>
              <a:rPr lang="en-US" dirty="0"/>
              <a:t> </a:t>
            </a:r>
            <a:r>
              <a:rPr lang="en-US" dirty="0" err="1"/>
              <a:t>toplanan</a:t>
            </a:r>
            <a:r>
              <a:rPr lang="en-US" dirty="0"/>
              <a:t> </a:t>
            </a:r>
            <a:r>
              <a:rPr lang="en-US" dirty="0" err="1"/>
              <a:t>veriler</a:t>
            </a:r>
            <a:r>
              <a:rPr lang="en-US" dirty="0"/>
              <a:t> </a:t>
            </a:r>
            <a:r>
              <a:rPr lang="en-US" dirty="0" err="1"/>
              <a:t>veritabanımıza</a:t>
            </a:r>
            <a:r>
              <a:rPr lang="en-US" dirty="0"/>
              <a:t> </a:t>
            </a:r>
            <a:r>
              <a:rPr lang="en-US" dirty="0" err="1"/>
              <a:t>eklenerek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sayısı</a:t>
            </a:r>
            <a:r>
              <a:rPr lang="en-US" dirty="0"/>
              <a:t> </a:t>
            </a:r>
            <a:r>
              <a:rPr lang="en-US" dirty="0" err="1"/>
              <a:t>genişletilmiştir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/>
              <a:t>Yeni </a:t>
            </a:r>
            <a:r>
              <a:rPr lang="en-US" dirty="0" err="1"/>
              <a:t>eklenen</a:t>
            </a:r>
            <a:r>
              <a:rPr lang="en-US" dirty="0"/>
              <a:t> </a:t>
            </a:r>
            <a:r>
              <a:rPr lang="en-US" dirty="0" err="1"/>
              <a:t>verilerle</a:t>
            </a:r>
            <a:r>
              <a:rPr lang="en-US" dirty="0"/>
              <a:t> </a:t>
            </a:r>
            <a:r>
              <a:rPr lang="en-US" dirty="0" err="1"/>
              <a:t>beraber</a:t>
            </a:r>
            <a:r>
              <a:rPr lang="en-US" dirty="0"/>
              <a:t> </a:t>
            </a:r>
            <a:r>
              <a:rPr lang="en-US" dirty="0" err="1"/>
              <a:t>biyokütle</a:t>
            </a:r>
            <a:r>
              <a:rPr lang="en-US" dirty="0"/>
              <a:t> </a:t>
            </a:r>
            <a:r>
              <a:rPr lang="en-US" dirty="0" err="1"/>
              <a:t>özellikleri</a:t>
            </a:r>
            <a:r>
              <a:rPr lang="en-US" dirty="0"/>
              <a:t>, </a:t>
            </a:r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koşulları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kompozisyonunun</a:t>
            </a:r>
            <a:r>
              <a:rPr lang="en-US" dirty="0"/>
              <a:t> </a:t>
            </a:r>
            <a:r>
              <a:rPr lang="en-US" dirty="0" err="1"/>
              <a:t>yer</a:t>
            </a:r>
            <a:r>
              <a:rPr lang="en-US" dirty="0"/>
              <a:t> </a:t>
            </a:r>
            <a:r>
              <a:rPr lang="en-US" dirty="0" err="1"/>
              <a:t>aldığı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adedi</a:t>
            </a:r>
            <a:r>
              <a:rPr lang="en-US" dirty="0"/>
              <a:t> </a:t>
            </a:r>
            <a:r>
              <a:rPr lang="en-US" dirty="0" err="1"/>
              <a:t>toplamda</a:t>
            </a:r>
            <a:r>
              <a:rPr lang="en-US" dirty="0"/>
              <a:t> 48’den 70’e </a:t>
            </a:r>
            <a:r>
              <a:rPr lang="en-US" dirty="0" err="1"/>
              <a:t>çıkarılmıştır</a:t>
            </a:r>
            <a:r>
              <a:rPr lang="en-US" dirty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18180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923B3-70F1-6078-6663-1EE5D168A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12B3C-ED86-E713-2A92-77155B9DB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Veri </a:t>
            </a:r>
            <a:r>
              <a:rPr lang="en-US" dirty="0" err="1"/>
              <a:t>Önişleme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D6E8D-70AD-A9E7-0B7A-D98B254FD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fazla</a:t>
            </a:r>
            <a:r>
              <a:rPr lang="en-US" dirty="0"/>
              <a:t> </a:t>
            </a:r>
            <a:r>
              <a:rPr lang="en-US" dirty="0" err="1"/>
              <a:t>sayıda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kaynaktan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toplanmış</a:t>
            </a:r>
            <a:r>
              <a:rPr lang="en-US" dirty="0"/>
              <a:t> </a:t>
            </a:r>
            <a:r>
              <a:rPr lang="en-US" dirty="0" err="1"/>
              <a:t>olduğu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hem </a:t>
            </a:r>
            <a:r>
              <a:rPr lang="en-US" dirty="0" err="1"/>
              <a:t>biyokütle</a:t>
            </a:r>
            <a:r>
              <a:rPr lang="en-US" dirty="0"/>
              <a:t> </a:t>
            </a:r>
            <a:r>
              <a:rPr lang="en-US" dirty="0" err="1"/>
              <a:t>özelliklerinde</a:t>
            </a:r>
            <a:r>
              <a:rPr lang="en-US" dirty="0"/>
              <a:t> hem </a:t>
            </a:r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koşullarında</a:t>
            </a:r>
            <a:r>
              <a:rPr lang="en-US" dirty="0"/>
              <a:t> hem de </a:t>
            </a: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kompozisyonu</a:t>
            </a:r>
            <a:r>
              <a:rPr lang="en-US" dirty="0"/>
              <a:t> </a:t>
            </a:r>
            <a:r>
              <a:rPr lang="en-US" dirty="0" err="1"/>
              <a:t>değerlerinde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sayıda</a:t>
            </a:r>
            <a:r>
              <a:rPr lang="en-US" dirty="0"/>
              <a:t> </a:t>
            </a:r>
            <a:r>
              <a:rPr lang="en-US" dirty="0" err="1"/>
              <a:t>eksik</a:t>
            </a:r>
            <a:r>
              <a:rPr lang="en-US" dirty="0"/>
              <a:t> </a:t>
            </a:r>
            <a:r>
              <a:rPr lang="en-US" dirty="0" err="1"/>
              <a:t>bilgi</a:t>
            </a:r>
            <a:r>
              <a:rPr lang="en-US" dirty="0"/>
              <a:t> </a:t>
            </a:r>
            <a:r>
              <a:rPr lang="en-US" dirty="0" err="1"/>
              <a:t>bulunmaktadır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Önceki</a:t>
            </a:r>
            <a:r>
              <a:rPr lang="en-US" dirty="0"/>
              <a:t> </a:t>
            </a:r>
            <a:r>
              <a:rPr lang="en-US" dirty="0" err="1"/>
              <a:t>denemelerimizde</a:t>
            </a:r>
            <a:r>
              <a:rPr lang="en-US" dirty="0"/>
              <a:t> </a:t>
            </a:r>
            <a:r>
              <a:rPr lang="en-US" dirty="0" err="1"/>
              <a:t>eksik</a:t>
            </a:r>
            <a:r>
              <a:rPr lang="en-US" dirty="0"/>
              <a:t> </a:t>
            </a:r>
            <a:r>
              <a:rPr lang="en-US" dirty="0" err="1"/>
              <a:t>bilgilerin</a:t>
            </a:r>
            <a:r>
              <a:rPr lang="en-US" dirty="0"/>
              <a:t> </a:t>
            </a:r>
            <a:r>
              <a:rPr lang="en-US" dirty="0" err="1"/>
              <a:t>tamamlanması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ortalama</a:t>
            </a:r>
            <a:r>
              <a:rPr lang="en-US" dirty="0"/>
              <a:t> </a:t>
            </a:r>
            <a:r>
              <a:rPr lang="en-US" dirty="0" err="1"/>
              <a:t>değer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doldurma</a:t>
            </a:r>
            <a:r>
              <a:rPr lang="en-US" dirty="0"/>
              <a:t> </a:t>
            </a:r>
            <a:r>
              <a:rPr lang="en-US" dirty="0" err="1"/>
              <a:t>yaklaşımı</a:t>
            </a:r>
            <a:r>
              <a:rPr lang="en-US" dirty="0"/>
              <a:t> </a:t>
            </a:r>
            <a:r>
              <a:rPr lang="en-US" dirty="0" err="1"/>
              <a:t>denenmişti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/>
              <a:t>Bu </a:t>
            </a:r>
            <a:r>
              <a:rPr lang="en-US" dirty="0" err="1"/>
              <a:t>dönem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 </a:t>
            </a:r>
            <a:r>
              <a:rPr lang="en-US" dirty="0" err="1"/>
              <a:t>çalışmada</a:t>
            </a:r>
            <a:r>
              <a:rPr lang="en-US" dirty="0"/>
              <a:t> </a:t>
            </a:r>
            <a:r>
              <a:rPr lang="en-US" dirty="0" err="1"/>
              <a:t>eksik</a:t>
            </a:r>
            <a:r>
              <a:rPr lang="en-US" dirty="0"/>
              <a:t> </a:t>
            </a:r>
            <a:r>
              <a:rPr lang="en-US" dirty="0" err="1"/>
              <a:t>bilgiler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ilgili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yaklaşımlar</a:t>
            </a:r>
            <a:r>
              <a:rPr lang="en-US" dirty="0"/>
              <a:t> </a:t>
            </a:r>
            <a:r>
              <a:rPr lang="en-US" dirty="0" err="1"/>
              <a:t>düşünülmüş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denenmiştir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Öncelikle</a:t>
            </a:r>
            <a:r>
              <a:rPr lang="en-US" dirty="0"/>
              <a:t> </a:t>
            </a:r>
            <a:r>
              <a:rPr lang="en-US" dirty="0" err="1"/>
              <a:t>eksik</a:t>
            </a:r>
            <a:r>
              <a:rPr lang="en-US" dirty="0"/>
              <a:t> </a:t>
            </a:r>
            <a:r>
              <a:rPr lang="en-US" dirty="0" err="1"/>
              <a:t>bilgi</a:t>
            </a:r>
            <a:r>
              <a:rPr lang="en-US" dirty="0"/>
              <a:t> </a:t>
            </a:r>
            <a:r>
              <a:rPr lang="en-US" dirty="0" err="1"/>
              <a:t>bulunan</a:t>
            </a:r>
            <a:r>
              <a:rPr lang="en-US" dirty="0"/>
              <a:t> her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değişken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yaklaşım</a:t>
            </a:r>
            <a:r>
              <a:rPr lang="en-US" dirty="0"/>
              <a:t> </a:t>
            </a:r>
            <a:r>
              <a:rPr lang="en-US" dirty="0" err="1"/>
              <a:t>izlenmesi</a:t>
            </a:r>
            <a:r>
              <a:rPr lang="en-US" dirty="0"/>
              <a:t> </a:t>
            </a:r>
            <a:r>
              <a:rPr lang="en-US" dirty="0" err="1"/>
              <a:t>gerektiği</a:t>
            </a:r>
            <a:r>
              <a:rPr lang="en-US" dirty="0"/>
              <a:t> </a:t>
            </a:r>
            <a:r>
              <a:rPr lang="en-US" dirty="0" err="1"/>
              <a:t>düşünülmüştür</a:t>
            </a:r>
            <a:r>
              <a:rPr lang="en-US" dirty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36854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5A707-1308-E5D0-D671-573D603AD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46EA-82E8-E734-6DD4-AABCDEC14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Veri </a:t>
            </a:r>
            <a:r>
              <a:rPr lang="en-US" dirty="0" err="1"/>
              <a:t>Önişleme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4AD14-60D6-2830-1339-0AC9D2D54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O/C </a:t>
            </a:r>
            <a:r>
              <a:rPr lang="en-US" dirty="0" err="1"/>
              <a:t>ve</a:t>
            </a:r>
            <a:r>
              <a:rPr lang="en-US" dirty="0"/>
              <a:t> H/C </a:t>
            </a:r>
            <a:r>
              <a:rPr lang="en-US" dirty="0" err="1"/>
              <a:t>değerleri</a:t>
            </a:r>
            <a:r>
              <a:rPr lang="en-US" dirty="0"/>
              <a:t> </a:t>
            </a:r>
            <a:r>
              <a:rPr lang="en-US" dirty="0" err="1"/>
              <a:t>eksik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satırlar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değerler</a:t>
            </a:r>
            <a:r>
              <a:rPr lang="en-US" dirty="0"/>
              <a:t> C, H </a:t>
            </a:r>
            <a:r>
              <a:rPr lang="en-US" dirty="0" err="1"/>
              <a:t>ve</a:t>
            </a:r>
            <a:r>
              <a:rPr lang="en-US" dirty="0"/>
              <a:t> O </a:t>
            </a:r>
            <a:r>
              <a:rPr lang="en-US" dirty="0" err="1"/>
              <a:t>değerleri</a:t>
            </a:r>
            <a:r>
              <a:rPr lang="en-US" dirty="0"/>
              <a:t> </a:t>
            </a:r>
            <a:r>
              <a:rPr lang="en-US" dirty="0" err="1"/>
              <a:t>kullanılarak</a:t>
            </a:r>
            <a:r>
              <a:rPr lang="en-US" dirty="0"/>
              <a:t> </a:t>
            </a:r>
            <a:r>
              <a:rPr lang="en-US" dirty="0" err="1"/>
              <a:t>hesaplandı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/>
              <a:t>Volatiles, Fixed Carbon </a:t>
            </a:r>
            <a:r>
              <a:rPr lang="en-US" dirty="0" err="1"/>
              <a:t>ve</a:t>
            </a:r>
            <a:r>
              <a:rPr lang="en-US" dirty="0"/>
              <a:t> Lignin </a:t>
            </a:r>
            <a:r>
              <a:rPr lang="en-US" dirty="0" err="1"/>
              <a:t>değerlerinde</a:t>
            </a:r>
            <a:r>
              <a:rPr lang="en-US" dirty="0"/>
              <a:t> </a:t>
            </a:r>
            <a:r>
              <a:rPr lang="en-US" dirty="0" err="1"/>
              <a:t>eksik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satırlar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değerler</a:t>
            </a:r>
            <a:r>
              <a:rPr lang="en-US" dirty="0"/>
              <a:t> </a:t>
            </a:r>
            <a:r>
              <a:rPr lang="en-US" dirty="0" err="1"/>
              <a:t>KNNImputer</a:t>
            </a:r>
            <a:r>
              <a:rPr lang="en-US" dirty="0"/>
              <a:t> </a:t>
            </a:r>
            <a:r>
              <a:rPr lang="en-US" dirty="0" err="1"/>
              <a:t>yöntemi</a:t>
            </a:r>
            <a:r>
              <a:rPr lang="en-US" dirty="0"/>
              <a:t> </a:t>
            </a:r>
            <a:r>
              <a:rPr lang="en-US" dirty="0" err="1"/>
              <a:t>kullanılarak</a:t>
            </a:r>
            <a:r>
              <a:rPr lang="en-US" dirty="0"/>
              <a:t> </a:t>
            </a:r>
            <a:r>
              <a:rPr lang="en-US" dirty="0" err="1"/>
              <a:t>dolduruldu</a:t>
            </a:r>
            <a:r>
              <a:rPr lang="en-US" dirty="0"/>
              <a:t>. Bu </a:t>
            </a:r>
            <a:r>
              <a:rPr lang="en-US" dirty="0" err="1"/>
              <a:t>değerlerin</a:t>
            </a:r>
            <a:r>
              <a:rPr lang="en-US" dirty="0"/>
              <a:t> </a:t>
            </a:r>
            <a:r>
              <a:rPr lang="en-US" dirty="0" err="1"/>
              <a:t>belirleyici</a:t>
            </a:r>
            <a:r>
              <a:rPr lang="en-US" dirty="0"/>
              <a:t> </a:t>
            </a:r>
            <a:r>
              <a:rPr lang="en-US" dirty="0" err="1"/>
              <a:t>değerleri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O/C, H/C, S </a:t>
            </a:r>
            <a:r>
              <a:rPr lang="en-US" dirty="0" err="1"/>
              <a:t>ve</a:t>
            </a:r>
            <a:r>
              <a:rPr lang="en-US" dirty="0"/>
              <a:t> Ash </a:t>
            </a:r>
            <a:r>
              <a:rPr lang="en-US" dirty="0" err="1"/>
              <a:t>değerleri</a:t>
            </a:r>
            <a:r>
              <a:rPr lang="en-US" dirty="0"/>
              <a:t> </a:t>
            </a:r>
            <a:r>
              <a:rPr lang="en-US" dirty="0" err="1"/>
              <a:t>kullanıldı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/>
              <a:t>HHV </a:t>
            </a:r>
            <a:r>
              <a:rPr lang="en-US" dirty="0" err="1"/>
              <a:t>değerlerinde</a:t>
            </a:r>
            <a:r>
              <a:rPr lang="en-US" dirty="0"/>
              <a:t> </a:t>
            </a:r>
            <a:r>
              <a:rPr lang="en-US" dirty="0" err="1"/>
              <a:t>eksik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satırlar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değerler</a:t>
            </a:r>
            <a:r>
              <a:rPr lang="en-US" dirty="0"/>
              <a:t> </a:t>
            </a:r>
            <a:r>
              <a:rPr lang="en-US" dirty="0" err="1"/>
              <a:t>KNNImputer</a:t>
            </a:r>
            <a:r>
              <a:rPr lang="en-US" dirty="0"/>
              <a:t> </a:t>
            </a:r>
            <a:r>
              <a:rPr lang="en-US" dirty="0" err="1"/>
              <a:t>yöntemi</a:t>
            </a:r>
            <a:r>
              <a:rPr lang="en-US" dirty="0"/>
              <a:t> </a:t>
            </a:r>
            <a:r>
              <a:rPr lang="en-US" dirty="0" err="1"/>
              <a:t>kullanılarak</a:t>
            </a:r>
            <a:r>
              <a:rPr lang="en-US" dirty="0"/>
              <a:t> </a:t>
            </a:r>
            <a:r>
              <a:rPr lang="en-US" dirty="0" err="1"/>
              <a:t>dolduruldu</a:t>
            </a:r>
            <a:r>
              <a:rPr lang="en-US" dirty="0"/>
              <a:t>. Bu </a:t>
            </a:r>
            <a:r>
              <a:rPr lang="en-US" dirty="0" err="1"/>
              <a:t>değerlerin</a:t>
            </a:r>
            <a:r>
              <a:rPr lang="en-US" dirty="0"/>
              <a:t> </a:t>
            </a:r>
            <a:r>
              <a:rPr lang="en-US" dirty="0" err="1"/>
              <a:t>belirleyici</a:t>
            </a:r>
            <a:r>
              <a:rPr lang="en-US" dirty="0"/>
              <a:t> </a:t>
            </a:r>
            <a:r>
              <a:rPr lang="en-US" dirty="0" err="1"/>
              <a:t>değerleri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O/C, H/C, S, Ash, </a:t>
            </a:r>
            <a:r>
              <a:rPr lang="en-US" dirty="0" err="1"/>
              <a:t>Holoselülöz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Lignin </a:t>
            </a:r>
            <a:r>
              <a:rPr lang="en-US" dirty="0" err="1"/>
              <a:t>değerleri</a:t>
            </a:r>
            <a:r>
              <a:rPr lang="en-US" dirty="0"/>
              <a:t> </a:t>
            </a:r>
            <a:r>
              <a:rPr lang="en-US" dirty="0" err="1"/>
              <a:t>kullanıldı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59816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DE708-F237-EE90-60CE-4025AB17C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EF8B2-B929-1C2C-7A23-49CFA82E5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Veri </a:t>
            </a:r>
            <a:r>
              <a:rPr lang="en-US" dirty="0" err="1"/>
              <a:t>Önişleme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79504-2C6F-78BE-46A1-63E03CAE9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Selülöz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Hemiselülöz</a:t>
            </a:r>
            <a:r>
              <a:rPr lang="en-US" dirty="0"/>
              <a:t> </a:t>
            </a:r>
            <a:r>
              <a:rPr lang="en-US" dirty="0" err="1"/>
              <a:t>değerlerinde</a:t>
            </a:r>
            <a:r>
              <a:rPr lang="en-US" dirty="0"/>
              <a:t> </a:t>
            </a:r>
            <a:r>
              <a:rPr lang="en-US" dirty="0" err="1"/>
              <a:t>eksik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satırları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değerler</a:t>
            </a:r>
            <a:r>
              <a:rPr lang="en-US" dirty="0"/>
              <a:t> </a:t>
            </a:r>
            <a:r>
              <a:rPr lang="en-US" dirty="0" err="1"/>
              <a:t>KNNImputer</a:t>
            </a:r>
            <a:r>
              <a:rPr lang="en-US" dirty="0"/>
              <a:t> </a:t>
            </a:r>
            <a:r>
              <a:rPr lang="en-US" dirty="0" err="1"/>
              <a:t>yöntemi</a:t>
            </a:r>
            <a:r>
              <a:rPr lang="en-US" dirty="0"/>
              <a:t> </a:t>
            </a:r>
            <a:r>
              <a:rPr lang="en-US" dirty="0" err="1"/>
              <a:t>kullanılarak</a:t>
            </a:r>
            <a:r>
              <a:rPr lang="en-US" dirty="0"/>
              <a:t> </a:t>
            </a:r>
            <a:r>
              <a:rPr lang="en-US" dirty="0" err="1"/>
              <a:t>dolduruldu</a:t>
            </a:r>
            <a:r>
              <a:rPr lang="en-US" dirty="0"/>
              <a:t>. Bu </a:t>
            </a:r>
            <a:r>
              <a:rPr lang="en-US" dirty="0" err="1"/>
              <a:t>değerlerin</a:t>
            </a:r>
            <a:r>
              <a:rPr lang="en-US" dirty="0"/>
              <a:t> </a:t>
            </a:r>
            <a:r>
              <a:rPr lang="en-US" dirty="0" err="1"/>
              <a:t>belirleyici</a:t>
            </a:r>
            <a:r>
              <a:rPr lang="en-US" dirty="0"/>
              <a:t> </a:t>
            </a:r>
            <a:r>
              <a:rPr lang="en-US" dirty="0" err="1"/>
              <a:t>değerleri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O/C, H/C, S, Ash </a:t>
            </a:r>
            <a:r>
              <a:rPr lang="en-US" dirty="0" err="1"/>
              <a:t>ve</a:t>
            </a:r>
            <a:r>
              <a:rPr lang="en-US" dirty="0"/>
              <a:t> HHV </a:t>
            </a:r>
            <a:r>
              <a:rPr lang="en-US" dirty="0" err="1"/>
              <a:t>değerleri</a:t>
            </a:r>
            <a:r>
              <a:rPr lang="en-US" dirty="0"/>
              <a:t> </a:t>
            </a:r>
            <a:r>
              <a:rPr lang="en-US" dirty="0" err="1"/>
              <a:t>kullanıldı</a:t>
            </a:r>
            <a:r>
              <a:rPr lang="en-US" dirty="0"/>
              <a:t>. Bu </a:t>
            </a:r>
            <a:r>
              <a:rPr lang="en-US" dirty="0" err="1"/>
              <a:t>satırlarda</a:t>
            </a:r>
            <a:r>
              <a:rPr lang="en-US" dirty="0"/>
              <a:t> </a:t>
            </a:r>
            <a:r>
              <a:rPr lang="en-US" dirty="0" err="1"/>
              <a:t>Holoselülöz</a:t>
            </a:r>
            <a:r>
              <a:rPr lang="en-US" dirty="0"/>
              <a:t> </a:t>
            </a:r>
            <a:r>
              <a:rPr lang="en-US" dirty="0" err="1"/>
              <a:t>değeri</a:t>
            </a:r>
            <a:r>
              <a:rPr lang="en-US" dirty="0"/>
              <a:t> </a:t>
            </a:r>
            <a:r>
              <a:rPr lang="en-US" dirty="0" err="1"/>
              <a:t>mevcut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çıkan</a:t>
            </a:r>
            <a:r>
              <a:rPr lang="en-US" dirty="0"/>
              <a:t> </a:t>
            </a:r>
            <a:r>
              <a:rPr lang="en-US" dirty="0" err="1"/>
              <a:t>değerler</a:t>
            </a:r>
            <a:r>
              <a:rPr lang="en-US" dirty="0"/>
              <a:t> </a:t>
            </a:r>
            <a:r>
              <a:rPr lang="en-US" dirty="0" err="1"/>
              <a:t>toplamları</a:t>
            </a:r>
            <a:r>
              <a:rPr lang="en-US" dirty="0"/>
              <a:t> </a:t>
            </a:r>
            <a:r>
              <a:rPr lang="en-US" dirty="0" err="1"/>
              <a:t>Holoselülöz</a:t>
            </a:r>
            <a:r>
              <a:rPr lang="en-US" dirty="0"/>
              <a:t> </a:t>
            </a:r>
            <a:r>
              <a:rPr lang="en-US" dirty="0" err="1"/>
              <a:t>değerini</a:t>
            </a:r>
            <a:r>
              <a:rPr lang="en-US" dirty="0"/>
              <a:t> </a:t>
            </a:r>
            <a:r>
              <a:rPr lang="en-US" dirty="0" err="1"/>
              <a:t>verecek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ölçeklendi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Holoselülöz</a:t>
            </a:r>
            <a:r>
              <a:rPr lang="en-US" dirty="0"/>
              <a:t> </a:t>
            </a:r>
            <a:r>
              <a:rPr lang="en-US" dirty="0" err="1"/>
              <a:t>değerleri</a:t>
            </a:r>
            <a:r>
              <a:rPr lang="en-US" dirty="0"/>
              <a:t> </a:t>
            </a:r>
            <a:r>
              <a:rPr lang="en-US" dirty="0" err="1"/>
              <a:t>eksik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satırlar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değerler</a:t>
            </a:r>
            <a:r>
              <a:rPr lang="en-US" dirty="0"/>
              <a:t> </a:t>
            </a:r>
            <a:r>
              <a:rPr lang="en-US" dirty="0" err="1"/>
              <a:t>Selülöz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Hemiselülözdeğerleri</a:t>
            </a:r>
            <a:r>
              <a:rPr lang="en-US" dirty="0"/>
              <a:t> </a:t>
            </a:r>
            <a:r>
              <a:rPr lang="en-US" dirty="0" err="1"/>
              <a:t>kullanılarak</a:t>
            </a:r>
            <a:r>
              <a:rPr lang="en-US" dirty="0"/>
              <a:t> </a:t>
            </a:r>
            <a:r>
              <a:rPr lang="en-US" dirty="0" err="1"/>
              <a:t>hesaplandı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/>
              <a:t>N </a:t>
            </a:r>
            <a:r>
              <a:rPr lang="en-US" dirty="0" err="1"/>
              <a:t>değerlerinde</a:t>
            </a:r>
            <a:r>
              <a:rPr lang="en-US" dirty="0"/>
              <a:t> </a:t>
            </a:r>
            <a:r>
              <a:rPr lang="en-US" dirty="0" err="1"/>
              <a:t>eksik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satırlar</a:t>
            </a:r>
            <a:r>
              <a:rPr lang="en-US" dirty="0"/>
              <a:t> </a:t>
            </a:r>
            <a:r>
              <a:rPr lang="en-US" dirty="0" err="1"/>
              <a:t>ortalam</a:t>
            </a:r>
            <a:r>
              <a:rPr lang="en-US" dirty="0"/>
              <a:t> </a:t>
            </a:r>
            <a:r>
              <a:rPr lang="en-US" dirty="0" err="1"/>
              <a:t>değer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doldurldu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82733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80EB9-C60C-D699-1FCF-BF124459B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EE348-7C4B-1898-B246-72D8AB17E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Veri </a:t>
            </a:r>
            <a:r>
              <a:rPr lang="en-US" dirty="0" err="1"/>
              <a:t>Önişleme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38BDF-A7BB-EFE4-56CA-B0DDD4110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Kesikli</a:t>
            </a:r>
            <a:r>
              <a:rPr lang="en-US" dirty="0"/>
              <a:t> </a:t>
            </a:r>
            <a:r>
              <a:rPr lang="en-US" dirty="0" err="1"/>
              <a:t>tepkimelerde</a:t>
            </a:r>
            <a:r>
              <a:rPr lang="en-US" dirty="0"/>
              <a:t> </a:t>
            </a:r>
            <a:r>
              <a:rPr lang="en-US" dirty="0" err="1"/>
              <a:t>bulunan</a:t>
            </a:r>
            <a:r>
              <a:rPr lang="en-US" dirty="0"/>
              <a:t> Duration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sürekli</a:t>
            </a:r>
            <a:r>
              <a:rPr lang="en-US" dirty="0"/>
              <a:t> </a:t>
            </a:r>
            <a:r>
              <a:rPr lang="en-US" dirty="0" err="1"/>
              <a:t>tepkimelerde</a:t>
            </a:r>
            <a:r>
              <a:rPr lang="en-US" dirty="0"/>
              <a:t> </a:t>
            </a:r>
            <a:r>
              <a:rPr lang="en-US" dirty="0" err="1"/>
              <a:t>bulunan</a:t>
            </a:r>
            <a:r>
              <a:rPr lang="en-US" dirty="0"/>
              <a:t> </a:t>
            </a:r>
            <a:r>
              <a:rPr lang="en-US" dirty="0" err="1"/>
              <a:t>ResidenceTime</a:t>
            </a:r>
            <a:r>
              <a:rPr lang="en-US" dirty="0"/>
              <a:t> </a:t>
            </a:r>
            <a:r>
              <a:rPr lang="en-US" dirty="0" err="1"/>
              <a:t>değerleri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aralığa</a:t>
            </a:r>
            <a:r>
              <a:rPr lang="en-US" dirty="0"/>
              <a:t> (0 </a:t>
            </a:r>
            <a:r>
              <a:rPr lang="en-US" dirty="0" err="1"/>
              <a:t>ile</a:t>
            </a:r>
            <a:r>
              <a:rPr lang="en-US" dirty="0"/>
              <a:t> 1 </a:t>
            </a:r>
            <a:r>
              <a:rPr lang="en-US" dirty="0" err="1"/>
              <a:t>arası</a:t>
            </a:r>
            <a:r>
              <a:rPr lang="en-US" dirty="0"/>
              <a:t>) </a:t>
            </a:r>
            <a:r>
              <a:rPr lang="en-US" dirty="0" err="1"/>
              <a:t>ölçeklendikten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değişken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kullanıldı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Katalizör</a:t>
            </a:r>
            <a:r>
              <a:rPr lang="en-US" dirty="0"/>
              <a:t> </a:t>
            </a:r>
            <a:r>
              <a:rPr lang="en-US" dirty="0" err="1"/>
              <a:t>özellikleri</a:t>
            </a:r>
            <a:r>
              <a:rPr lang="en-US" dirty="0"/>
              <a:t> </a:t>
            </a:r>
            <a:r>
              <a:rPr lang="en-US" dirty="0" err="1"/>
              <a:t>eksik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satırlar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değerler</a:t>
            </a:r>
            <a:r>
              <a:rPr lang="en-US" dirty="0"/>
              <a:t> NULL (</a:t>
            </a:r>
            <a:r>
              <a:rPr lang="en-US" dirty="0" err="1"/>
              <a:t>tanımsız</a:t>
            </a:r>
            <a:r>
              <a:rPr lang="en-US" dirty="0"/>
              <a:t>)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işaretlenmiştir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kompozisyonu</a:t>
            </a:r>
            <a:r>
              <a:rPr lang="en-US" dirty="0"/>
              <a:t> </a:t>
            </a:r>
            <a:r>
              <a:rPr lang="en-US" dirty="0" err="1"/>
              <a:t>değerlerinde</a:t>
            </a:r>
            <a:r>
              <a:rPr lang="en-US" dirty="0"/>
              <a:t> </a:t>
            </a:r>
            <a:r>
              <a:rPr lang="en-US" dirty="0" err="1"/>
              <a:t>eksik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satırlar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de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değerler</a:t>
            </a:r>
            <a:r>
              <a:rPr lang="en-US" dirty="0"/>
              <a:t> NULL (</a:t>
            </a:r>
            <a:r>
              <a:rPr lang="en-US" dirty="0" err="1"/>
              <a:t>tanımsız</a:t>
            </a:r>
            <a:r>
              <a:rPr lang="en-US" dirty="0"/>
              <a:t>)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işaretlenmiştir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07149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82DC9-814C-95E3-DF5E-E07781C65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F39FE-3DD8-2296-FD4A-943F85D7E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Veri </a:t>
            </a:r>
            <a:r>
              <a:rPr lang="en-US" dirty="0" err="1"/>
              <a:t>Önişleme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B93D9-661E-6FBD-CFD0-7B8CDED86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kompozisyonu</a:t>
            </a:r>
            <a:r>
              <a:rPr lang="en-US" dirty="0"/>
              <a:t> </a:t>
            </a:r>
            <a:r>
              <a:rPr lang="en-US" dirty="0" err="1"/>
              <a:t>değerlerinde</a:t>
            </a:r>
            <a:r>
              <a:rPr lang="en-US" dirty="0"/>
              <a:t> her </a:t>
            </a:r>
            <a:r>
              <a:rPr lang="en-US" dirty="0" err="1"/>
              <a:t>çalışmada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kimyasallar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NULL </a:t>
            </a:r>
            <a:r>
              <a:rPr lang="en-US" dirty="0" err="1"/>
              <a:t>değerleri</a:t>
            </a:r>
            <a:r>
              <a:rPr lang="en-US" dirty="0"/>
              <a:t> </a:t>
            </a:r>
            <a:r>
              <a:rPr lang="en-US" dirty="0" err="1"/>
              <a:t>bulunması</a:t>
            </a:r>
            <a:r>
              <a:rPr lang="en-US" dirty="0"/>
              <a:t> </a:t>
            </a:r>
            <a:r>
              <a:rPr lang="en-US" dirty="0" err="1"/>
              <a:t>sonucu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setinin</a:t>
            </a:r>
            <a:r>
              <a:rPr lang="en-US" dirty="0"/>
              <a:t> </a:t>
            </a:r>
            <a:r>
              <a:rPr lang="en-US" dirty="0" err="1"/>
              <a:t>hazırlanması</a:t>
            </a:r>
            <a:r>
              <a:rPr lang="en-US" dirty="0"/>
              <a:t> </a:t>
            </a:r>
            <a:r>
              <a:rPr lang="en-US" dirty="0" err="1"/>
              <a:t>konusunda</a:t>
            </a:r>
            <a:r>
              <a:rPr lang="en-US" dirty="0"/>
              <a:t>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yaklaşım</a:t>
            </a:r>
            <a:r>
              <a:rPr lang="en-US" dirty="0"/>
              <a:t> </a:t>
            </a:r>
            <a:r>
              <a:rPr lang="en-US" dirty="0" err="1"/>
              <a:t>düşünülmüştür</a:t>
            </a:r>
            <a:r>
              <a:rPr lang="en-US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b="1" dirty="0" err="1"/>
              <a:t>Birleşik</a:t>
            </a:r>
            <a:r>
              <a:rPr lang="en-US" b="1" dirty="0"/>
              <a:t> </a:t>
            </a:r>
            <a:r>
              <a:rPr lang="en-US" b="1" dirty="0" err="1"/>
              <a:t>veri</a:t>
            </a:r>
            <a:r>
              <a:rPr lang="en-US" b="1" dirty="0"/>
              <a:t> </a:t>
            </a:r>
            <a:r>
              <a:rPr lang="en-US" b="1" dirty="0" err="1"/>
              <a:t>seti</a:t>
            </a:r>
            <a:r>
              <a:rPr lang="en-US" b="1" dirty="0"/>
              <a:t> </a:t>
            </a:r>
            <a:r>
              <a:rPr lang="en-US" b="1" dirty="0" err="1"/>
              <a:t>yaklaşımı</a:t>
            </a:r>
            <a:r>
              <a:rPr lang="en-US" b="1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b="1" dirty="0" err="1"/>
              <a:t>Ayrıştırılmış</a:t>
            </a:r>
            <a:r>
              <a:rPr lang="en-US" b="1" dirty="0"/>
              <a:t> </a:t>
            </a:r>
            <a:r>
              <a:rPr lang="en-US" b="1" dirty="0" err="1"/>
              <a:t>veri</a:t>
            </a:r>
            <a:r>
              <a:rPr lang="en-US" b="1" dirty="0"/>
              <a:t> </a:t>
            </a:r>
            <a:r>
              <a:rPr lang="en-US" b="1" dirty="0" err="1"/>
              <a:t>seti</a:t>
            </a:r>
            <a:r>
              <a:rPr lang="en-US" b="1" dirty="0"/>
              <a:t> </a:t>
            </a:r>
            <a:r>
              <a:rPr lang="en-US" b="1" dirty="0" err="1"/>
              <a:t>yaklaşımı</a:t>
            </a:r>
            <a:r>
              <a:rPr lang="en-US" b="1" dirty="0"/>
              <a:t>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85913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AD32C-75A0-04FD-9E04-CF45C6B15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96ED1-12B3-6E06-9222-8C8BCD5F9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Veri </a:t>
            </a:r>
            <a:r>
              <a:rPr lang="en-US" dirty="0" err="1"/>
              <a:t>Önişleme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4FD9E-FDB9-2E2F-79C7-C6F9C5608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 err="1"/>
              <a:t>Birleşik</a:t>
            </a:r>
            <a:r>
              <a:rPr lang="en-US" b="1" dirty="0"/>
              <a:t> </a:t>
            </a:r>
            <a:r>
              <a:rPr lang="en-US" b="1" dirty="0" err="1"/>
              <a:t>veri</a:t>
            </a:r>
            <a:r>
              <a:rPr lang="en-US" b="1" dirty="0"/>
              <a:t> </a:t>
            </a:r>
            <a:r>
              <a:rPr lang="en-US" b="1" dirty="0" err="1"/>
              <a:t>seti</a:t>
            </a:r>
            <a:r>
              <a:rPr lang="en-US" b="1" dirty="0"/>
              <a:t> </a:t>
            </a:r>
            <a:r>
              <a:rPr lang="en-US" b="1" dirty="0" err="1"/>
              <a:t>yaklaşımı</a:t>
            </a:r>
            <a:r>
              <a:rPr lang="en-US" b="1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Bu </a:t>
            </a:r>
            <a:r>
              <a:rPr lang="en-US" dirty="0" err="1"/>
              <a:t>yaklaşımda</a:t>
            </a:r>
            <a:r>
              <a:rPr lang="en-US" dirty="0"/>
              <a:t>, </a:t>
            </a:r>
            <a:r>
              <a:rPr lang="en-US" dirty="0" err="1"/>
              <a:t>bütün</a:t>
            </a:r>
            <a:r>
              <a:rPr lang="en-US" dirty="0"/>
              <a:t> </a:t>
            </a:r>
            <a:r>
              <a:rPr lang="en-US" dirty="0" err="1"/>
              <a:t>veriseti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bütün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işlenmiştir</a:t>
            </a:r>
            <a:r>
              <a:rPr lang="en-US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Bu </a:t>
            </a:r>
            <a:r>
              <a:rPr lang="en-US" dirty="0" err="1"/>
              <a:t>sayede</a:t>
            </a:r>
            <a:r>
              <a:rPr lang="en-US" dirty="0"/>
              <a:t> her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kimyasal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r>
              <a:rPr lang="en-US" dirty="0"/>
              <a:t> </a:t>
            </a:r>
            <a:r>
              <a:rPr lang="en-US" dirty="0" err="1"/>
              <a:t>modeli</a:t>
            </a:r>
            <a:r>
              <a:rPr lang="en-US" dirty="0"/>
              <a:t> </a:t>
            </a:r>
            <a:r>
              <a:rPr lang="en-US" dirty="0" err="1"/>
              <a:t>eğitilirken</a:t>
            </a:r>
            <a:r>
              <a:rPr lang="en-US" dirty="0"/>
              <a:t> </a:t>
            </a:r>
            <a:r>
              <a:rPr lang="en-US" dirty="0" err="1"/>
              <a:t>bütün</a:t>
            </a:r>
            <a:r>
              <a:rPr lang="en-US" dirty="0"/>
              <a:t> </a:t>
            </a:r>
            <a:r>
              <a:rPr lang="en-US" dirty="0" err="1"/>
              <a:t>veriseti</a:t>
            </a:r>
            <a:r>
              <a:rPr lang="en-US" dirty="0"/>
              <a:t> </a:t>
            </a:r>
            <a:r>
              <a:rPr lang="en-US" dirty="0" err="1"/>
              <a:t>kullanılmıştır</a:t>
            </a:r>
            <a:r>
              <a:rPr lang="en-US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Ancak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yaklaşımda</a:t>
            </a:r>
            <a:r>
              <a:rPr lang="en-US" dirty="0"/>
              <a:t> </a:t>
            </a: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içeriği</a:t>
            </a:r>
            <a:r>
              <a:rPr lang="en-US" dirty="0"/>
              <a:t> </a:t>
            </a:r>
            <a:r>
              <a:rPr lang="en-US" dirty="0" err="1"/>
              <a:t>değerlerinde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fazla</a:t>
            </a:r>
            <a:r>
              <a:rPr lang="en-US" dirty="0"/>
              <a:t> NULL </a:t>
            </a:r>
            <a:r>
              <a:rPr lang="en-US" dirty="0" err="1"/>
              <a:t>değer</a:t>
            </a:r>
            <a:r>
              <a:rPr lang="en-US" dirty="0"/>
              <a:t> </a:t>
            </a:r>
            <a:r>
              <a:rPr lang="en-US" dirty="0" err="1"/>
              <a:t>bulunması</a:t>
            </a:r>
            <a:r>
              <a:rPr lang="en-US" dirty="0"/>
              <a:t> </a:t>
            </a:r>
            <a:r>
              <a:rPr lang="en-US" dirty="0" err="1"/>
              <a:t>modelin</a:t>
            </a:r>
            <a:r>
              <a:rPr lang="en-US" dirty="0"/>
              <a:t> </a:t>
            </a:r>
            <a:r>
              <a:rPr lang="en-US" dirty="0" err="1"/>
              <a:t>başarısını</a:t>
            </a:r>
            <a:r>
              <a:rPr lang="en-US" dirty="0"/>
              <a:t> </a:t>
            </a:r>
            <a:r>
              <a:rPr lang="en-US" dirty="0" err="1"/>
              <a:t>olumsuz</a:t>
            </a:r>
            <a:r>
              <a:rPr lang="en-US" dirty="0"/>
              <a:t> </a:t>
            </a:r>
            <a:r>
              <a:rPr lang="en-US" dirty="0" err="1"/>
              <a:t>yönte</a:t>
            </a:r>
            <a:r>
              <a:rPr lang="en-US" dirty="0"/>
              <a:t> </a:t>
            </a:r>
            <a:r>
              <a:rPr lang="en-US" dirty="0" err="1"/>
              <a:t>etkileyen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unsurdur</a:t>
            </a:r>
            <a:r>
              <a:rPr lang="en-US" dirty="0"/>
              <a:t>.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05373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B536B-AE7A-7529-6D7D-2125AD444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EAB05-EFFB-557E-C4F0-566FF62EA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Veri </a:t>
            </a:r>
            <a:r>
              <a:rPr lang="en-US" dirty="0" err="1"/>
              <a:t>Önişleme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7D0AF-81DD-6F94-FD77-6969801B2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 err="1"/>
              <a:t>Ayrıştırılmış</a:t>
            </a:r>
            <a:r>
              <a:rPr lang="en-US" b="1" dirty="0"/>
              <a:t> </a:t>
            </a:r>
            <a:r>
              <a:rPr lang="en-US" b="1" dirty="0" err="1"/>
              <a:t>veri</a:t>
            </a:r>
            <a:r>
              <a:rPr lang="en-US" b="1" dirty="0"/>
              <a:t> </a:t>
            </a:r>
            <a:r>
              <a:rPr lang="en-US" b="1" dirty="0" err="1"/>
              <a:t>seti</a:t>
            </a:r>
            <a:r>
              <a:rPr lang="en-US" b="1" dirty="0"/>
              <a:t> </a:t>
            </a:r>
            <a:r>
              <a:rPr lang="en-US" b="1" dirty="0" err="1"/>
              <a:t>yaklaşımı</a:t>
            </a:r>
            <a:r>
              <a:rPr lang="en-US" b="1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Bu </a:t>
            </a:r>
            <a:r>
              <a:rPr lang="en-US" dirty="0" err="1"/>
              <a:t>yaklaşımda</a:t>
            </a:r>
            <a:r>
              <a:rPr lang="en-US" dirty="0"/>
              <a:t>, </a:t>
            </a:r>
            <a:r>
              <a:rPr lang="en-US" dirty="0" err="1"/>
              <a:t>biyoyağda</a:t>
            </a:r>
            <a:r>
              <a:rPr lang="en-US" dirty="0"/>
              <a:t> </a:t>
            </a:r>
            <a:r>
              <a:rPr lang="en-US" dirty="0" err="1"/>
              <a:t>bulunan</a:t>
            </a:r>
            <a:r>
              <a:rPr lang="en-US" dirty="0"/>
              <a:t> her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kimyasal</a:t>
            </a:r>
            <a:r>
              <a:rPr lang="en-US" dirty="0"/>
              <a:t> </a:t>
            </a:r>
            <a:r>
              <a:rPr lang="en-US" dirty="0" err="1"/>
              <a:t>grubu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ayrı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veriseti</a:t>
            </a:r>
            <a:r>
              <a:rPr lang="en-US" dirty="0"/>
              <a:t> </a:t>
            </a:r>
            <a:r>
              <a:rPr lang="en-US" dirty="0" err="1"/>
              <a:t>hazırlanmıştır</a:t>
            </a:r>
            <a:r>
              <a:rPr lang="en-US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Veriseti</a:t>
            </a:r>
            <a:r>
              <a:rPr lang="en-US" dirty="0"/>
              <a:t>, </a:t>
            </a:r>
            <a:r>
              <a:rPr lang="en-US" dirty="0" err="1"/>
              <a:t>kimyasallara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ayrıştırılırken</a:t>
            </a:r>
            <a:r>
              <a:rPr lang="en-US" dirty="0"/>
              <a:t> o </a:t>
            </a:r>
            <a:r>
              <a:rPr lang="en-US" dirty="0" err="1"/>
              <a:t>kimyasal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NULL </a:t>
            </a:r>
            <a:r>
              <a:rPr lang="en-US" dirty="0" err="1"/>
              <a:t>değer</a:t>
            </a:r>
            <a:r>
              <a:rPr lang="en-US" dirty="0"/>
              <a:t> </a:t>
            </a:r>
            <a:r>
              <a:rPr lang="en-US" dirty="0" err="1"/>
              <a:t>bulunan</a:t>
            </a:r>
            <a:r>
              <a:rPr lang="en-US" dirty="0"/>
              <a:t> </a:t>
            </a:r>
            <a:r>
              <a:rPr lang="en-US" dirty="0" err="1"/>
              <a:t>satırlar</a:t>
            </a:r>
            <a:r>
              <a:rPr lang="en-US" dirty="0"/>
              <a:t> </a:t>
            </a:r>
            <a:r>
              <a:rPr lang="en-US" dirty="0" err="1"/>
              <a:t>çıkartılmıştır</a:t>
            </a:r>
            <a:r>
              <a:rPr lang="en-US" dirty="0"/>
              <a:t>. 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Bu </a:t>
            </a:r>
            <a:r>
              <a:rPr lang="en-US" dirty="0" err="1"/>
              <a:t>sayede</a:t>
            </a:r>
            <a:r>
              <a:rPr lang="en-US" dirty="0"/>
              <a:t> NULL </a:t>
            </a:r>
            <a:r>
              <a:rPr lang="en-US" dirty="0" err="1"/>
              <a:t>değerlerden</a:t>
            </a:r>
            <a:r>
              <a:rPr lang="en-US" dirty="0"/>
              <a:t> </a:t>
            </a:r>
            <a:r>
              <a:rPr lang="en-US" dirty="0" err="1"/>
              <a:t>arınmış</a:t>
            </a:r>
            <a:r>
              <a:rPr lang="en-US" dirty="0"/>
              <a:t> </a:t>
            </a:r>
            <a:r>
              <a:rPr lang="en-US" dirty="0" err="1"/>
              <a:t>verisetleri</a:t>
            </a:r>
            <a:r>
              <a:rPr lang="en-US" dirty="0"/>
              <a:t> </a:t>
            </a:r>
            <a:r>
              <a:rPr lang="en-US" dirty="0" err="1"/>
              <a:t>kullanılmıştır</a:t>
            </a:r>
            <a:r>
              <a:rPr lang="en-US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Ancak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yaklaşımda</a:t>
            </a:r>
            <a:r>
              <a:rPr lang="en-US" dirty="0"/>
              <a:t> </a:t>
            </a:r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sayıda</a:t>
            </a:r>
            <a:r>
              <a:rPr lang="en-US" dirty="0"/>
              <a:t> </a:t>
            </a:r>
            <a:r>
              <a:rPr lang="en-US" dirty="0" err="1"/>
              <a:t>örnek</a:t>
            </a:r>
            <a:r>
              <a:rPr lang="en-US" dirty="0"/>
              <a:t> </a:t>
            </a:r>
            <a:r>
              <a:rPr lang="en-US" dirty="0" err="1"/>
              <a:t>içeren</a:t>
            </a:r>
            <a:r>
              <a:rPr lang="en-US" dirty="0"/>
              <a:t> </a:t>
            </a:r>
            <a:r>
              <a:rPr lang="en-US" dirty="0" err="1"/>
              <a:t>verisetleriyle</a:t>
            </a:r>
            <a:r>
              <a:rPr lang="en-US" dirty="0"/>
              <a:t> </a:t>
            </a:r>
            <a:r>
              <a:rPr lang="en-US" dirty="0" err="1"/>
              <a:t>yapılmak</a:t>
            </a:r>
            <a:r>
              <a:rPr lang="en-US" dirty="0"/>
              <a:t> </a:t>
            </a:r>
            <a:r>
              <a:rPr lang="en-US" dirty="0" err="1"/>
              <a:t>zorunda</a:t>
            </a:r>
            <a:r>
              <a:rPr lang="en-US" dirty="0"/>
              <a:t> </a:t>
            </a:r>
            <a:r>
              <a:rPr lang="en-US" dirty="0" err="1"/>
              <a:t>kalınmıştır</a:t>
            </a:r>
            <a:r>
              <a:rPr lang="en-US" dirty="0"/>
              <a:t>. 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Bu da </a:t>
            </a:r>
            <a:r>
              <a:rPr lang="en-US" dirty="0" err="1"/>
              <a:t>eğitilen</a:t>
            </a:r>
            <a:r>
              <a:rPr lang="en-US" dirty="0"/>
              <a:t> </a:t>
            </a:r>
            <a:r>
              <a:rPr lang="en-US" dirty="0" err="1"/>
              <a:t>modelin</a:t>
            </a:r>
            <a:r>
              <a:rPr lang="en-US" dirty="0"/>
              <a:t> </a:t>
            </a:r>
            <a:r>
              <a:rPr lang="en-US" dirty="0" err="1"/>
              <a:t>kapsayıcı</a:t>
            </a:r>
            <a:r>
              <a:rPr lang="en-US" dirty="0"/>
              <a:t> </a:t>
            </a:r>
            <a:r>
              <a:rPr lang="en-US" dirty="0" err="1"/>
              <a:t>özelliğini</a:t>
            </a:r>
            <a:r>
              <a:rPr lang="en-US" dirty="0"/>
              <a:t> </a:t>
            </a:r>
            <a:r>
              <a:rPr lang="en-US" dirty="0" err="1"/>
              <a:t>olumsuz</a:t>
            </a:r>
            <a:r>
              <a:rPr lang="en-US" dirty="0"/>
              <a:t> </a:t>
            </a:r>
            <a:r>
              <a:rPr lang="en-US" dirty="0" err="1"/>
              <a:t>etkilemektedir</a:t>
            </a:r>
            <a:r>
              <a:rPr lang="en-US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Ayrıca</a:t>
            </a:r>
            <a:r>
              <a:rPr lang="en-US" dirty="0"/>
              <a:t> </a:t>
            </a:r>
            <a:r>
              <a:rPr lang="en-US" dirty="0" err="1"/>
              <a:t>kimyasal</a:t>
            </a:r>
            <a:r>
              <a:rPr lang="en-US" dirty="0"/>
              <a:t> </a:t>
            </a:r>
            <a:r>
              <a:rPr lang="en-US" dirty="0" err="1"/>
              <a:t>grupların</a:t>
            </a:r>
            <a:r>
              <a:rPr lang="en-US" dirty="0"/>
              <a:t> </a:t>
            </a:r>
            <a:r>
              <a:rPr lang="en-US" dirty="0" err="1"/>
              <a:t>birbirlerinden</a:t>
            </a:r>
            <a:r>
              <a:rPr lang="en-US" dirty="0"/>
              <a:t> </a:t>
            </a:r>
            <a:r>
              <a:rPr lang="en-US" dirty="0" err="1"/>
              <a:t>bağımsız</a:t>
            </a:r>
            <a:r>
              <a:rPr lang="en-US" dirty="0"/>
              <a:t> </a:t>
            </a:r>
            <a:r>
              <a:rPr lang="en-US" dirty="0" err="1"/>
              <a:t>eğitilmesi</a:t>
            </a:r>
            <a:r>
              <a:rPr lang="en-US" dirty="0"/>
              <a:t> de </a:t>
            </a:r>
            <a:r>
              <a:rPr lang="en-US" dirty="0" err="1"/>
              <a:t>toplamı</a:t>
            </a:r>
            <a:r>
              <a:rPr lang="en-US" dirty="0"/>
              <a:t> 1 </a:t>
            </a:r>
            <a:r>
              <a:rPr lang="en-US" dirty="0" err="1"/>
              <a:t>değerinden</a:t>
            </a:r>
            <a:r>
              <a:rPr lang="en-US" dirty="0"/>
              <a:t> </a:t>
            </a:r>
            <a:r>
              <a:rPr lang="en-US" dirty="0" err="1"/>
              <a:t>uzak</a:t>
            </a:r>
            <a:r>
              <a:rPr lang="en-US" dirty="0"/>
              <a:t> </a:t>
            </a:r>
            <a:r>
              <a:rPr lang="en-US" dirty="0" err="1"/>
              <a:t>kompozisyon</a:t>
            </a:r>
            <a:r>
              <a:rPr lang="en-US" dirty="0"/>
              <a:t> </a:t>
            </a:r>
            <a:r>
              <a:rPr lang="en-US" dirty="0" err="1"/>
              <a:t>değerleri</a:t>
            </a:r>
            <a:r>
              <a:rPr lang="en-US" dirty="0"/>
              <a:t> </a:t>
            </a:r>
            <a:r>
              <a:rPr lang="en-US" dirty="0" err="1"/>
              <a:t>öngörülmesine</a:t>
            </a:r>
            <a:r>
              <a:rPr lang="en-US" dirty="0"/>
              <a:t> </a:t>
            </a:r>
            <a:r>
              <a:rPr lang="en-US" dirty="0" err="1"/>
              <a:t>neden</a:t>
            </a:r>
            <a:r>
              <a:rPr lang="en-US" dirty="0"/>
              <a:t> </a:t>
            </a:r>
            <a:r>
              <a:rPr lang="en-US" dirty="0" err="1"/>
              <a:t>olabilmektedir</a:t>
            </a:r>
            <a:r>
              <a:rPr lang="en-US" dirty="0"/>
              <a:t>.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48433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0023F-2063-86A1-CC09-E3738FB6C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B6D2A-3438-94A0-5DA4-354C7A9D6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D8C27-6A8E-CBAD-775B-CF50E1922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Random Forest (</a:t>
            </a:r>
            <a:r>
              <a:rPr lang="en-US" b="1" dirty="0" err="1"/>
              <a:t>Rastgele</a:t>
            </a:r>
            <a:r>
              <a:rPr lang="en-US" b="1" dirty="0"/>
              <a:t> Karar </a:t>
            </a:r>
            <a:r>
              <a:rPr lang="en-US" b="1" dirty="0" err="1"/>
              <a:t>Ormanı</a:t>
            </a:r>
            <a:r>
              <a:rPr lang="en-US" b="1" dirty="0"/>
              <a:t>) 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XGBoost</a:t>
            </a:r>
            <a:r>
              <a:rPr lang="en-US" dirty="0"/>
              <a:t> (</a:t>
            </a:r>
            <a:r>
              <a:rPr lang="en-US" dirty="0" err="1"/>
              <a:t>eXtreme</a:t>
            </a:r>
            <a:r>
              <a:rPr lang="en-US" dirty="0"/>
              <a:t> Gradient Boosting) 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LightGBM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CatBoost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8808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332EB-A6E9-1C76-190B-832559FD1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E8FB8-BFEB-611F-9266-3E85EF284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68ED2-97FD-109F-8FDE-3DBF49834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Bütün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ön</a:t>
            </a:r>
            <a:r>
              <a:rPr lang="en-US" dirty="0"/>
              <a:t> </a:t>
            </a:r>
            <a:r>
              <a:rPr lang="en-US" dirty="0" err="1"/>
              <a:t>işleme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r>
              <a:rPr lang="en-US" dirty="0"/>
              <a:t> </a:t>
            </a:r>
            <a:r>
              <a:rPr lang="en-US" dirty="0" err="1"/>
              <a:t>algoritmalarının</a:t>
            </a:r>
            <a:r>
              <a:rPr lang="en-US" dirty="0"/>
              <a:t> </a:t>
            </a:r>
            <a:r>
              <a:rPr lang="en-US" dirty="0" err="1"/>
              <a:t>sonucunda</a:t>
            </a:r>
            <a:r>
              <a:rPr lang="en-US" dirty="0"/>
              <a:t> </a:t>
            </a:r>
            <a:r>
              <a:rPr lang="en-US" dirty="0" err="1"/>
              <a:t>istenen</a:t>
            </a:r>
            <a:r>
              <a:rPr lang="en-US" dirty="0"/>
              <a:t> </a:t>
            </a:r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r>
              <a:rPr lang="en-US" dirty="0"/>
              <a:t> </a:t>
            </a:r>
            <a:r>
              <a:rPr lang="en-US" dirty="0" err="1"/>
              <a:t>başarısı</a:t>
            </a:r>
            <a:r>
              <a:rPr lang="en-US" dirty="0"/>
              <a:t> </a:t>
            </a:r>
            <a:r>
              <a:rPr lang="en-US" dirty="0" err="1"/>
              <a:t>yakalanamadı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/>
              <a:t>Bunun </a:t>
            </a:r>
            <a:r>
              <a:rPr lang="en-US" dirty="0" err="1"/>
              <a:t>sonucunda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r>
              <a:rPr lang="en-US" dirty="0"/>
              <a:t> </a:t>
            </a:r>
            <a:r>
              <a:rPr lang="en-US" dirty="0" err="1"/>
              <a:t>yaklaşımı</a:t>
            </a:r>
            <a:r>
              <a:rPr lang="en-US" dirty="0"/>
              <a:t> </a:t>
            </a:r>
            <a:r>
              <a:rPr lang="en-US" dirty="0" err="1"/>
              <a:t>tasarlamak</a:t>
            </a:r>
            <a:r>
              <a:rPr lang="en-US" dirty="0"/>
              <a:t> </a:t>
            </a:r>
            <a:r>
              <a:rPr lang="en-US" dirty="0" err="1"/>
              <a:t>üzere</a:t>
            </a:r>
            <a:r>
              <a:rPr lang="en-US" dirty="0"/>
              <a:t> yeni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literatür</a:t>
            </a:r>
            <a:r>
              <a:rPr lang="en-US" dirty="0"/>
              <a:t> </a:t>
            </a:r>
            <a:r>
              <a:rPr lang="en-US" dirty="0" err="1"/>
              <a:t>taraması</a:t>
            </a:r>
            <a:r>
              <a:rPr lang="en-US" dirty="0"/>
              <a:t> </a:t>
            </a:r>
            <a:r>
              <a:rPr lang="en-US" dirty="0" err="1"/>
              <a:t>yapıldı</a:t>
            </a:r>
            <a:r>
              <a:rPr lang="en-US" dirty="0"/>
              <a:t>.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33781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FAE57-9E92-9F72-D91D-BFA41644A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DE1F-4A6E-C6A8-4486-627D51421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Yeni </a:t>
            </a:r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r>
              <a:rPr lang="en-US" dirty="0"/>
              <a:t> </a:t>
            </a:r>
            <a:r>
              <a:rPr lang="en-US" dirty="0" err="1"/>
              <a:t>Yaklaşımı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E0B9B-54A2-25F6-D53D-8C4BFA4E8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Liao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arkadaşlarının</a:t>
            </a:r>
            <a:r>
              <a:rPr lang="en-US" dirty="0"/>
              <a:t> (2025)</a:t>
            </a:r>
            <a:r>
              <a:rPr lang="en-US" baseline="30000" dirty="0"/>
              <a:t> [8]</a:t>
            </a:r>
            <a:r>
              <a:rPr lang="en-US" dirty="0"/>
              <a:t> </a:t>
            </a:r>
            <a:r>
              <a:rPr lang="en-US" dirty="0" err="1"/>
              <a:t>çalışmasında</a:t>
            </a:r>
            <a:r>
              <a:rPr lang="en-US" dirty="0"/>
              <a:t> </a:t>
            </a:r>
            <a:r>
              <a:rPr lang="en-US" dirty="0" err="1"/>
              <a:t>lignoselülozik</a:t>
            </a:r>
            <a:r>
              <a:rPr lang="en-US" dirty="0"/>
              <a:t> </a:t>
            </a:r>
            <a:r>
              <a:rPr lang="en-US" dirty="0" err="1"/>
              <a:t>biyokütlenin</a:t>
            </a:r>
            <a:r>
              <a:rPr lang="en-US" dirty="0"/>
              <a:t> </a:t>
            </a:r>
            <a:r>
              <a:rPr lang="en-US" dirty="0" err="1"/>
              <a:t>pirolizi</a:t>
            </a:r>
            <a:r>
              <a:rPr lang="en-US" dirty="0"/>
              <a:t> </a:t>
            </a:r>
            <a:r>
              <a:rPr lang="en-US" dirty="0" err="1"/>
              <a:t>sonucu</a:t>
            </a:r>
            <a:r>
              <a:rPr lang="en-US" dirty="0"/>
              <a:t> </a:t>
            </a:r>
            <a:r>
              <a:rPr lang="en-US" dirty="0" err="1"/>
              <a:t>elde</a:t>
            </a:r>
            <a:r>
              <a:rPr lang="en-US" dirty="0"/>
              <a:t> </a:t>
            </a:r>
            <a:r>
              <a:rPr lang="en-US" dirty="0" err="1"/>
              <a:t>edilen</a:t>
            </a:r>
            <a:r>
              <a:rPr lang="en-US" dirty="0"/>
              <a:t> </a:t>
            </a:r>
            <a:r>
              <a:rPr lang="en-US" dirty="0" err="1"/>
              <a:t>odun</a:t>
            </a:r>
            <a:r>
              <a:rPr lang="en-US" dirty="0"/>
              <a:t> </a:t>
            </a:r>
            <a:r>
              <a:rPr lang="en-US" dirty="0" err="1"/>
              <a:t>sirkesinin</a:t>
            </a:r>
            <a:r>
              <a:rPr lang="en-US" dirty="0"/>
              <a:t>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kademeli</a:t>
            </a:r>
            <a:r>
              <a:rPr lang="en-US" dirty="0"/>
              <a:t> </a:t>
            </a:r>
            <a:r>
              <a:rPr lang="en-US" dirty="0" err="1"/>
              <a:t>distilasyonu</a:t>
            </a:r>
            <a:r>
              <a:rPr lang="en-US" dirty="0"/>
              <a:t> </a:t>
            </a:r>
            <a:r>
              <a:rPr lang="en-US" dirty="0" err="1"/>
              <a:t>çıktılarını</a:t>
            </a:r>
            <a:r>
              <a:rPr lang="en-US" dirty="0"/>
              <a:t> </a:t>
            </a:r>
            <a:r>
              <a:rPr lang="en-US" dirty="0" err="1"/>
              <a:t>girdi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alıp</a:t>
            </a:r>
            <a:r>
              <a:rPr lang="en-US" dirty="0"/>
              <a:t> </a:t>
            </a:r>
            <a:r>
              <a:rPr lang="en-US" dirty="0" err="1"/>
              <a:t>odun</a:t>
            </a:r>
            <a:r>
              <a:rPr lang="en-US" dirty="0"/>
              <a:t> </a:t>
            </a:r>
            <a:r>
              <a:rPr lang="en-US" dirty="0" err="1"/>
              <a:t>sirkesinin</a:t>
            </a:r>
            <a:r>
              <a:rPr lang="en-US" dirty="0"/>
              <a:t> </a:t>
            </a:r>
            <a:r>
              <a:rPr lang="en-US" dirty="0" err="1"/>
              <a:t>içeriğini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eden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r>
              <a:rPr lang="en-US" dirty="0"/>
              <a:t> </a:t>
            </a:r>
            <a:r>
              <a:rPr lang="en-US" dirty="0" err="1"/>
              <a:t>modeli</a:t>
            </a:r>
            <a:r>
              <a:rPr lang="en-US" dirty="0"/>
              <a:t> </a:t>
            </a:r>
            <a:r>
              <a:rPr lang="en-US" dirty="0" err="1"/>
              <a:t>oluşturulmuş</a:t>
            </a:r>
            <a:r>
              <a:rPr lang="en-US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Bu </a:t>
            </a:r>
            <a:r>
              <a:rPr lang="en-US" dirty="0" err="1"/>
              <a:t>sayede</a:t>
            </a:r>
            <a:r>
              <a:rPr lang="en-US" dirty="0"/>
              <a:t> </a:t>
            </a:r>
            <a:r>
              <a:rPr lang="en-US" dirty="0" err="1"/>
              <a:t>çıkış</a:t>
            </a:r>
            <a:r>
              <a:rPr lang="en-US" dirty="0"/>
              <a:t> </a:t>
            </a:r>
            <a:r>
              <a:rPr lang="en-US" dirty="0" err="1"/>
              <a:t>akımlarındaki</a:t>
            </a:r>
            <a:r>
              <a:rPr lang="en-US" dirty="0"/>
              <a:t> </a:t>
            </a:r>
            <a:r>
              <a:rPr lang="en-US" dirty="0" err="1"/>
              <a:t>çevrim-içi</a:t>
            </a:r>
            <a:r>
              <a:rPr lang="en-US" dirty="0"/>
              <a:t> </a:t>
            </a:r>
            <a:r>
              <a:rPr lang="en-US" dirty="0" err="1"/>
              <a:t>sensör</a:t>
            </a:r>
            <a:r>
              <a:rPr lang="en-US" dirty="0"/>
              <a:t> </a:t>
            </a:r>
            <a:r>
              <a:rPr lang="en-US" dirty="0" err="1"/>
              <a:t>verileri</a:t>
            </a:r>
            <a:r>
              <a:rPr lang="en-US" dirty="0"/>
              <a:t> </a:t>
            </a:r>
            <a:r>
              <a:rPr lang="en-US" dirty="0" err="1"/>
              <a:t>kullanılarak</a:t>
            </a:r>
            <a:r>
              <a:rPr lang="en-US" dirty="0"/>
              <a:t> </a:t>
            </a:r>
            <a:r>
              <a:rPr lang="en-US" dirty="0" err="1"/>
              <a:t>besleme</a:t>
            </a:r>
            <a:r>
              <a:rPr lang="en-US" dirty="0"/>
              <a:t> </a:t>
            </a:r>
            <a:r>
              <a:rPr lang="en-US" dirty="0" err="1"/>
              <a:t>bileşimi</a:t>
            </a:r>
            <a:r>
              <a:rPr lang="en-US" dirty="0"/>
              <a:t> </a:t>
            </a:r>
            <a:r>
              <a:rPr lang="en-US" dirty="0" err="1"/>
              <a:t>gerçek-zamanlı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edilmiş</a:t>
            </a:r>
            <a:r>
              <a:rPr lang="en-US" dirty="0"/>
              <a:t>, ≈ %14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tasarrufu</a:t>
            </a:r>
            <a:r>
              <a:rPr lang="en-US" dirty="0"/>
              <a:t> </a:t>
            </a:r>
            <a:r>
              <a:rPr lang="en-US" dirty="0" err="1"/>
              <a:t>sağlanmış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ürün</a:t>
            </a:r>
            <a:r>
              <a:rPr lang="en-US" dirty="0"/>
              <a:t> </a:t>
            </a:r>
            <a:r>
              <a:rPr lang="en-US" dirty="0" err="1"/>
              <a:t>saflığındaki</a:t>
            </a:r>
            <a:r>
              <a:rPr lang="en-US" dirty="0"/>
              <a:t> </a:t>
            </a:r>
            <a:r>
              <a:rPr lang="en-US" dirty="0" err="1"/>
              <a:t>sapmalar</a:t>
            </a:r>
            <a:r>
              <a:rPr lang="en-US" dirty="0"/>
              <a:t> </a:t>
            </a:r>
            <a:r>
              <a:rPr lang="en-US" dirty="0" err="1"/>
              <a:t>erkenden</a:t>
            </a:r>
            <a:r>
              <a:rPr lang="en-US" dirty="0"/>
              <a:t> </a:t>
            </a:r>
            <a:r>
              <a:rPr lang="en-US" dirty="0" err="1"/>
              <a:t>düzeltilerek</a:t>
            </a:r>
            <a:r>
              <a:rPr lang="en-US" dirty="0"/>
              <a:t> proses </a:t>
            </a:r>
            <a:r>
              <a:rPr lang="en-US" dirty="0" err="1"/>
              <a:t>kararlılığı</a:t>
            </a:r>
            <a:r>
              <a:rPr lang="en-US" dirty="0"/>
              <a:t> </a:t>
            </a:r>
            <a:r>
              <a:rPr lang="en-US" dirty="0" err="1"/>
              <a:t>korunmuştur</a:t>
            </a:r>
            <a:r>
              <a:rPr lang="en-US" dirty="0"/>
              <a:t>. </a:t>
            </a:r>
            <a:endParaRPr lang="tr-TR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25F1369-1A15-0AC6-1807-FAB81F27C2CE}"/>
              </a:ext>
            </a:extLst>
          </p:cNvPr>
          <p:cNvSpPr txBox="1"/>
          <p:nvPr/>
        </p:nvSpPr>
        <p:spPr>
          <a:xfrm>
            <a:off x="0" y="6396335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[8]: Leng, E., He, B., Chen, J., Liao, G., Ma, Y., Zhang, F., Liu, S., &amp; E, J. </a:t>
            </a:r>
            <a:r>
              <a:rPr lang="en-US" sz="1200" i="1" dirty="0"/>
              <a:t>Prediction of three-phased product distribution and bio-oil heating value of biomass fast pyrolysis based on machine learning</a:t>
            </a:r>
            <a:r>
              <a:rPr lang="en-US" sz="1200" dirty="0"/>
              <a:t>. Energy, 236 (2025): 121401. </a:t>
            </a:r>
          </a:p>
        </p:txBody>
      </p:sp>
    </p:spTree>
    <p:extLst>
      <p:ext uri="{BB962C8B-B14F-4D97-AF65-F5344CB8AC3E}">
        <p14:creationId xmlns:p14="http://schemas.microsoft.com/office/powerpoint/2010/main" val="13747416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0643B-CD58-07C0-639A-CEDEA341F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7A04E-624B-2C58-48CE-286426C7B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Yeni </a:t>
            </a:r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r>
              <a:rPr lang="en-US" dirty="0"/>
              <a:t> </a:t>
            </a:r>
            <a:r>
              <a:rPr lang="en-US" dirty="0" err="1"/>
              <a:t>Yaklaşımı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6FA83-BE64-78D5-9243-85DDC4087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Bu </a:t>
            </a:r>
            <a:r>
              <a:rPr lang="en-US" dirty="0" err="1"/>
              <a:t>çalışmadan</a:t>
            </a:r>
            <a:r>
              <a:rPr lang="en-US" dirty="0"/>
              <a:t> </a:t>
            </a:r>
            <a:r>
              <a:rPr lang="en-US" dirty="0" err="1"/>
              <a:t>esinlenilerek</a:t>
            </a:r>
            <a:r>
              <a:rPr lang="en-US" dirty="0"/>
              <a:t> yeni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r>
              <a:rPr lang="en-US" dirty="0"/>
              <a:t> </a:t>
            </a:r>
            <a:r>
              <a:rPr lang="en-US" dirty="0" err="1"/>
              <a:t>yaklaşımı</a:t>
            </a:r>
            <a:r>
              <a:rPr lang="en-US" dirty="0"/>
              <a:t> </a:t>
            </a:r>
            <a:r>
              <a:rPr lang="en-US" dirty="0" err="1"/>
              <a:t>tasarlanması</a:t>
            </a:r>
            <a:r>
              <a:rPr lang="en-US" dirty="0"/>
              <a:t> </a:t>
            </a:r>
            <a:r>
              <a:rPr lang="en-US" dirty="0" err="1"/>
              <a:t>düşünüldü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Biyokütleden</a:t>
            </a:r>
            <a:r>
              <a:rPr lang="en-US" dirty="0"/>
              <a:t> </a:t>
            </a:r>
            <a:r>
              <a:rPr lang="en-US" dirty="0" err="1"/>
              <a:t>elde</a:t>
            </a:r>
            <a:r>
              <a:rPr lang="en-US" dirty="0"/>
              <a:t> </a:t>
            </a:r>
            <a:r>
              <a:rPr lang="en-US" dirty="0" err="1"/>
              <a:t>edilen</a:t>
            </a:r>
            <a:r>
              <a:rPr lang="en-US" dirty="0"/>
              <a:t> </a:t>
            </a:r>
            <a:r>
              <a:rPr lang="en-US" dirty="0" err="1"/>
              <a:t>biyoyağın</a:t>
            </a:r>
            <a:r>
              <a:rPr lang="en-US" dirty="0"/>
              <a:t> </a:t>
            </a:r>
            <a:r>
              <a:rPr lang="en-US" dirty="0" err="1"/>
              <a:t>hammadde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kullanıldığı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proses </a:t>
            </a:r>
            <a:r>
              <a:rPr lang="en-US" dirty="0" err="1"/>
              <a:t>seçilerek</a:t>
            </a:r>
            <a:r>
              <a:rPr lang="en-US" dirty="0"/>
              <a:t> </a:t>
            </a:r>
            <a:r>
              <a:rPr lang="en-US" dirty="0" err="1"/>
              <a:t>Aspen’de</a:t>
            </a:r>
            <a:r>
              <a:rPr lang="en-US" dirty="0"/>
              <a:t> </a:t>
            </a:r>
            <a:r>
              <a:rPr lang="en-US" dirty="0" err="1"/>
              <a:t>modellenecek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Aspen’in </a:t>
            </a:r>
            <a:r>
              <a:rPr lang="en-US" dirty="0" err="1"/>
              <a:t>verdiği</a:t>
            </a:r>
            <a:r>
              <a:rPr lang="en-US" dirty="0"/>
              <a:t> </a:t>
            </a:r>
            <a:r>
              <a:rPr lang="en-US" dirty="0" err="1"/>
              <a:t>simülasyon</a:t>
            </a:r>
            <a:r>
              <a:rPr lang="en-US" dirty="0"/>
              <a:t> </a:t>
            </a:r>
            <a:r>
              <a:rPr lang="en-US" dirty="0" err="1"/>
              <a:t>sonuçları</a:t>
            </a:r>
            <a:r>
              <a:rPr lang="en-US" dirty="0"/>
              <a:t> </a:t>
            </a:r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öğrenmesine</a:t>
            </a:r>
            <a:r>
              <a:rPr lang="en-US" dirty="0"/>
              <a:t> </a:t>
            </a:r>
            <a:r>
              <a:rPr lang="en-US" dirty="0" err="1"/>
              <a:t>girdi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verilip</a:t>
            </a:r>
            <a:r>
              <a:rPr lang="en-US" dirty="0"/>
              <a:t> </a:t>
            </a: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içeriğinin</a:t>
            </a:r>
            <a:r>
              <a:rPr lang="en-US" dirty="0"/>
              <a:t> </a:t>
            </a:r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r>
              <a:rPr lang="en-US" dirty="0"/>
              <a:t> </a:t>
            </a:r>
            <a:r>
              <a:rPr lang="en-US" dirty="0" err="1"/>
              <a:t>öngörüsü</a:t>
            </a:r>
            <a:r>
              <a:rPr lang="en-US" dirty="0"/>
              <a:t> </a:t>
            </a:r>
            <a:r>
              <a:rPr lang="en-US" dirty="0" err="1"/>
              <a:t>hedeflenecektir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/>
              <a:t>Aspen </a:t>
            </a:r>
            <a:r>
              <a:rPr lang="en-US" dirty="0" err="1"/>
              <a:t>simülasyonunun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üretmesi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şimdiye</a:t>
            </a:r>
            <a:r>
              <a:rPr lang="en-US" dirty="0"/>
              <a:t>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dirty="0" err="1"/>
              <a:t>oluşturulmuş</a:t>
            </a:r>
            <a:r>
              <a:rPr lang="en-US" dirty="0"/>
              <a:t> </a:t>
            </a:r>
            <a:r>
              <a:rPr lang="en-US" dirty="0" err="1"/>
              <a:t>veritabanımızdaki</a:t>
            </a:r>
            <a:r>
              <a:rPr lang="en-US" dirty="0"/>
              <a:t> </a:t>
            </a: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kompozisyonu</a:t>
            </a:r>
            <a:r>
              <a:rPr lang="en-US" dirty="0"/>
              <a:t> </a:t>
            </a:r>
            <a:r>
              <a:rPr lang="en-US" dirty="0" err="1"/>
              <a:t>değerleri</a:t>
            </a:r>
            <a:r>
              <a:rPr lang="en-US" dirty="0"/>
              <a:t> </a:t>
            </a:r>
            <a:r>
              <a:rPr lang="en-US" dirty="0" err="1"/>
              <a:t>kullanılacak</a:t>
            </a:r>
            <a:r>
              <a:rPr lang="en-US" dirty="0"/>
              <a:t>.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9064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0E36A-BB87-30D1-D9E9-7A1C9AFE7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AAAA7-B1FE-0A0A-4723-C93F3232B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Yeni </a:t>
            </a:r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r>
              <a:rPr lang="en-US" dirty="0"/>
              <a:t> </a:t>
            </a:r>
            <a:r>
              <a:rPr lang="en-US" dirty="0" err="1"/>
              <a:t>Yaklaşımı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8E5B2-604B-DE8C-DCB2-2BDFD8E7F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Enerji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Isıtma</a:t>
            </a:r>
            <a:r>
              <a:rPr lang="en-US" b="1" dirty="0"/>
              <a:t> 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 err="1"/>
              <a:t>Ulaştırma</a:t>
            </a:r>
            <a:r>
              <a:rPr lang="en-US" b="1" dirty="0"/>
              <a:t> </a:t>
            </a:r>
            <a:r>
              <a:rPr lang="en-US" b="1" dirty="0" err="1"/>
              <a:t>Yakıtlarına</a:t>
            </a:r>
            <a:r>
              <a:rPr lang="en-US" b="1" dirty="0"/>
              <a:t> </a:t>
            </a:r>
            <a:r>
              <a:rPr lang="en-US" b="1" dirty="0" err="1"/>
              <a:t>Yükseltme</a:t>
            </a:r>
            <a:r>
              <a:rPr lang="en-US" b="1" dirty="0"/>
              <a:t> 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 err="1"/>
              <a:t>Kimyasal</a:t>
            </a:r>
            <a:r>
              <a:rPr lang="en-US" b="1" dirty="0"/>
              <a:t> </a:t>
            </a:r>
            <a:r>
              <a:rPr lang="en-US" b="1" dirty="0" err="1"/>
              <a:t>Hammadde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Malzeme</a:t>
            </a:r>
            <a:r>
              <a:rPr lang="en-US" b="1" dirty="0"/>
              <a:t> 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 err="1"/>
              <a:t>Hidrojen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Sentez</a:t>
            </a:r>
            <a:r>
              <a:rPr lang="en-US" b="1" dirty="0"/>
              <a:t>-Gaz </a:t>
            </a:r>
            <a:r>
              <a:rPr lang="en-US" b="1" dirty="0" err="1"/>
              <a:t>Üretimi</a:t>
            </a:r>
            <a:r>
              <a:rPr lang="en-US" b="1" dirty="0"/>
              <a:t> 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0920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9B6D0-3DB5-3CF7-D2E2-F8C8E3CD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00DCA-2EB5-378F-F975-4D09035D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Proses </a:t>
            </a:r>
            <a:r>
              <a:rPr lang="en-US" dirty="0" err="1"/>
              <a:t>Seçimi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2FDD6-914F-3381-D8ED-D21BEB88E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Biyoyağın</a:t>
            </a:r>
            <a:r>
              <a:rPr lang="en-US" dirty="0"/>
              <a:t> </a:t>
            </a:r>
            <a:r>
              <a:rPr lang="en-US" dirty="0" err="1"/>
              <a:t>doğrudan</a:t>
            </a:r>
            <a:r>
              <a:rPr lang="en-US" dirty="0"/>
              <a:t> </a:t>
            </a:r>
            <a:r>
              <a:rPr lang="en-US" dirty="0" err="1"/>
              <a:t>yakılması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basit</a:t>
            </a:r>
            <a:r>
              <a:rPr lang="en-US" dirty="0"/>
              <a:t> </a:t>
            </a:r>
            <a:r>
              <a:rPr lang="en-US" dirty="0" err="1"/>
              <a:t>akış</a:t>
            </a:r>
            <a:r>
              <a:rPr lang="en-US" dirty="0"/>
              <a:t> </a:t>
            </a:r>
            <a:r>
              <a:rPr lang="en-US" dirty="0" err="1"/>
              <a:t>şemasıdır</a:t>
            </a:r>
            <a:r>
              <a:rPr lang="en-US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RGibbs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RStoic</a:t>
            </a:r>
            <a:r>
              <a:rPr lang="en-US" dirty="0"/>
              <a:t> </a:t>
            </a:r>
            <a:r>
              <a:rPr lang="en-US" dirty="0" err="1"/>
              <a:t>reaktörü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ısı</a:t>
            </a:r>
            <a:r>
              <a:rPr lang="en-US" dirty="0"/>
              <a:t> </a:t>
            </a:r>
            <a:r>
              <a:rPr lang="en-US" dirty="0" err="1"/>
              <a:t>değiştiriciyle</a:t>
            </a:r>
            <a:r>
              <a:rPr lang="en-US" dirty="0"/>
              <a:t> </a:t>
            </a:r>
            <a:r>
              <a:rPr lang="en-US" dirty="0" err="1"/>
              <a:t>dakikalar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kurulabilir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/>
              <a:t>Buhar </a:t>
            </a:r>
            <a:r>
              <a:rPr lang="en-US" dirty="0" err="1"/>
              <a:t>reformingi</a:t>
            </a:r>
            <a:r>
              <a:rPr lang="en-US" dirty="0"/>
              <a:t>, </a:t>
            </a:r>
            <a:r>
              <a:rPr lang="en-US" dirty="0" err="1"/>
              <a:t>gaz-fazlı</a:t>
            </a:r>
            <a:r>
              <a:rPr lang="en-US" dirty="0"/>
              <a:t> </a:t>
            </a:r>
            <a:r>
              <a:rPr lang="en-US" dirty="0" err="1"/>
              <a:t>tepkimeler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hazır</a:t>
            </a:r>
            <a:r>
              <a:rPr lang="en-US" dirty="0"/>
              <a:t> </a:t>
            </a:r>
            <a:r>
              <a:rPr lang="en-US" dirty="0" err="1"/>
              <a:t>termodinamik</a:t>
            </a:r>
            <a:r>
              <a:rPr lang="en-US" dirty="0"/>
              <a:t> </a:t>
            </a:r>
            <a:r>
              <a:rPr lang="en-US" dirty="0" err="1"/>
              <a:t>veriler</a:t>
            </a:r>
            <a:r>
              <a:rPr lang="en-US" dirty="0"/>
              <a:t> </a:t>
            </a:r>
            <a:r>
              <a:rPr lang="en-US" dirty="0" err="1"/>
              <a:t>sayesinde</a:t>
            </a:r>
            <a:r>
              <a:rPr lang="en-US" dirty="0"/>
              <a:t> </a:t>
            </a:r>
            <a:r>
              <a:rPr lang="en-US" dirty="0" err="1"/>
              <a:t>uygun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seçim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durmaktadır</a:t>
            </a:r>
            <a:r>
              <a:rPr lang="en-US" dirty="0"/>
              <a:t>; 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Bekiroğulları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Kaya’nın</a:t>
            </a:r>
            <a:r>
              <a:rPr lang="en-US" dirty="0"/>
              <a:t> (2020)</a:t>
            </a:r>
            <a:r>
              <a:rPr lang="en-US" baseline="30000" dirty="0"/>
              <a:t>[9] </a:t>
            </a:r>
            <a:r>
              <a:rPr lang="en-US" dirty="0"/>
              <a:t> </a:t>
            </a:r>
            <a:r>
              <a:rPr lang="en-US" dirty="0" err="1"/>
              <a:t>beş</a:t>
            </a:r>
            <a:r>
              <a:rPr lang="en-US" dirty="0"/>
              <a:t> </a:t>
            </a:r>
            <a:r>
              <a:rPr lang="en-US" dirty="0" err="1"/>
              <a:t>bileşenli</a:t>
            </a:r>
            <a:r>
              <a:rPr lang="en-US" dirty="0"/>
              <a:t> </a:t>
            </a:r>
            <a:r>
              <a:rPr lang="en-US" dirty="0" err="1"/>
              <a:t>modelinde</a:t>
            </a:r>
            <a:r>
              <a:rPr lang="en-US" dirty="0"/>
              <a:t> her </a:t>
            </a:r>
            <a:r>
              <a:rPr lang="en-US" dirty="0" err="1"/>
              <a:t>simülasyon</a:t>
            </a:r>
            <a:r>
              <a:rPr lang="en-US" dirty="0"/>
              <a:t> &lt;5 s </a:t>
            </a:r>
            <a:r>
              <a:rPr lang="en-US" dirty="0" err="1"/>
              <a:t>sürmüştür</a:t>
            </a:r>
            <a:r>
              <a:rPr lang="en-US" dirty="0"/>
              <a:t>. 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1B994EE6-0CC3-A4A7-9252-6DC4012C4D16}"/>
              </a:ext>
            </a:extLst>
          </p:cNvPr>
          <p:cNvSpPr txBox="1"/>
          <p:nvPr/>
        </p:nvSpPr>
        <p:spPr>
          <a:xfrm>
            <a:off x="1" y="6581001"/>
            <a:ext cx="12191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[9]: </a:t>
            </a:r>
            <a:r>
              <a:rPr lang="en-US" sz="1200" dirty="0" err="1"/>
              <a:t>Bekiroğulları</a:t>
            </a:r>
            <a:r>
              <a:rPr lang="en-US" sz="1200" dirty="0"/>
              <a:t>, M., &amp; Kaya, M. </a:t>
            </a:r>
            <a:r>
              <a:rPr lang="en-US" sz="1200" i="1" dirty="0"/>
              <a:t>Investigation of Hydrogen Production from Bio-Oil Substances Using Aspen Plus</a:t>
            </a:r>
            <a:r>
              <a:rPr lang="en-US" sz="1200" dirty="0"/>
              <a:t>. Gazi University Journal of Science, 33(1) (2020): 14–20. </a:t>
            </a:r>
          </a:p>
        </p:txBody>
      </p:sp>
    </p:spTree>
    <p:extLst>
      <p:ext uri="{BB962C8B-B14F-4D97-AF65-F5344CB8AC3E}">
        <p14:creationId xmlns:p14="http://schemas.microsoft.com/office/powerpoint/2010/main" val="36710671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8A2F3-496C-6C6A-1F22-81BE6DA7B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B3A9B-F000-D330-8BA2-AAB612D8B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Proses </a:t>
            </a:r>
            <a:r>
              <a:rPr lang="en-US" dirty="0" err="1"/>
              <a:t>Seçimi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E0C0C-473F-B357-A0B5-5A5AEABB5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Hidro-deoksijenasyon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kademeli</a:t>
            </a:r>
            <a:r>
              <a:rPr lang="en-US" dirty="0"/>
              <a:t> </a:t>
            </a:r>
            <a:r>
              <a:rPr lang="en-US" dirty="0" err="1"/>
              <a:t>reaktör</a:t>
            </a:r>
            <a:r>
              <a:rPr lang="en-US" dirty="0"/>
              <a:t>, </a:t>
            </a:r>
            <a:r>
              <a:rPr lang="en-US" dirty="0" err="1"/>
              <a:t>hidrojen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devri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literatür</a:t>
            </a:r>
            <a:r>
              <a:rPr lang="en-US" dirty="0"/>
              <a:t> </a:t>
            </a:r>
            <a:r>
              <a:rPr lang="en-US" dirty="0" err="1"/>
              <a:t>kinetiği</a:t>
            </a:r>
            <a:r>
              <a:rPr lang="en-US" dirty="0"/>
              <a:t> </a:t>
            </a:r>
            <a:r>
              <a:rPr lang="en-US" dirty="0" err="1"/>
              <a:t>gerektirir</a:t>
            </a:r>
            <a:r>
              <a:rPr lang="en-US" dirty="0"/>
              <a:t> (Lee </a:t>
            </a:r>
            <a:r>
              <a:rPr lang="en-US" dirty="0" err="1"/>
              <a:t>ve</a:t>
            </a:r>
            <a:r>
              <a:rPr lang="en-US" dirty="0"/>
              <a:t> ark., 2016)</a:t>
            </a:r>
            <a:r>
              <a:rPr lang="en-US" baseline="30000" dirty="0"/>
              <a:t> [10]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Fenolik</a:t>
            </a:r>
            <a:r>
              <a:rPr lang="en-US" dirty="0"/>
              <a:t> </a:t>
            </a:r>
            <a:r>
              <a:rPr lang="en-US" dirty="0" err="1"/>
              <a:t>reçine</a:t>
            </a:r>
            <a:r>
              <a:rPr lang="en-US" dirty="0"/>
              <a:t> </a:t>
            </a:r>
            <a:r>
              <a:rPr lang="en-US" dirty="0" err="1"/>
              <a:t>üretimi</a:t>
            </a:r>
            <a:r>
              <a:rPr lang="en-US" dirty="0"/>
              <a:t>, pseudo-</a:t>
            </a:r>
            <a:r>
              <a:rPr lang="en-US" dirty="0" err="1"/>
              <a:t>komponent</a:t>
            </a:r>
            <a:r>
              <a:rPr lang="en-US" dirty="0"/>
              <a:t> </a:t>
            </a:r>
            <a:r>
              <a:rPr lang="en-US" dirty="0" err="1"/>
              <a:t>tanımları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özel</a:t>
            </a:r>
            <a:r>
              <a:rPr lang="en-US" dirty="0"/>
              <a:t> UNIQUAC </a:t>
            </a:r>
            <a:r>
              <a:rPr lang="en-US" dirty="0" err="1"/>
              <a:t>parametreleri</a:t>
            </a:r>
            <a:r>
              <a:rPr lang="en-US" dirty="0"/>
              <a:t> </a:t>
            </a:r>
            <a:r>
              <a:rPr lang="en-US" dirty="0" err="1"/>
              <a:t>nedeniyle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karmaşıktır</a:t>
            </a:r>
            <a:r>
              <a:rPr lang="en-US" dirty="0"/>
              <a:t> (Choi </a:t>
            </a:r>
            <a:r>
              <a:rPr lang="en-US" dirty="0" err="1"/>
              <a:t>ve</a:t>
            </a:r>
            <a:r>
              <a:rPr lang="en-US" dirty="0"/>
              <a:t> ark., 2015)</a:t>
            </a:r>
            <a:r>
              <a:rPr lang="en-US" baseline="30000" dirty="0"/>
              <a:t> [11]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/>
              <a:t>Biyo-</a:t>
            </a:r>
            <a:r>
              <a:rPr lang="en-US" dirty="0" err="1"/>
              <a:t>asfalt</a:t>
            </a:r>
            <a:r>
              <a:rPr lang="en-US" dirty="0"/>
              <a:t> </a:t>
            </a:r>
            <a:r>
              <a:rPr lang="en-US" dirty="0" err="1"/>
              <a:t>sentezi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gereken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moleküler</a:t>
            </a:r>
            <a:r>
              <a:rPr lang="en-US" dirty="0"/>
              <a:t> </a:t>
            </a:r>
            <a:r>
              <a:rPr lang="en-US" dirty="0" err="1"/>
              <a:t>kütleli</a:t>
            </a:r>
            <a:r>
              <a:rPr lang="en-US" dirty="0"/>
              <a:t>,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viskoz</a:t>
            </a:r>
            <a:r>
              <a:rPr lang="en-US" dirty="0"/>
              <a:t> </a:t>
            </a:r>
            <a:r>
              <a:rPr lang="en-US" dirty="0" err="1"/>
              <a:t>fazın</a:t>
            </a:r>
            <a:r>
              <a:rPr lang="en-US" dirty="0"/>
              <a:t>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özellik</a:t>
            </a:r>
            <a:r>
              <a:rPr lang="en-US" dirty="0"/>
              <a:t> </a:t>
            </a:r>
            <a:r>
              <a:rPr lang="en-US" dirty="0" err="1"/>
              <a:t>verileri</a:t>
            </a:r>
            <a:r>
              <a:rPr lang="en-US" dirty="0"/>
              <a:t> Aspen </a:t>
            </a:r>
            <a:r>
              <a:rPr lang="en-US" dirty="0" err="1"/>
              <a:t>veritabanında</a:t>
            </a:r>
            <a:r>
              <a:rPr lang="en-US" dirty="0"/>
              <a:t> </a:t>
            </a:r>
            <a:r>
              <a:rPr lang="en-US" dirty="0" err="1"/>
              <a:t>mevcut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PC-SAFT </a:t>
            </a:r>
            <a:r>
              <a:rPr lang="en-US" dirty="0" err="1"/>
              <a:t>benzeri</a:t>
            </a:r>
            <a:r>
              <a:rPr lang="en-US" dirty="0"/>
              <a:t> </a:t>
            </a:r>
            <a:r>
              <a:rPr lang="en-US" dirty="0" err="1"/>
              <a:t>özel</a:t>
            </a:r>
            <a:r>
              <a:rPr lang="en-US" dirty="0"/>
              <a:t> EOS </a:t>
            </a:r>
            <a:r>
              <a:rPr lang="en-US" dirty="0" err="1"/>
              <a:t>gerektirir</a:t>
            </a:r>
            <a:r>
              <a:rPr lang="en-US" dirty="0"/>
              <a:t> (Zhang </a:t>
            </a:r>
            <a:r>
              <a:rPr lang="en-US" dirty="0" err="1"/>
              <a:t>ve</a:t>
            </a:r>
            <a:r>
              <a:rPr lang="en-US" dirty="0"/>
              <a:t> ark., 2022)</a:t>
            </a:r>
            <a:r>
              <a:rPr lang="en-US" baseline="30000" dirty="0"/>
              <a:t> [12]</a:t>
            </a:r>
            <a:r>
              <a:rPr lang="en-US" dirty="0"/>
              <a:t>. </a:t>
            </a:r>
            <a:endParaRPr lang="tr-TR" dirty="0"/>
          </a:p>
          <a:p>
            <a:pPr>
              <a:lnSpc>
                <a:spcPct val="150000"/>
              </a:lnSpc>
            </a:pPr>
            <a:endParaRPr lang="tr-TR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1532EB34-7F9E-B4F9-9327-345F02B72017}"/>
              </a:ext>
            </a:extLst>
          </p:cNvPr>
          <p:cNvSpPr txBox="1"/>
          <p:nvPr/>
        </p:nvSpPr>
        <p:spPr>
          <a:xfrm>
            <a:off x="1" y="5961599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[11]: Choi, G. G., &amp; Oh, S. J. </a:t>
            </a:r>
            <a:r>
              <a:rPr lang="en-US" sz="1200" i="1" dirty="0"/>
              <a:t>Production of bio-based phenolic resin and activated carbon from bio-oil and biochar derived from fast pyrolysis of palm kernel shells</a:t>
            </a:r>
            <a:r>
              <a:rPr lang="en-US" sz="1200" dirty="0"/>
              <a:t>. Bioresource Technology, 178 (2015): 99–107. 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E63FFCC-0159-03E3-5E60-E09F3089D0EE}"/>
              </a:ext>
            </a:extLst>
          </p:cNvPr>
          <p:cNvSpPr txBox="1"/>
          <p:nvPr/>
        </p:nvSpPr>
        <p:spPr>
          <a:xfrm>
            <a:off x="-1" y="6396335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[12]: Zhang, S., Chen, T., Xiong, Y., &amp; Dong, Q. </a:t>
            </a:r>
            <a:r>
              <a:rPr lang="en-US" sz="1200" i="1" dirty="0"/>
              <a:t>A comprehensive review of bio-oil, bio-binder and bio-asphalt materials: Their source, composition, preparation and performance</a:t>
            </a:r>
            <a:r>
              <a:rPr lang="en-US" sz="1200" dirty="0"/>
              <a:t>. Journal of Traffic and Transportation Engineering (English Edition), 9(2) (2022): 151–166.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211756-D3A3-A311-5035-E895E5973C33}"/>
              </a:ext>
            </a:extLst>
          </p:cNvPr>
          <p:cNvSpPr txBox="1"/>
          <p:nvPr/>
        </p:nvSpPr>
        <p:spPr>
          <a:xfrm>
            <a:off x="1" y="5657671"/>
            <a:ext cx="12191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[10]: Lee, H., &amp; Kim, Y. M. </a:t>
            </a:r>
            <a:r>
              <a:rPr lang="en-US" sz="1200" i="1" dirty="0"/>
              <a:t>Recent advances in the catalytic hydrodeoxygenation of bio-oil</a:t>
            </a:r>
            <a:r>
              <a:rPr lang="en-US" sz="1200" dirty="0"/>
              <a:t>. Korean Journal of Chemical Engineering, 33(12) (2016): 3299–3315. </a:t>
            </a:r>
          </a:p>
        </p:txBody>
      </p:sp>
    </p:spTree>
    <p:extLst>
      <p:ext uri="{BB962C8B-B14F-4D97-AF65-F5344CB8AC3E}">
        <p14:creationId xmlns:p14="http://schemas.microsoft.com/office/powerpoint/2010/main" val="10859340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ED0C0-AA78-FE17-17A8-30793BEC6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974C8-3383-3EE6-780F-83F27E152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Buhar reforming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DBC32-E18B-F2BF-6879-E1ACA830B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Reforming, 650-850 °C, 1-30 bar </a:t>
            </a:r>
            <a:r>
              <a:rPr lang="en-US" dirty="0" err="1"/>
              <a:t>ve</a:t>
            </a:r>
            <a:r>
              <a:rPr lang="en-US" dirty="0"/>
              <a:t> S/C = 2-6 </a:t>
            </a:r>
            <a:r>
              <a:rPr lang="en-US" dirty="0" err="1"/>
              <a:t>aralığında</a:t>
            </a:r>
            <a:r>
              <a:rPr lang="en-US" dirty="0"/>
              <a:t> </a:t>
            </a:r>
            <a:r>
              <a:rPr lang="en-US" dirty="0" err="1"/>
              <a:t>beşten</a:t>
            </a:r>
            <a:r>
              <a:rPr lang="en-US" dirty="0"/>
              <a:t> </a:t>
            </a:r>
            <a:r>
              <a:rPr lang="en-US" dirty="0" err="1"/>
              <a:t>fazla</a:t>
            </a:r>
            <a:r>
              <a:rPr lang="en-US" dirty="0"/>
              <a:t> </a:t>
            </a:r>
            <a:r>
              <a:rPr lang="en-US" dirty="0" err="1"/>
              <a:t>manipüle</a:t>
            </a:r>
            <a:r>
              <a:rPr lang="en-US" dirty="0"/>
              <a:t> </a:t>
            </a:r>
            <a:r>
              <a:rPr lang="en-US" dirty="0" err="1"/>
              <a:t>edilebilir</a:t>
            </a:r>
            <a:r>
              <a:rPr lang="en-US" dirty="0"/>
              <a:t> </a:t>
            </a:r>
            <a:r>
              <a:rPr lang="en-US" dirty="0" err="1"/>
              <a:t>değişken</a:t>
            </a:r>
            <a:r>
              <a:rPr lang="en-US" dirty="0"/>
              <a:t> </a:t>
            </a:r>
            <a:r>
              <a:rPr lang="en-US" dirty="0" err="1"/>
              <a:t>sunar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endotermik</a:t>
            </a:r>
            <a:r>
              <a:rPr lang="en-US" dirty="0"/>
              <a:t> </a:t>
            </a:r>
            <a:r>
              <a:rPr lang="en-US" dirty="0" err="1"/>
              <a:t>karakteri</a:t>
            </a:r>
            <a:r>
              <a:rPr lang="en-US" dirty="0"/>
              <a:t> </a:t>
            </a:r>
            <a:r>
              <a:rPr lang="en-US" dirty="0" err="1"/>
              <a:t>sayesinde</a:t>
            </a:r>
            <a:r>
              <a:rPr lang="en-US" dirty="0"/>
              <a:t> </a:t>
            </a:r>
            <a:r>
              <a:rPr lang="en-US" dirty="0" err="1"/>
              <a:t>saniyeler</a:t>
            </a:r>
            <a:r>
              <a:rPr lang="en-US" dirty="0"/>
              <a:t> </a:t>
            </a:r>
            <a:r>
              <a:rPr lang="en-US" dirty="0" err="1"/>
              <a:t>ölçeğinde</a:t>
            </a:r>
            <a:r>
              <a:rPr lang="en-US" dirty="0"/>
              <a:t> </a:t>
            </a:r>
            <a:r>
              <a:rPr lang="en-US" dirty="0" err="1"/>
              <a:t>hesaplanarak</a:t>
            </a:r>
            <a:r>
              <a:rPr lang="en-US" dirty="0"/>
              <a:t> </a:t>
            </a:r>
            <a:r>
              <a:rPr lang="en-US" dirty="0" err="1"/>
              <a:t>binlerce</a:t>
            </a:r>
            <a:r>
              <a:rPr lang="en-US" dirty="0"/>
              <a:t> </a:t>
            </a:r>
            <a:r>
              <a:rPr lang="en-US" dirty="0" err="1"/>
              <a:t>senaryoluk</a:t>
            </a:r>
            <a:r>
              <a:rPr lang="en-US" dirty="0"/>
              <a:t> </a:t>
            </a:r>
            <a:r>
              <a:rPr lang="en-US" dirty="0" err="1"/>
              <a:t>dengeli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setleri</a:t>
            </a:r>
            <a:r>
              <a:rPr lang="en-US" dirty="0"/>
              <a:t> </a:t>
            </a:r>
            <a:r>
              <a:rPr lang="en-US" dirty="0" err="1"/>
              <a:t>üretir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/>
              <a:t>Singh </a:t>
            </a:r>
            <a:r>
              <a:rPr lang="en-US" dirty="0" err="1"/>
              <a:t>ve</a:t>
            </a:r>
            <a:r>
              <a:rPr lang="en-US" dirty="0"/>
              <a:t> ark. (2024)</a:t>
            </a:r>
            <a:r>
              <a:rPr lang="en-US" baseline="30000" dirty="0"/>
              <a:t> [13]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Bekiroğulları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Kaya’nın</a:t>
            </a:r>
            <a:r>
              <a:rPr lang="en-US" dirty="0"/>
              <a:t> (2020)</a:t>
            </a:r>
            <a:r>
              <a:rPr lang="en-US" baseline="30000" dirty="0"/>
              <a:t> [9]</a:t>
            </a:r>
            <a:r>
              <a:rPr lang="en-US" dirty="0"/>
              <a:t> </a:t>
            </a:r>
            <a:r>
              <a:rPr lang="en-US" dirty="0" err="1"/>
              <a:t>sonuçları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yaklaşımın</a:t>
            </a:r>
            <a:r>
              <a:rPr lang="en-US" dirty="0"/>
              <a:t> hem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verim</a:t>
            </a:r>
            <a:r>
              <a:rPr lang="en-US" dirty="0"/>
              <a:t> hem de </a:t>
            </a:r>
            <a:r>
              <a:rPr lang="en-US" dirty="0" err="1"/>
              <a:t>karbon</a:t>
            </a:r>
            <a:r>
              <a:rPr lang="en-US" dirty="0"/>
              <a:t> </a:t>
            </a:r>
            <a:r>
              <a:rPr lang="en-US" dirty="0" err="1"/>
              <a:t>dönüşümü</a:t>
            </a:r>
            <a:r>
              <a:rPr lang="en-US" dirty="0"/>
              <a:t> </a:t>
            </a:r>
            <a:r>
              <a:rPr lang="en-US" dirty="0" err="1"/>
              <a:t>açısından</a:t>
            </a:r>
            <a:r>
              <a:rPr lang="en-US" dirty="0"/>
              <a:t> </a:t>
            </a:r>
            <a:r>
              <a:rPr lang="en-US" dirty="0" err="1"/>
              <a:t>endüstriyel</a:t>
            </a:r>
            <a:r>
              <a:rPr lang="en-US" dirty="0"/>
              <a:t> </a:t>
            </a:r>
            <a:r>
              <a:rPr lang="en-US" dirty="0" err="1"/>
              <a:t>fizibilitesini</a:t>
            </a:r>
            <a:r>
              <a:rPr lang="en-US" dirty="0"/>
              <a:t> </a:t>
            </a:r>
            <a:r>
              <a:rPr lang="en-US" dirty="0" err="1"/>
              <a:t>doğrulamaktadır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Böylece</a:t>
            </a:r>
            <a:r>
              <a:rPr lang="en-US" dirty="0"/>
              <a:t> Aspen-Python </a:t>
            </a:r>
            <a:r>
              <a:rPr lang="en-US" dirty="0" err="1"/>
              <a:t>entegrasyonu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gerçeğe</a:t>
            </a:r>
            <a:r>
              <a:rPr lang="en-US" dirty="0"/>
              <a:t> </a:t>
            </a:r>
            <a:r>
              <a:rPr lang="en-US" dirty="0" err="1"/>
              <a:t>yakın</a:t>
            </a:r>
            <a:r>
              <a:rPr lang="en-US" dirty="0"/>
              <a:t> </a:t>
            </a:r>
            <a:r>
              <a:rPr lang="en-US" dirty="0" err="1"/>
              <a:t>dinamik</a:t>
            </a:r>
            <a:r>
              <a:rPr lang="en-US" dirty="0"/>
              <a:t> </a:t>
            </a:r>
            <a:r>
              <a:rPr lang="en-US" dirty="0" err="1"/>
              <a:t>modeller</a:t>
            </a:r>
            <a:r>
              <a:rPr lang="en-US" dirty="0"/>
              <a:t> </a:t>
            </a:r>
            <a:r>
              <a:rPr lang="en-US" dirty="0" err="1"/>
              <a:t>elde</a:t>
            </a:r>
            <a:r>
              <a:rPr lang="en-US" dirty="0"/>
              <a:t> </a:t>
            </a:r>
            <a:r>
              <a:rPr lang="en-US" dirty="0" err="1"/>
              <a:t>edilebilir</a:t>
            </a:r>
            <a:r>
              <a:rPr lang="en-US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makine-öğrenimi</a:t>
            </a:r>
            <a:r>
              <a:rPr lang="en-US" dirty="0"/>
              <a:t> </a:t>
            </a:r>
            <a:r>
              <a:rPr lang="en-US" dirty="0" err="1"/>
              <a:t>destekli</a:t>
            </a:r>
            <a:r>
              <a:rPr lang="en-US" dirty="0"/>
              <a:t> </a:t>
            </a:r>
            <a:r>
              <a:rPr lang="en-US" dirty="0" err="1"/>
              <a:t>kestirimci</a:t>
            </a:r>
            <a:r>
              <a:rPr lang="en-US" dirty="0"/>
              <a:t> control (MLAPC)</a:t>
            </a:r>
            <a:endParaRPr lang="tr-TR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EF8C175C-0C56-4EBD-92A2-1C1456E5B33B}"/>
              </a:ext>
            </a:extLst>
          </p:cNvPr>
          <p:cNvSpPr txBox="1"/>
          <p:nvPr/>
        </p:nvSpPr>
        <p:spPr>
          <a:xfrm>
            <a:off x="0" y="6387370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[13]: Singh, P. P., &amp; Jaswal, A. </a:t>
            </a:r>
            <a:r>
              <a:rPr lang="en-US" sz="1200" i="1" dirty="0"/>
              <a:t>Green hydrogen production from biomass – A thermodynamic assessment of the potential of conventional and advanced bio-oil steam reforming processes</a:t>
            </a:r>
            <a:r>
              <a:rPr lang="en-US" sz="1200" dirty="0"/>
              <a:t>. International Journal of Hydrogen Energy, 50 (2024): 627–639. </a:t>
            </a:r>
          </a:p>
        </p:txBody>
      </p:sp>
    </p:spTree>
    <p:extLst>
      <p:ext uri="{BB962C8B-B14F-4D97-AF65-F5344CB8AC3E}">
        <p14:creationId xmlns:p14="http://schemas.microsoft.com/office/powerpoint/2010/main" val="33934438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48D8C-14C0-34BB-2388-E2D8DDC8C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196DA-A602-2EEC-94BE-DC2150C38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Buhar reforming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12B54-2361-5D23-2459-63F288B30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Hidrojen‐zengin</a:t>
            </a:r>
            <a:r>
              <a:rPr lang="en-US" dirty="0"/>
              <a:t> </a:t>
            </a:r>
            <a:r>
              <a:rPr lang="en-US" dirty="0" err="1"/>
              <a:t>sentetik</a:t>
            </a:r>
            <a:r>
              <a:rPr lang="en-US" dirty="0"/>
              <a:t> </a:t>
            </a:r>
            <a:r>
              <a:rPr lang="en-US" dirty="0" err="1"/>
              <a:t>gaz</a:t>
            </a:r>
            <a:r>
              <a:rPr lang="en-US" dirty="0"/>
              <a:t> </a:t>
            </a:r>
            <a:r>
              <a:rPr lang="en-US" dirty="0" err="1"/>
              <a:t>üretim</a:t>
            </a:r>
            <a:r>
              <a:rPr lang="en-US" dirty="0"/>
              <a:t> </a:t>
            </a:r>
            <a:r>
              <a:rPr lang="en-US" dirty="0" err="1"/>
              <a:t>rotaları</a:t>
            </a:r>
            <a:r>
              <a:rPr lang="en-US" dirty="0"/>
              <a:t> </a:t>
            </a:r>
            <a:r>
              <a:rPr lang="en-US" dirty="0" err="1"/>
              <a:t>literatürde</a:t>
            </a:r>
            <a:r>
              <a:rPr lang="en-US" dirty="0"/>
              <a:t> </a:t>
            </a:r>
            <a:r>
              <a:rPr lang="en-US" dirty="0" err="1"/>
              <a:t>öne</a:t>
            </a:r>
            <a:r>
              <a:rPr lang="en-US" dirty="0"/>
              <a:t> </a:t>
            </a:r>
            <a:r>
              <a:rPr lang="en-US" dirty="0" err="1"/>
              <a:t>çıkmaktadır</a:t>
            </a:r>
            <a:r>
              <a:rPr lang="en-US" dirty="0"/>
              <a:t> (Bridgwater </a:t>
            </a:r>
            <a:r>
              <a:rPr lang="en-US" dirty="0" err="1"/>
              <a:t>ve</a:t>
            </a:r>
            <a:r>
              <a:rPr lang="en-US" dirty="0"/>
              <a:t> Peacocke, 2000)</a:t>
            </a:r>
            <a:r>
              <a:rPr lang="en-US" baseline="30000" dirty="0"/>
              <a:t> [14]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/>
              <a:t>Wang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arkadaşlarının</a:t>
            </a:r>
            <a:r>
              <a:rPr lang="en-US" dirty="0"/>
              <a:t> (2013)</a:t>
            </a:r>
            <a:r>
              <a:rPr lang="en-US" baseline="30000" dirty="0"/>
              <a:t> [15]</a:t>
            </a:r>
            <a:r>
              <a:rPr lang="en-US" dirty="0"/>
              <a:t> </a:t>
            </a:r>
            <a:r>
              <a:rPr lang="en-US" dirty="0" err="1"/>
              <a:t>gösterdiği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tip “surrogate” </a:t>
            </a:r>
            <a:r>
              <a:rPr lang="en-US" dirty="0" err="1"/>
              <a:t>yaklaşımı</a:t>
            </a:r>
            <a:r>
              <a:rPr lang="en-US" dirty="0"/>
              <a:t>, Aspen Plus v10+ </a:t>
            </a:r>
            <a:r>
              <a:rPr lang="en-US" dirty="0" err="1"/>
              <a:t>sürümlerinde</a:t>
            </a:r>
            <a:r>
              <a:rPr lang="en-US" dirty="0"/>
              <a:t> RYIELD </a:t>
            </a:r>
            <a:r>
              <a:rPr lang="en-US" dirty="0" err="1"/>
              <a:t>bloğu</a:t>
            </a:r>
            <a:r>
              <a:rPr lang="en-US" dirty="0"/>
              <a:t> </a:t>
            </a:r>
            <a:r>
              <a:rPr lang="en-US" dirty="0" err="1"/>
              <a:t>kullanılarak</a:t>
            </a:r>
            <a:r>
              <a:rPr lang="en-US" dirty="0"/>
              <a:t> </a:t>
            </a:r>
            <a:r>
              <a:rPr lang="en-US" dirty="0" err="1"/>
              <a:t>gerçekçi</a:t>
            </a:r>
            <a:r>
              <a:rPr lang="en-US" dirty="0"/>
              <a:t> </a:t>
            </a:r>
            <a:r>
              <a:rPr lang="en-US" dirty="0" err="1"/>
              <a:t>ürün</a:t>
            </a:r>
            <a:r>
              <a:rPr lang="en-US" dirty="0"/>
              <a:t> </a:t>
            </a:r>
            <a:r>
              <a:rPr lang="en-US" dirty="0" err="1"/>
              <a:t>dağılımlarına</a:t>
            </a:r>
            <a:r>
              <a:rPr lang="en-US" dirty="0"/>
              <a:t> </a:t>
            </a:r>
            <a:r>
              <a:rPr lang="en-US" dirty="0" err="1"/>
              <a:t>yol</a:t>
            </a:r>
            <a:r>
              <a:rPr lang="en-US" dirty="0"/>
              <a:t> </a:t>
            </a:r>
            <a:r>
              <a:rPr lang="en-US" dirty="0" err="1"/>
              <a:t>açar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Ana </a:t>
            </a:r>
            <a:r>
              <a:rPr lang="en-US" dirty="0" err="1"/>
              <a:t>endotermik</a:t>
            </a:r>
            <a:r>
              <a:rPr lang="en-US" dirty="0"/>
              <a:t> </a:t>
            </a:r>
            <a:r>
              <a:rPr lang="en-US" dirty="0" err="1"/>
              <a:t>tepkimenin</a:t>
            </a:r>
            <a:r>
              <a:rPr lang="en-US" dirty="0"/>
              <a:t> (</a:t>
            </a:r>
            <a:r>
              <a:rPr lang="en-US" dirty="0" err="1"/>
              <a:t>C</a:t>
            </a:r>
            <a:r>
              <a:rPr lang="en-US" baseline="-25000" dirty="0" err="1"/>
              <a:t>n</a:t>
            </a:r>
            <a:r>
              <a:rPr lang="en-US" dirty="0" err="1"/>
              <a:t>H</a:t>
            </a:r>
            <a:r>
              <a:rPr lang="en-US" baseline="-25000" dirty="0" err="1"/>
              <a:t>m</a:t>
            </a:r>
            <a:r>
              <a:rPr lang="en-US" dirty="0" err="1"/>
              <a:t>O</a:t>
            </a:r>
            <a:r>
              <a:rPr lang="en-US" baseline="-25000" dirty="0" err="1"/>
              <a:t>k</a:t>
            </a:r>
            <a:r>
              <a:rPr lang="en-US" dirty="0" err="1"/>
              <a:t>+H₂O⇌nCO+H</a:t>
            </a:r>
            <a:r>
              <a:rPr lang="en-US" dirty="0"/>
              <a:t>₂, </a:t>
            </a:r>
            <a:r>
              <a:rPr lang="el-GR" dirty="0"/>
              <a:t>Δ</a:t>
            </a:r>
            <a:r>
              <a:rPr lang="en-US" dirty="0"/>
              <a:t>H° = +206 kJ mol⁻¹) </a:t>
            </a:r>
            <a:r>
              <a:rPr lang="en-US" dirty="0" err="1"/>
              <a:t>etkin</a:t>
            </a:r>
            <a:r>
              <a:rPr lang="en-US" dirty="0"/>
              <a:t> </a:t>
            </a:r>
            <a:r>
              <a:rPr lang="en-US" dirty="0" err="1"/>
              <a:t>çalışabilmesi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literatür</a:t>
            </a:r>
            <a:r>
              <a:rPr lang="en-US" dirty="0"/>
              <a:t> </a:t>
            </a:r>
            <a:r>
              <a:rPr lang="en-US" dirty="0" err="1"/>
              <a:t>optimumu</a:t>
            </a:r>
            <a:r>
              <a:rPr lang="en-US" dirty="0"/>
              <a:t> 850 °C, 20 bar, S/C=3–4 </a:t>
            </a:r>
            <a:r>
              <a:rPr lang="en-US" dirty="0" err="1"/>
              <a:t>aralığıdır</a:t>
            </a:r>
            <a:r>
              <a:rPr lang="en-US" dirty="0"/>
              <a:t> (</a:t>
            </a:r>
            <a:r>
              <a:rPr lang="en-US" dirty="0" err="1"/>
              <a:t>Luyben</a:t>
            </a:r>
            <a:r>
              <a:rPr lang="en-US" dirty="0"/>
              <a:t>, 2016)</a:t>
            </a:r>
            <a:r>
              <a:rPr lang="en-US" baseline="30000" dirty="0"/>
              <a:t> [16]</a:t>
            </a:r>
            <a:r>
              <a:rPr lang="en-US" dirty="0"/>
              <a:t>. </a:t>
            </a:r>
          </a:p>
          <a:p>
            <a:endParaRPr lang="tr-TR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BA8FAD8-39CD-07F8-38ED-4624187562E4}"/>
              </a:ext>
            </a:extLst>
          </p:cNvPr>
          <p:cNvSpPr txBox="1"/>
          <p:nvPr/>
        </p:nvSpPr>
        <p:spPr>
          <a:xfrm>
            <a:off x="1" y="6194532"/>
            <a:ext cx="12191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[15]: Wang, S., &amp; Jiang, W. </a:t>
            </a:r>
            <a:r>
              <a:rPr lang="en-US" sz="1200" i="1" dirty="0"/>
              <a:t>Catalytic Steam Reforming of Bio-oil Model Compounds</a:t>
            </a:r>
            <a:r>
              <a:rPr lang="en-US" sz="1200" dirty="0"/>
              <a:t>. Energy &amp; Fuels, 27 (2013): 415–423. 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19116CA-D404-19D4-0FBD-6D69BED8FF43}"/>
              </a:ext>
            </a:extLst>
          </p:cNvPr>
          <p:cNvSpPr txBox="1"/>
          <p:nvPr/>
        </p:nvSpPr>
        <p:spPr>
          <a:xfrm>
            <a:off x="-1" y="5808063"/>
            <a:ext cx="12191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[14] Bridgwater, A., &amp; Peacocke, G. </a:t>
            </a:r>
            <a:r>
              <a:rPr lang="en-US" sz="1200" i="1" dirty="0"/>
              <a:t>Fast Pyrolysis Processes for Biomass</a:t>
            </a:r>
            <a:r>
              <a:rPr lang="en-US" sz="1200" dirty="0"/>
              <a:t>. Renewable and Sustainable Energy Reviews, 4 (2000): 1–73.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85C476-BC02-4E6F-9012-71F6928EB17E}"/>
              </a:ext>
            </a:extLst>
          </p:cNvPr>
          <p:cNvSpPr txBox="1"/>
          <p:nvPr/>
        </p:nvSpPr>
        <p:spPr>
          <a:xfrm>
            <a:off x="0" y="6581001"/>
            <a:ext cx="12191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[16] </a:t>
            </a:r>
            <a:r>
              <a:rPr lang="en-US" sz="1200" dirty="0" err="1"/>
              <a:t>Luyben</a:t>
            </a:r>
            <a:r>
              <a:rPr lang="en-US" sz="1200" dirty="0"/>
              <a:t>, W. </a:t>
            </a:r>
            <a:r>
              <a:rPr lang="en-US" sz="1200" i="1" dirty="0"/>
              <a:t>Process Design of Steam-Methane Reformers</a:t>
            </a:r>
            <a:r>
              <a:rPr lang="en-US" sz="1200" dirty="0"/>
              <a:t>. Industrial &amp; Engineering Chemistry Research, 55 (2016): 2486–2498. </a:t>
            </a:r>
          </a:p>
        </p:txBody>
      </p:sp>
    </p:spTree>
    <p:extLst>
      <p:ext uri="{BB962C8B-B14F-4D97-AF65-F5344CB8AC3E}">
        <p14:creationId xmlns:p14="http://schemas.microsoft.com/office/powerpoint/2010/main" val="23627809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C6135-0C49-C16D-3D2D-3B5D6B747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4D7BF-FCDC-7B71-429F-15CA1C0A0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615" y="276999"/>
            <a:ext cx="9694832" cy="1320800"/>
          </a:xfrm>
        </p:spPr>
        <p:txBody>
          <a:bodyPr/>
          <a:lstStyle/>
          <a:p>
            <a:r>
              <a:rPr lang="en-US" dirty="0"/>
              <a:t>Buhar reforming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B1A8E-1232-3E72-1CE4-1EA9E745F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99882"/>
            <a:ext cx="8596668" cy="5042249"/>
          </a:xfrm>
        </p:spPr>
        <p:txBody>
          <a:bodyPr>
            <a:normAutofit/>
          </a:bodyPr>
          <a:lstStyle/>
          <a:p>
            <a:r>
              <a:rPr lang="en-US" dirty="0"/>
              <a:t>Aspen Plus </a:t>
            </a:r>
            <a:r>
              <a:rPr lang="en-US" dirty="0" err="1"/>
              <a:t>üzerinde</a:t>
            </a:r>
            <a:r>
              <a:rPr lang="en-US" dirty="0"/>
              <a:t> </a:t>
            </a:r>
            <a:r>
              <a:rPr lang="en-US" dirty="0" err="1"/>
              <a:t>kurulacak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akış</a:t>
            </a:r>
            <a:r>
              <a:rPr lang="en-US" dirty="0"/>
              <a:t> </a:t>
            </a:r>
            <a:r>
              <a:rPr lang="en-US" dirty="0" err="1"/>
              <a:t>şemasında</a:t>
            </a:r>
            <a:endParaRPr lang="en-US" dirty="0"/>
          </a:p>
          <a:p>
            <a:pPr lvl="1"/>
            <a:r>
              <a:rPr lang="en-US" dirty="0"/>
              <a:t>RYIELD → MIXER → HEATER → RGIBBS/RPLUG → COOLER → RPLUG(HTS) → COOLER → RPLUG(LTS) → FLASH2 → SEP(CO₂) → SEP(PSA) </a:t>
            </a:r>
            <a:r>
              <a:rPr lang="en-US" dirty="0" err="1"/>
              <a:t>blok</a:t>
            </a:r>
            <a:r>
              <a:rPr lang="en-US" dirty="0"/>
              <a:t> </a:t>
            </a:r>
            <a:r>
              <a:rPr lang="en-US" dirty="0" err="1"/>
              <a:t>sırası</a:t>
            </a:r>
            <a:r>
              <a:rPr lang="en-US" dirty="0"/>
              <a:t> </a:t>
            </a:r>
            <a:r>
              <a:rPr lang="en-US" dirty="0" err="1"/>
              <a:t>kullanılması</a:t>
            </a:r>
            <a:r>
              <a:rPr lang="en-US" dirty="0"/>
              <a:t> </a:t>
            </a:r>
            <a:r>
              <a:rPr lang="en-US" dirty="0" err="1"/>
              <a:t>düşünülmüştür</a:t>
            </a:r>
            <a:r>
              <a:rPr lang="en-US" dirty="0"/>
              <a:t>. 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EE5029B2-AB0E-5169-F468-6409DEF76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963" y="2810883"/>
            <a:ext cx="5693410" cy="3459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710123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2D1DA-7924-61C2-27ED-BC84211DF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630D4-CC35-6C5A-6DF5-2CADDA183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Buhar reforming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1650E-EAD0-4532-8FE9-9B50A103E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Veri </a:t>
            </a:r>
            <a:r>
              <a:rPr lang="en-US" dirty="0" err="1"/>
              <a:t>kümesi</a:t>
            </a:r>
            <a:r>
              <a:rPr lang="en-US" dirty="0"/>
              <a:t> </a:t>
            </a:r>
            <a:r>
              <a:rPr lang="en-US" dirty="0" err="1"/>
              <a:t>üretimi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Sensitivity </a:t>
            </a:r>
            <a:r>
              <a:rPr lang="en-US" dirty="0" err="1"/>
              <a:t>aracıyla</a:t>
            </a:r>
            <a:r>
              <a:rPr lang="en-US" dirty="0"/>
              <a:t> T (650–850 °C), P (5–30 bar), S/C (2–6)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bileşim</a:t>
            </a:r>
            <a:r>
              <a:rPr lang="en-US" dirty="0"/>
              <a:t> </a:t>
            </a:r>
            <a:r>
              <a:rPr lang="en-US" dirty="0" err="1"/>
              <a:t>varyasyonları</a:t>
            </a:r>
            <a:r>
              <a:rPr lang="en-US" dirty="0"/>
              <a:t> </a:t>
            </a:r>
            <a:r>
              <a:rPr lang="en-US" dirty="0" err="1"/>
              <a:t>taranması</a:t>
            </a:r>
            <a:r>
              <a:rPr lang="en-US" dirty="0"/>
              <a:t> </a:t>
            </a:r>
            <a:r>
              <a:rPr lang="en-US" dirty="0" err="1"/>
              <a:t>düşünülmüştür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Planlanan</a:t>
            </a:r>
            <a:r>
              <a:rPr lang="en-US" dirty="0"/>
              <a:t> </a:t>
            </a:r>
            <a:r>
              <a:rPr lang="en-US" dirty="0" err="1"/>
              <a:t>parametrik</a:t>
            </a:r>
            <a:r>
              <a:rPr lang="en-US" dirty="0"/>
              <a:t> </a:t>
            </a:r>
            <a:r>
              <a:rPr lang="en-US" dirty="0" err="1"/>
              <a:t>tarama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elde</a:t>
            </a:r>
            <a:r>
              <a:rPr lang="en-US" dirty="0"/>
              <a:t> </a:t>
            </a:r>
            <a:r>
              <a:rPr lang="en-US" dirty="0" err="1"/>
              <a:t>edilecek</a:t>
            </a:r>
            <a:r>
              <a:rPr lang="en-US" dirty="0"/>
              <a:t> </a:t>
            </a:r>
            <a:r>
              <a:rPr lang="en-US" dirty="0" err="1"/>
              <a:t>gözlemler</a:t>
            </a:r>
            <a:r>
              <a:rPr lang="en-US" dirty="0"/>
              <a:t>, Zhao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Chen’in</a:t>
            </a:r>
            <a:r>
              <a:rPr lang="en-US" dirty="0"/>
              <a:t> (2021)</a:t>
            </a:r>
            <a:r>
              <a:rPr lang="en-US" baseline="30000" dirty="0"/>
              <a:t> [17]</a:t>
            </a:r>
            <a:r>
              <a:rPr lang="en-US" dirty="0"/>
              <a:t> </a:t>
            </a:r>
            <a:r>
              <a:rPr lang="en-US" dirty="0" err="1"/>
              <a:t>ters</a:t>
            </a:r>
            <a:r>
              <a:rPr lang="en-US" dirty="0"/>
              <a:t> </a:t>
            </a:r>
            <a:r>
              <a:rPr lang="en-US" dirty="0" err="1"/>
              <a:t>haritalama</a:t>
            </a:r>
            <a:r>
              <a:rPr lang="en-US" dirty="0"/>
              <a:t> </a:t>
            </a:r>
            <a:r>
              <a:rPr lang="en-US" dirty="0" err="1"/>
              <a:t>yaklaşımında</a:t>
            </a:r>
            <a:r>
              <a:rPr lang="en-US" dirty="0"/>
              <a:t> </a:t>
            </a:r>
            <a:r>
              <a:rPr lang="en-US" dirty="0" err="1"/>
              <a:t>girdiler</a:t>
            </a:r>
            <a:r>
              <a:rPr lang="en-US" dirty="0"/>
              <a:t> (X) = </a:t>
            </a:r>
            <a:r>
              <a:rPr lang="en-US" dirty="0" err="1"/>
              <a:t>hedef</a:t>
            </a:r>
            <a:r>
              <a:rPr lang="en-US" dirty="0"/>
              <a:t> </a:t>
            </a:r>
            <a:r>
              <a:rPr lang="en-US" dirty="0" err="1"/>
              <a:t>çıkışlar</a:t>
            </a:r>
            <a:r>
              <a:rPr lang="en-US" dirty="0"/>
              <a:t> (H₂ </a:t>
            </a:r>
            <a:r>
              <a:rPr lang="en-US" dirty="0" err="1"/>
              <a:t>akışı</a:t>
            </a:r>
            <a:r>
              <a:rPr lang="en-US" dirty="0"/>
              <a:t>, H₂/CO, </a:t>
            </a:r>
            <a:r>
              <a:rPr lang="en-US" dirty="0" err="1"/>
              <a:t>hidrokarbon</a:t>
            </a:r>
            <a:r>
              <a:rPr lang="en-US" dirty="0"/>
              <a:t>/</a:t>
            </a:r>
            <a:r>
              <a:rPr lang="en-US" dirty="0" err="1"/>
              <a:t>oksijenat</a:t>
            </a:r>
            <a:r>
              <a:rPr lang="en-US" dirty="0"/>
              <a:t> slip), </a:t>
            </a:r>
            <a:r>
              <a:rPr lang="en-US" dirty="0" err="1"/>
              <a:t>çıktılar</a:t>
            </a:r>
            <a:r>
              <a:rPr lang="en-US" dirty="0"/>
              <a:t> (Y) = </a:t>
            </a:r>
            <a:r>
              <a:rPr lang="en-US" dirty="0" err="1"/>
              <a:t>kontrol</a:t>
            </a:r>
            <a:r>
              <a:rPr lang="en-US" dirty="0"/>
              <a:t> </a:t>
            </a:r>
            <a:r>
              <a:rPr lang="en-US" dirty="0" err="1"/>
              <a:t>değişkenleri</a:t>
            </a:r>
            <a:r>
              <a:rPr lang="en-US" dirty="0"/>
              <a:t> (T, P, S/C)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kullanılacak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/>
              <a:t>Bu </a:t>
            </a:r>
            <a:r>
              <a:rPr lang="en-US" dirty="0" err="1"/>
              <a:t>ters</a:t>
            </a:r>
            <a:r>
              <a:rPr lang="en-US" dirty="0"/>
              <a:t> </a:t>
            </a:r>
            <a:r>
              <a:rPr lang="en-US" dirty="0" err="1"/>
              <a:t>modelin</a:t>
            </a:r>
            <a:r>
              <a:rPr lang="en-US" dirty="0"/>
              <a:t>,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zamanlı</a:t>
            </a:r>
            <a:r>
              <a:rPr lang="en-US" dirty="0"/>
              <a:t> Model Predictive Control (MPC) </a:t>
            </a:r>
            <a:r>
              <a:rPr lang="en-US" dirty="0" err="1"/>
              <a:t>tasarımında</a:t>
            </a:r>
            <a:r>
              <a:rPr lang="en-US" dirty="0"/>
              <a:t> set-point </a:t>
            </a:r>
            <a:r>
              <a:rPr lang="en-US" dirty="0" err="1"/>
              <a:t>jeneratörü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görev</a:t>
            </a:r>
            <a:r>
              <a:rPr lang="en-US" dirty="0"/>
              <a:t> </a:t>
            </a:r>
            <a:r>
              <a:rPr lang="en-US" dirty="0" err="1"/>
              <a:t>yapması</a:t>
            </a:r>
            <a:r>
              <a:rPr lang="en-US" dirty="0"/>
              <a:t> </a:t>
            </a:r>
            <a:r>
              <a:rPr lang="en-US" dirty="0" err="1"/>
              <a:t>hedeflenmektedir</a:t>
            </a:r>
            <a:r>
              <a:rPr lang="en-US" dirty="0"/>
              <a:t>. </a:t>
            </a:r>
            <a:endParaRPr lang="tr-TR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2B494E3B-4588-231D-D8B1-929D62846D6C}"/>
              </a:ext>
            </a:extLst>
          </p:cNvPr>
          <p:cNvSpPr txBox="1"/>
          <p:nvPr/>
        </p:nvSpPr>
        <p:spPr>
          <a:xfrm>
            <a:off x="0" y="6581001"/>
            <a:ext cx="12191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[17]: Zhao, H., Chen, J., Using Machine Learning for Reverse Mapping in Process Control, "Computers &amp; Chemical Engineering", 151(2021):107375-107389</a:t>
            </a:r>
          </a:p>
        </p:txBody>
      </p:sp>
    </p:spTree>
    <p:extLst>
      <p:ext uri="{BB962C8B-B14F-4D97-AF65-F5344CB8AC3E}">
        <p14:creationId xmlns:p14="http://schemas.microsoft.com/office/powerpoint/2010/main" val="1271491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4316B-9676-F98D-1E1B-D2BDD716D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40EFE-168B-F088-8D3F-C88CDE45A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>
            <a:normAutofit/>
          </a:bodyPr>
          <a:lstStyle/>
          <a:p>
            <a:r>
              <a:rPr lang="en-US" dirty="0" err="1"/>
              <a:t>Fenolik</a:t>
            </a:r>
            <a:r>
              <a:rPr lang="en-US" dirty="0"/>
              <a:t> </a:t>
            </a:r>
            <a:r>
              <a:rPr lang="en-US" dirty="0" err="1"/>
              <a:t>Reçine</a:t>
            </a:r>
            <a:r>
              <a:rPr lang="en-US" dirty="0"/>
              <a:t> </a:t>
            </a:r>
            <a:r>
              <a:rPr lang="en-US" dirty="0" err="1"/>
              <a:t>Sentezi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75523-191E-2E61-6CD6-558BCDCA2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Pseudokomponent</a:t>
            </a:r>
            <a:r>
              <a:rPr lang="en-US" dirty="0"/>
              <a:t> </a:t>
            </a:r>
            <a:r>
              <a:rPr lang="en-US" dirty="0" err="1"/>
              <a:t>Tanımları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Ana </a:t>
            </a:r>
            <a:r>
              <a:rPr lang="en-US" dirty="0" err="1"/>
              <a:t>bileşenler</a:t>
            </a:r>
            <a:r>
              <a:rPr lang="en-US" dirty="0"/>
              <a:t>: Phenol, Guaiacol, Catechol, </a:t>
            </a:r>
            <a:r>
              <a:rPr lang="en-US" dirty="0" err="1"/>
              <a:t>Formaldehit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i="1" dirty="0"/>
              <a:t>Property Method</a:t>
            </a:r>
            <a:r>
              <a:rPr lang="en-US" dirty="0"/>
              <a:t>: UNIQUAC (Choi et al. 2015</a:t>
            </a:r>
            <a:r>
              <a:rPr lang="en-US" baseline="30000" dirty="0"/>
              <a:t>[11]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özel</a:t>
            </a:r>
            <a:r>
              <a:rPr lang="en-US" dirty="0"/>
              <a:t> UNIQUAC </a:t>
            </a:r>
            <a:r>
              <a:rPr lang="en-US" dirty="0" err="1"/>
              <a:t>parametreleri</a:t>
            </a:r>
            <a:r>
              <a:rPr lang="en-US" dirty="0"/>
              <a:t> </a:t>
            </a:r>
            <a:r>
              <a:rPr lang="en-US" dirty="0" err="1"/>
              <a:t>girilecek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90030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C1813-8676-46CF-4CD1-F9E68F057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70942-B05A-C931-A3AF-32077E050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Fenolik</a:t>
            </a:r>
            <a:r>
              <a:rPr lang="en-US" dirty="0"/>
              <a:t> </a:t>
            </a:r>
            <a:r>
              <a:rPr lang="en-US" dirty="0" err="1"/>
              <a:t>Reçine</a:t>
            </a:r>
            <a:r>
              <a:rPr lang="en-US" dirty="0"/>
              <a:t> </a:t>
            </a:r>
            <a:r>
              <a:rPr lang="en-US" dirty="0" err="1"/>
              <a:t>Sentezi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D20C7-6519-6215-00DC-BCCC89F6F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Akış</a:t>
            </a:r>
            <a:r>
              <a:rPr lang="en-US" dirty="0"/>
              <a:t> </a:t>
            </a:r>
            <a:r>
              <a:rPr lang="en-US" dirty="0" err="1"/>
              <a:t>Şeması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b="1" dirty="0"/>
              <a:t>FRAC</a:t>
            </a:r>
            <a:r>
              <a:rPr lang="en-US" dirty="0"/>
              <a:t>: Ham </a:t>
            </a:r>
            <a:r>
              <a:rPr lang="en-US" dirty="0" err="1"/>
              <a:t>biyoyağdan</a:t>
            </a:r>
            <a:r>
              <a:rPr lang="en-US" dirty="0"/>
              <a:t> </a:t>
            </a:r>
            <a:r>
              <a:rPr lang="en-US" dirty="0" err="1"/>
              <a:t>fenolik</a:t>
            </a:r>
            <a:r>
              <a:rPr lang="en-US" dirty="0"/>
              <a:t> </a:t>
            </a:r>
            <a:r>
              <a:rPr lang="en-US" dirty="0" err="1"/>
              <a:t>fraksiyonların</a:t>
            </a:r>
            <a:r>
              <a:rPr lang="en-US" dirty="0"/>
              <a:t> </a:t>
            </a:r>
            <a:r>
              <a:rPr lang="en-US" dirty="0" err="1"/>
              <a:t>ayrımı</a:t>
            </a:r>
            <a:r>
              <a:rPr lang="en-US" dirty="0"/>
              <a:t> (VDISTL </a:t>
            </a:r>
            <a:r>
              <a:rPr lang="en-US" dirty="0" err="1"/>
              <a:t>veya</a:t>
            </a:r>
            <a:r>
              <a:rPr lang="en-US" dirty="0"/>
              <a:t> SPLIT)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RPLUG</a:t>
            </a:r>
            <a:r>
              <a:rPr lang="en-US" dirty="0"/>
              <a:t> (polycondensation reactor)</a:t>
            </a:r>
          </a:p>
          <a:p>
            <a:pPr lvl="2">
              <a:lnSpc>
                <a:spcPct val="150000"/>
              </a:lnSpc>
            </a:pPr>
            <a:r>
              <a:rPr lang="en-US" dirty="0" err="1"/>
              <a:t>Reaksiyon</a:t>
            </a:r>
            <a:r>
              <a:rPr lang="en-US" dirty="0"/>
              <a:t>: Phenol + CH₂O → Phenolic oligomers</a:t>
            </a:r>
          </a:p>
          <a:p>
            <a:pPr lvl="2">
              <a:lnSpc>
                <a:spcPct val="150000"/>
              </a:lnSpc>
            </a:pPr>
            <a:r>
              <a:rPr lang="en-US" dirty="0" err="1"/>
              <a:t>Kinetik</a:t>
            </a:r>
            <a:r>
              <a:rPr lang="en-US" dirty="0"/>
              <a:t> </a:t>
            </a:r>
            <a:r>
              <a:rPr lang="en-US" dirty="0" err="1"/>
              <a:t>parametreler</a:t>
            </a:r>
            <a:r>
              <a:rPr lang="en-US" dirty="0"/>
              <a:t>: Arrhenius </a:t>
            </a:r>
            <a:r>
              <a:rPr lang="en-US" dirty="0" err="1"/>
              <a:t>tabanlı</a:t>
            </a:r>
            <a:r>
              <a:rPr lang="en-US" dirty="0"/>
              <a:t>, </a:t>
            </a:r>
            <a:r>
              <a:rPr lang="en-US" dirty="0" err="1"/>
              <a:t>Luyben</a:t>
            </a:r>
            <a:r>
              <a:rPr lang="en-US" dirty="0"/>
              <a:t> (2016)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deneysel</a:t>
            </a:r>
            <a:r>
              <a:rPr lang="en-US" dirty="0"/>
              <a:t> </a:t>
            </a:r>
            <a:r>
              <a:rPr lang="en-US" dirty="0" err="1"/>
              <a:t>veriler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b="1" dirty="0"/>
              <a:t>SEP</a:t>
            </a:r>
            <a:r>
              <a:rPr lang="en-US" dirty="0"/>
              <a:t>: </a:t>
            </a:r>
            <a:r>
              <a:rPr lang="en-US" dirty="0" err="1"/>
              <a:t>Reaksiyon</a:t>
            </a:r>
            <a:r>
              <a:rPr lang="en-US" dirty="0"/>
              <a:t> </a:t>
            </a:r>
            <a:r>
              <a:rPr lang="en-US" dirty="0" err="1"/>
              <a:t>ürünlerinin</a:t>
            </a:r>
            <a:r>
              <a:rPr lang="en-US" dirty="0"/>
              <a:t> </a:t>
            </a:r>
            <a:r>
              <a:rPr lang="en-US" dirty="0" err="1"/>
              <a:t>gaz</a:t>
            </a:r>
            <a:r>
              <a:rPr lang="en-US" dirty="0"/>
              <a:t>,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reçine</a:t>
            </a:r>
            <a:r>
              <a:rPr lang="en-US" dirty="0"/>
              <a:t> </a:t>
            </a:r>
            <a:r>
              <a:rPr lang="en-US" dirty="0" err="1"/>
              <a:t>fazlarına</a:t>
            </a:r>
            <a:r>
              <a:rPr lang="en-US" dirty="0"/>
              <a:t> </a:t>
            </a:r>
            <a:r>
              <a:rPr lang="en-US" dirty="0" err="1"/>
              <a:t>ayrılması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Model </a:t>
            </a:r>
            <a:r>
              <a:rPr lang="en-US" dirty="0" err="1"/>
              <a:t>Parametreleri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de-DE" i="1" dirty="0"/>
              <a:t>T</a:t>
            </a:r>
            <a:r>
              <a:rPr lang="de-DE" dirty="0"/>
              <a:t>: 120–200 °C; </a:t>
            </a:r>
            <a:r>
              <a:rPr lang="de-DE" i="1" dirty="0"/>
              <a:t>P</a:t>
            </a:r>
            <a:r>
              <a:rPr lang="de-DE" dirty="0"/>
              <a:t>: </a:t>
            </a:r>
            <a:r>
              <a:rPr lang="de-DE" dirty="0" err="1"/>
              <a:t>atmosferik</a:t>
            </a:r>
            <a:endParaRPr lang="de-DE" dirty="0"/>
          </a:p>
          <a:p>
            <a:pPr lvl="1">
              <a:lnSpc>
                <a:spcPct val="150000"/>
              </a:lnSpc>
            </a:pPr>
            <a:r>
              <a:rPr lang="en-US" dirty="0" err="1"/>
              <a:t>Reaksiyon</a:t>
            </a:r>
            <a:r>
              <a:rPr lang="en-US" dirty="0"/>
              <a:t> </a:t>
            </a:r>
            <a:r>
              <a:rPr lang="en-US" dirty="0" err="1"/>
              <a:t>zamanı</a:t>
            </a:r>
            <a:r>
              <a:rPr lang="en-US" dirty="0"/>
              <a:t>: 1–3 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UNIQUAC binary interaction </a:t>
            </a:r>
            <a:r>
              <a:rPr lang="en-US" dirty="0" err="1"/>
              <a:t>matrisini</a:t>
            </a:r>
            <a:r>
              <a:rPr lang="en-US" dirty="0"/>
              <a:t> </a:t>
            </a:r>
            <a:r>
              <a:rPr lang="en-US" dirty="0" err="1"/>
              <a:t>eklenecek</a:t>
            </a:r>
            <a:endParaRPr lang="tr-TR" dirty="0"/>
          </a:p>
          <a:p>
            <a:pPr>
              <a:lnSpc>
                <a:spcPct val="150000"/>
              </a:lnSpc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679777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1F020-CF5E-304D-D693-2A7DED34A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B8496-691B-198D-027B-F90A003F8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Fenolik</a:t>
            </a:r>
            <a:r>
              <a:rPr lang="en-US" dirty="0"/>
              <a:t> </a:t>
            </a:r>
            <a:r>
              <a:rPr lang="en-US" dirty="0" err="1"/>
              <a:t>Reçine</a:t>
            </a:r>
            <a:r>
              <a:rPr lang="en-US" dirty="0"/>
              <a:t> </a:t>
            </a:r>
            <a:r>
              <a:rPr lang="en-US" dirty="0" err="1"/>
              <a:t>Sentezi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BCE6F-C0C3-1392-A3B0-201398ADE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Çıktılar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Ürün</a:t>
            </a:r>
            <a:r>
              <a:rPr lang="en-US" dirty="0"/>
              <a:t> </a:t>
            </a:r>
            <a:r>
              <a:rPr lang="en-US" dirty="0" err="1"/>
              <a:t>verimi</a:t>
            </a:r>
            <a:r>
              <a:rPr lang="en-US" dirty="0"/>
              <a:t> (%)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Ortalama</a:t>
            </a:r>
            <a:r>
              <a:rPr lang="en-US" dirty="0"/>
              <a:t> </a:t>
            </a:r>
            <a:r>
              <a:rPr lang="en-US" dirty="0" err="1"/>
              <a:t>moleküler</a:t>
            </a:r>
            <a:r>
              <a:rPr lang="en-US" dirty="0"/>
              <a:t> </a:t>
            </a:r>
            <a:r>
              <a:rPr lang="en-US" dirty="0" err="1"/>
              <a:t>kütle</a:t>
            </a:r>
            <a:r>
              <a:rPr lang="en-US" dirty="0"/>
              <a:t> (Gel Permeation Index)</a:t>
            </a:r>
          </a:p>
          <a:p>
            <a:pPr lvl="1">
              <a:lnSpc>
                <a:spcPct val="150000"/>
              </a:lnSpc>
            </a:pPr>
            <a:r>
              <a:rPr lang="es-ES" dirty="0"/>
              <a:t>Yan ürün (su, gaz) oranı</a:t>
            </a:r>
          </a:p>
          <a:p>
            <a:pPr>
              <a:lnSpc>
                <a:spcPct val="150000"/>
              </a:lnSpc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686419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FE87F-3FC9-DDAC-9D95-C42991417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E116-FA6A-9AA4-BAFE-A46471716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Biyo-</a:t>
            </a:r>
            <a:r>
              <a:rPr lang="en-US" dirty="0" err="1"/>
              <a:t>Asfalt</a:t>
            </a:r>
            <a:r>
              <a:rPr lang="en-US" dirty="0"/>
              <a:t> </a:t>
            </a:r>
            <a:r>
              <a:rPr lang="en-US" dirty="0" err="1"/>
              <a:t>Sentezi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1C382-A93A-B6B8-338E-5CFD51051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Ağır</a:t>
            </a:r>
            <a:r>
              <a:rPr lang="en-US" dirty="0"/>
              <a:t> </a:t>
            </a:r>
            <a:r>
              <a:rPr lang="en-US" dirty="0" err="1"/>
              <a:t>Fraksiyon</a:t>
            </a:r>
            <a:r>
              <a:rPr lang="en-US" dirty="0"/>
              <a:t> </a:t>
            </a:r>
            <a:r>
              <a:rPr lang="en-US" dirty="0" err="1"/>
              <a:t>Ayrımı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Asfaltlaştırma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Pseudokomponent</a:t>
            </a:r>
            <a:r>
              <a:rPr lang="en-US" dirty="0"/>
              <a:t> </a:t>
            </a:r>
            <a:r>
              <a:rPr lang="en-US" dirty="0" err="1"/>
              <a:t>Tanımları</a:t>
            </a:r>
            <a:endParaRPr lang="en-US" dirty="0"/>
          </a:p>
          <a:p>
            <a:pPr lvl="2">
              <a:lnSpc>
                <a:spcPct val="150000"/>
              </a:lnSpc>
            </a:pPr>
            <a:r>
              <a:rPr lang="en-US" dirty="0" err="1"/>
              <a:t>Ağır</a:t>
            </a:r>
            <a:r>
              <a:rPr lang="en-US" dirty="0"/>
              <a:t> </a:t>
            </a:r>
            <a:r>
              <a:rPr lang="en-US" dirty="0" err="1"/>
              <a:t>fraksiyon</a:t>
            </a:r>
            <a:r>
              <a:rPr lang="en-US" dirty="0"/>
              <a:t> (C₁₂₀+ </a:t>
            </a:r>
            <a:r>
              <a:rPr lang="en-US" dirty="0" err="1"/>
              <a:t>aromatik</a:t>
            </a:r>
            <a:r>
              <a:rPr lang="en-US" dirty="0"/>
              <a:t>, </a:t>
            </a:r>
            <a:r>
              <a:rPr lang="en-US" dirty="0" err="1"/>
              <a:t>alifatik</a:t>
            </a:r>
            <a:r>
              <a:rPr lang="en-US" dirty="0"/>
              <a:t>)</a:t>
            </a:r>
          </a:p>
          <a:p>
            <a:pPr lvl="2">
              <a:lnSpc>
                <a:spcPct val="150000"/>
              </a:lnSpc>
            </a:pPr>
            <a:r>
              <a:rPr lang="en-US" i="1" dirty="0"/>
              <a:t>Property Method</a:t>
            </a:r>
            <a:r>
              <a:rPr lang="en-US" dirty="0"/>
              <a:t>: PC-SAFT (Zhang et al. 2022</a:t>
            </a:r>
            <a:r>
              <a:rPr lang="en-US" baseline="30000" dirty="0"/>
              <a:t>[12]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EOS </a:t>
            </a:r>
            <a:r>
              <a:rPr lang="en-US" dirty="0" err="1"/>
              <a:t>parametreleri</a:t>
            </a:r>
            <a:r>
              <a:rPr lang="en-US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Akış</a:t>
            </a:r>
            <a:r>
              <a:rPr lang="en-US" dirty="0"/>
              <a:t> </a:t>
            </a:r>
            <a:r>
              <a:rPr lang="en-US" dirty="0" err="1"/>
              <a:t>Şeması</a:t>
            </a:r>
            <a:endParaRPr lang="en-US" dirty="0"/>
          </a:p>
          <a:p>
            <a:pPr lvl="2">
              <a:lnSpc>
                <a:spcPct val="150000"/>
              </a:lnSpc>
            </a:pPr>
            <a:r>
              <a:rPr lang="en-US" b="1" dirty="0"/>
              <a:t>VDISTL</a:t>
            </a:r>
            <a:r>
              <a:rPr lang="en-US" dirty="0"/>
              <a:t> (</a:t>
            </a:r>
            <a:r>
              <a:rPr lang="en-US" dirty="0" err="1"/>
              <a:t>vakumlu</a:t>
            </a:r>
            <a:r>
              <a:rPr lang="en-US" dirty="0"/>
              <a:t> </a:t>
            </a:r>
            <a:r>
              <a:rPr lang="en-US" dirty="0" err="1"/>
              <a:t>distilasyon</a:t>
            </a:r>
            <a:r>
              <a:rPr lang="en-US" dirty="0"/>
              <a:t>): Ham </a:t>
            </a:r>
            <a:r>
              <a:rPr lang="en-US" dirty="0" err="1"/>
              <a:t>biyoyağı</a:t>
            </a:r>
            <a:r>
              <a:rPr lang="en-US" dirty="0"/>
              <a:t> 200–350 °</a:t>
            </a:r>
            <a:r>
              <a:rPr lang="en-US" dirty="0" err="1"/>
              <a:t>C’ye</a:t>
            </a:r>
            <a:r>
              <a:rPr lang="en-US" dirty="0"/>
              <a:t> </a:t>
            </a:r>
            <a:r>
              <a:rPr lang="en-US" dirty="0" err="1"/>
              <a:t>ayırarak</a:t>
            </a:r>
            <a:r>
              <a:rPr lang="en-US" dirty="0"/>
              <a:t> </a:t>
            </a:r>
            <a:r>
              <a:rPr lang="en-US" dirty="0" err="1"/>
              <a:t>ağır</a:t>
            </a:r>
            <a:r>
              <a:rPr lang="en-US" dirty="0"/>
              <a:t> </a:t>
            </a:r>
            <a:r>
              <a:rPr lang="en-US" dirty="0" err="1"/>
              <a:t>yağ</a:t>
            </a:r>
            <a:r>
              <a:rPr lang="en-US" dirty="0"/>
              <a:t> (bio-tar) </a:t>
            </a:r>
            <a:r>
              <a:rPr lang="en-US" dirty="0" err="1"/>
              <a:t>fraksiyonu</a:t>
            </a:r>
            <a:r>
              <a:rPr lang="en-US" dirty="0"/>
              <a:t> </a:t>
            </a:r>
            <a:r>
              <a:rPr lang="en-US" dirty="0" err="1"/>
              <a:t>toplanacak</a:t>
            </a:r>
            <a:endParaRPr lang="en-US" dirty="0"/>
          </a:p>
          <a:p>
            <a:pPr lvl="2">
              <a:lnSpc>
                <a:spcPct val="150000"/>
              </a:lnSpc>
            </a:pPr>
            <a:r>
              <a:rPr lang="en-US" b="1" dirty="0"/>
              <a:t>RPLUG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b="1" dirty="0"/>
              <a:t>Reactive Separator</a:t>
            </a:r>
          </a:p>
          <a:p>
            <a:pPr lvl="2">
              <a:lnSpc>
                <a:spcPct val="150000"/>
              </a:lnSpc>
            </a:pPr>
            <a:r>
              <a:rPr lang="en-US" b="1" dirty="0"/>
              <a:t>HEATER/Cooler</a:t>
            </a:r>
            <a:r>
              <a:rPr lang="en-US" dirty="0"/>
              <a:t>: Proses </a:t>
            </a:r>
            <a:r>
              <a:rPr lang="en-US" dirty="0" err="1"/>
              <a:t>ısı</a:t>
            </a:r>
            <a:r>
              <a:rPr lang="en-US" dirty="0"/>
              <a:t> </a:t>
            </a:r>
            <a:r>
              <a:rPr lang="en-US" dirty="0" err="1"/>
              <a:t>kontrolü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62220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66842-01B5-FBD0-57CD-60EB3BCF8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447DA-E8B8-0EFC-781C-0ABCFB6DC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Biyo-</a:t>
            </a:r>
            <a:r>
              <a:rPr lang="en-US" dirty="0" err="1"/>
              <a:t>Asfalt</a:t>
            </a:r>
            <a:r>
              <a:rPr lang="en-US" dirty="0"/>
              <a:t> </a:t>
            </a:r>
            <a:r>
              <a:rPr lang="en-US" dirty="0" err="1"/>
              <a:t>Sentezi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9D55D-9F10-FC8D-77E6-912110F73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Model </a:t>
            </a:r>
            <a:r>
              <a:rPr lang="en-US" dirty="0" err="1"/>
              <a:t>Parametreleri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sv-SE" i="1" dirty="0"/>
              <a:t>Tdist</a:t>
            </a:r>
            <a:r>
              <a:rPr lang="sv-SE" dirty="0"/>
              <a:t>: 200–350 °C; </a:t>
            </a:r>
            <a:r>
              <a:rPr lang="sv-SE" i="1" dirty="0"/>
              <a:t>P</a:t>
            </a:r>
            <a:r>
              <a:rPr lang="sv-SE" dirty="0"/>
              <a:t>: 10–50 mbar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Viskozite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yoğunluk</a:t>
            </a:r>
            <a:r>
              <a:rPr lang="en-US" dirty="0"/>
              <a:t> </a:t>
            </a:r>
            <a:r>
              <a:rPr lang="en-US" dirty="0" err="1"/>
              <a:t>verileri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PC-SAFT </a:t>
            </a:r>
            <a:r>
              <a:rPr lang="en-US" dirty="0" err="1"/>
              <a:t>EOS’unda</a:t>
            </a:r>
            <a:r>
              <a:rPr lang="en-US" dirty="0"/>
              <a:t> </a:t>
            </a:r>
            <a:r>
              <a:rPr lang="en-US" dirty="0" err="1"/>
              <a:t>ayrı</a:t>
            </a:r>
            <a:r>
              <a:rPr lang="en-US" dirty="0"/>
              <a:t> </a:t>
            </a:r>
            <a:r>
              <a:rPr lang="en-US" dirty="0" err="1"/>
              <a:t>parametre</a:t>
            </a:r>
            <a:r>
              <a:rPr lang="en-US" dirty="0"/>
              <a:t> </a:t>
            </a:r>
            <a:r>
              <a:rPr lang="en-US" dirty="0" err="1"/>
              <a:t>grupları</a:t>
            </a:r>
            <a:r>
              <a:rPr lang="en-US" dirty="0"/>
              <a:t> </a:t>
            </a:r>
            <a:r>
              <a:rPr lang="en-US" dirty="0" err="1"/>
              <a:t>girilecek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Yüzde</a:t>
            </a:r>
            <a:r>
              <a:rPr lang="en-US" dirty="0"/>
              <a:t> </a:t>
            </a:r>
            <a:r>
              <a:rPr lang="en-US" dirty="0" err="1"/>
              <a:t>kütle</a:t>
            </a:r>
            <a:r>
              <a:rPr lang="en-US" dirty="0"/>
              <a:t> </a:t>
            </a:r>
            <a:r>
              <a:rPr lang="en-US" dirty="0" err="1"/>
              <a:t>dağılımı</a:t>
            </a:r>
            <a:r>
              <a:rPr lang="en-US" dirty="0"/>
              <a:t> (lean/heavy) </a:t>
            </a:r>
            <a:r>
              <a:rPr lang="en-US" dirty="0" err="1"/>
              <a:t>sabit</a:t>
            </a:r>
            <a:r>
              <a:rPr lang="en-US" dirty="0"/>
              <a:t> </a:t>
            </a:r>
            <a:r>
              <a:rPr lang="en-US" dirty="0" err="1"/>
              <a:t>katsayılar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Çıktılar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Ağır</a:t>
            </a:r>
            <a:r>
              <a:rPr lang="en-US" dirty="0"/>
              <a:t> </a:t>
            </a:r>
            <a:r>
              <a:rPr lang="en-US" dirty="0" err="1"/>
              <a:t>fraksiyon</a:t>
            </a:r>
            <a:r>
              <a:rPr lang="en-US" dirty="0"/>
              <a:t> </a:t>
            </a:r>
            <a:r>
              <a:rPr lang="en-US" dirty="0" err="1"/>
              <a:t>verimi</a:t>
            </a:r>
            <a:r>
              <a:rPr lang="en-US" dirty="0"/>
              <a:t> (%)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Viskozite</a:t>
            </a:r>
            <a:r>
              <a:rPr lang="en-US" dirty="0"/>
              <a:t> (</a:t>
            </a:r>
            <a:r>
              <a:rPr lang="en-US" dirty="0" err="1"/>
              <a:t>cP</a:t>
            </a:r>
            <a:r>
              <a:rPr lang="en-US" dirty="0"/>
              <a:t>)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yoğunluk</a:t>
            </a:r>
            <a:r>
              <a:rPr lang="en-US" dirty="0"/>
              <a:t> (kg/m³) </a:t>
            </a:r>
            <a:r>
              <a:rPr lang="en-US" dirty="0" err="1"/>
              <a:t>hesapları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Energy duty (kW)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102707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827524" y="463189"/>
            <a:ext cx="7920880" cy="496855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 Vaktiniz </a:t>
            </a:r>
          </a:p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			ve ilginiz </a:t>
            </a:r>
          </a:p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					için</a:t>
            </a:r>
          </a:p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							teşekkürler</a:t>
            </a:r>
          </a:p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                     </a:t>
            </a:r>
            <a:r>
              <a:rPr lang="tr-TR" sz="72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…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280804" y="5431741"/>
            <a:ext cx="7467600" cy="122318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Wingdings"/>
              <a:buNone/>
            </a:pPr>
            <a:r>
              <a:rPr lang="tr-TR" dirty="0"/>
              <a:t>Orhun Uzdiyem</a:t>
            </a:r>
          </a:p>
          <a:p>
            <a:pPr algn="ctr">
              <a:buFont typeface="Wingdings"/>
              <a:buNone/>
            </a:pPr>
            <a:r>
              <a:rPr lang="tr-TR" dirty="0">
                <a:hlinkClick r:id="rId3"/>
              </a:rPr>
              <a:t>orhun.uzdiyem@gmail.com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04543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21"/>
    </mc:Choice>
    <mc:Fallback xmlns="">
      <p:transition spd="slow" advTm="67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000"/>
                            </p:stCondLst>
                            <p:childTnLst>
                              <p:par>
                                <p:cTn id="73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9952</TotalTime>
  <Words>2685</Words>
  <Application>Microsoft Office PowerPoint</Application>
  <PresentationFormat>Geniş ekran</PresentationFormat>
  <Paragraphs>190</Paragraphs>
  <Slides>32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32</vt:i4>
      </vt:variant>
    </vt:vector>
  </HeadingPairs>
  <TitlesOfParts>
    <vt:vector size="40" baseType="lpstr">
      <vt:lpstr>Arial</vt:lpstr>
      <vt:lpstr>Calibri</vt:lpstr>
      <vt:lpstr>Harrington</vt:lpstr>
      <vt:lpstr>Times New Roman</vt:lpstr>
      <vt:lpstr>Trebuchet MS</vt:lpstr>
      <vt:lpstr>Wingdings</vt:lpstr>
      <vt:lpstr>Wingdings 3</vt:lpstr>
      <vt:lpstr>Facet</vt:lpstr>
      <vt:lpstr>Biyokütleden Elde Edilen Biyoyağ Kompozisyonunun Makine Öğrenmesi ile   Tahmini ve Model Öngörülü Kontrol Tabanlı Süreç Optimizasyonu Tez İzleme Sunumu - 3</vt:lpstr>
      <vt:lpstr>Dönem İçinde Yapılan Çalışmalar</vt:lpstr>
      <vt:lpstr>Piroliz Verisi Toplama</vt:lpstr>
      <vt:lpstr>Piroliz Verisi Toplama</vt:lpstr>
      <vt:lpstr>Piroliz Verisi Toplama</vt:lpstr>
      <vt:lpstr>Piroliz Verisi Toplama</vt:lpstr>
      <vt:lpstr>BaşlıkPiroliz Verisi Toplama</vt:lpstr>
      <vt:lpstr>Piroliz Verisi Toplama</vt:lpstr>
      <vt:lpstr>Veri Önişleme</vt:lpstr>
      <vt:lpstr>Veri Önişleme</vt:lpstr>
      <vt:lpstr>Veri Önişleme</vt:lpstr>
      <vt:lpstr>Veri Önişleme</vt:lpstr>
      <vt:lpstr>Veri Önişleme</vt:lpstr>
      <vt:lpstr>Veri Önişleme</vt:lpstr>
      <vt:lpstr>Veri Önişleme</vt:lpstr>
      <vt:lpstr>Makine Öğrenmesi</vt:lpstr>
      <vt:lpstr>Makine Öğrenmesi</vt:lpstr>
      <vt:lpstr>Yeni Makine Öğrenmesi Yaklaşımı</vt:lpstr>
      <vt:lpstr>Yeni Makine Öğrenmesi Yaklaşımı</vt:lpstr>
      <vt:lpstr>Yeni Makine Öğrenmesi Yaklaşımı</vt:lpstr>
      <vt:lpstr>Proses Seçimi</vt:lpstr>
      <vt:lpstr>Proses Seçimi</vt:lpstr>
      <vt:lpstr>Buhar reforming</vt:lpstr>
      <vt:lpstr>Buhar reforming</vt:lpstr>
      <vt:lpstr>Buhar reforming</vt:lpstr>
      <vt:lpstr>Buhar reforming</vt:lpstr>
      <vt:lpstr>Fenolik Reçine Sentezi </vt:lpstr>
      <vt:lpstr>Fenolik Reçine Sentezi </vt:lpstr>
      <vt:lpstr>Fenolik Reçine Sentezi </vt:lpstr>
      <vt:lpstr>Biyo-Asfalt Sentezi </vt:lpstr>
      <vt:lpstr>Biyo-Asfalt Sentezi 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orhun uzdiyem</dc:creator>
  <cp:lastModifiedBy>Orhun Uz</cp:lastModifiedBy>
  <cp:revision>136</cp:revision>
  <dcterms:created xsi:type="dcterms:W3CDTF">2023-05-23T10:14:23Z</dcterms:created>
  <dcterms:modified xsi:type="dcterms:W3CDTF">2025-06-20T06:32:43Z</dcterms:modified>
</cp:coreProperties>
</file>