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sldIdLst>
    <p:sldId id="256" r:id="rId2"/>
    <p:sldId id="280" r:id="rId3"/>
    <p:sldId id="281" r:id="rId4"/>
    <p:sldId id="294" r:id="rId5"/>
    <p:sldId id="295" r:id="rId6"/>
    <p:sldId id="297" r:id="rId7"/>
    <p:sldId id="298" r:id="rId8"/>
    <p:sldId id="296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19" r:id="rId17"/>
    <p:sldId id="306" r:id="rId18"/>
    <p:sldId id="307" r:id="rId19"/>
    <p:sldId id="308" r:id="rId20"/>
    <p:sldId id="309" r:id="rId21"/>
    <p:sldId id="312" r:id="rId22"/>
    <p:sldId id="313" r:id="rId23"/>
    <p:sldId id="310" r:id="rId24"/>
    <p:sldId id="311" r:id="rId25"/>
    <p:sldId id="314" r:id="rId26"/>
    <p:sldId id="316" r:id="rId27"/>
    <p:sldId id="317" r:id="rId28"/>
    <p:sldId id="29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hun uzdiyem" initials="ou" lastIdx="1" clrIdx="0">
    <p:extLst>
      <p:ext uri="{19B8F6BF-5375-455C-9EA6-DF929625EA0E}">
        <p15:presenceInfo xmlns:p15="http://schemas.microsoft.com/office/powerpoint/2012/main" userId="7c704e6ad42cbf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06725-A5C6-4D97-BAB5-97495DA97B1D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C1EF-337A-4A14-9C0C-535002AC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5C1EF-337A-4A14-9C0C-535002ACE8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14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6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tr-TR" noProof="0"/>
              <a:t>Click</a:t>
            </a:r>
            <a:r>
              <a:rPr lang="tr-TR" noProof="0" dirty="0"/>
              <a:t> </a:t>
            </a:r>
            <a:r>
              <a:rPr lang="tr-TR" noProof="0" dirty="0" err="1"/>
              <a:t>to</a:t>
            </a:r>
            <a:r>
              <a:rPr lang="tr-TR" noProof="0" dirty="0"/>
              <a:t> </a:t>
            </a:r>
            <a:r>
              <a:rPr lang="tr-TR" noProof="0" dirty="0" err="1"/>
              <a:t>edit</a:t>
            </a:r>
            <a:r>
              <a:rPr lang="tr-TR" noProof="0" dirty="0"/>
              <a:t> Master </a:t>
            </a:r>
            <a:r>
              <a:rPr lang="tr-TR" noProof="0" dirty="0" err="1"/>
              <a:t>text</a:t>
            </a:r>
            <a:r>
              <a:rPr lang="tr-TR" noProof="0" dirty="0"/>
              <a:t> </a:t>
            </a:r>
            <a:r>
              <a:rPr lang="tr-TR" noProof="0" dirty="0" err="1"/>
              <a:t>styles</a:t>
            </a:r>
            <a:endParaRPr lang="tr-TR" noProof="0" dirty="0"/>
          </a:p>
          <a:p>
            <a:pPr lvl="1"/>
            <a:r>
              <a:rPr lang="tr-TR" noProof="0" dirty="0"/>
              <a:t>Second </a:t>
            </a:r>
            <a:r>
              <a:rPr lang="tr-TR" noProof="0" dirty="0" err="1"/>
              <a:t>level</a:t>
            </a:r>
            <a:endParaRPr lang="tr-TR" noProof="0" dirty="0"/>
          </a:p>
          <a:p>
            <a:pPr lvl="2"/>
            <a:r>
              <a:rPr lang="tr-TR" noProof="0" dirty="0"/>
              <a:t>Third </a:t>
            </a:r>
            <a:r>
              <a:rPr lang="tr-TR" noProof="0" dirty="0" err="1"/>
              <a:t>level</a:t>
            </a:r>
            <a:endParaRPr lang="tr-TR" noProof="0" dirty="0"/>
          </a:p>
          <a:p>
            <a:pPr lvl="3"/>
            <a:r>
              <a:rPr lang="tr-TR" noProof="0" dirty="0" err="1"/>
              <a:t>Fourth</a:t>
            </a:r>
            <a:r>
              <a:rPr lang="tr-TR" noProof="0" dirty="0"/>
              <a:t> </a:t>
            </a:r>
            <a:r>
              <a:rPr lang="tr-TR" noProof="0" dirty="0" err="1"/>
              <a:t>level</a:t>
            </a:r>
            <a:endParaRPr lang="tr-TR" noProof="0" dirty="0"/>
          </a:p>
          <a:p>
            <a:pPr lvl="4"/>
            <a:r>
              <a:rPr lang="tr-TR" noProof="0" dirty="0" err="1"/>
              <a:t>Fifth</a:t>
            </a:r>
            <a:r>
              <a:rPr lang="tr-TR" noProof="0" dirty="0"/>
              <a:t> </a:t>
            </a:r>
            <a:r>
              <a:rPr lang="tr-TR" noProof="0" dirty="0" err="1"/>
              <a:t>level</a:t>
            </a:r>
            <a:endParaRPr lang="tr-TR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2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3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5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3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0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51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75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940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82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1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287EC-2D8B-4839-853F-448EC8EF3B82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mailto:orhun.uzdiyem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57AFEF-9B2B-F339-7BA2-47BF50A9F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95795"/>
            <a:ext cx="7766936" cy="4929050"/>
          </a:xfrm>
        </p:spPr>
        <p:txBody>
          <a:bodyPr/>
          <a:lstStyle/>
          <a:p>
            <a:r>
              <a:rPr lang="tr-TR" sz="4800" dirty="0"/>
              <a:t>Doktora Tezi Önerisi:</a:t>
            </a:r>
            <a:br>
              <a:rPr lang="tr-TR" sz="4800" dirty="0"/>
            </a:br>
            <a:r>
              <a:rPr lang="tr-TR" sz="4400" dirty="0"/>
              <a:t>Yavaş Piroliz ile Hidrokarbon Açısından Zengin Biyoyağ Eldesi ve Katma Değerli Ürüne Dönüşümünün Yapay Zeka Destekli Optimizasyonu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F41569F-3488-D383-99CF-A51505706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5024845"/>
            <a:ext cx="7766936" cy="1601096"/>
          </a:xfrm>
        </p:spPr>
        <p:txBody>
          <a:bodyPr/>
          <a:lstStyle/>
          <a:p>
            <a:r>
              <a:rPr lang="en-US" dirty="0" err="1"/>
              <a:t>Hazırlayan</a:t>
            </a:r>
            <a:r>
              <a:rPr lang="en-US" dirty="0"/>
              <a:t>: Orhun Uzdiyem</a:t>
            </a:r>
          </a:p>
          <a:p>
            <a:r>
              <a:rPr lang="tr-TR" dirty="0"/>
              <a:t>Danışman</a:t>
            </a:r>
            <a:r>
              <a:rPr lang="en-US" dirty="0"/>
              <a:t>: Prof. Dr. </a:t>
            </a:r>
            <a:r>
              <a:rPr lang="en-US" dirty="0" err="1"/>
              <a:t>Hayati</a:t>
            </a:r>
            <a:r>
              <a:rPr lang="en-US" dirty="0"/>
              <a:t> </a:t>
            </a:r>
            <a:r>
              <a:rPr lang="en-US" dirty="0" err="1"/>
              <a:t>Olgun</a:t>
            </a:r>
            <a:endParaRPr lang="en-US" dirty="0"/>
          </a:p>
          <a:p>
            <a:r>
              <a:rPr lang="en-US" dirty="0" err="1"/>
              <a:t>Ege</a:t>
            </a:r>
            <a:r>
              <a:rPr lang="en-US" dirty="0"/>
              <a:t> </a:t>
            </a:r>
            <a:r>
              <a:rPr lang="en-US" dirty="0" err="1"/>
              <a:t>Üniversitesi</a:t>
            </a:r>
            <a:r>
              <a:rPr lang="tr-TR" dirty="0"/>
              <a:t> </a:t>
            </a:r>
            <a:r>
              <a:rPr lang="en-US" dirty="0" err="1"/>
              <a:t>Güneş</a:t>
            </a:r>
            <a:r>
              <a:rPr lang="en-US" dirty="0"/>
              <a:t> </a:t>
            </a:r>
            <a:r>
              <a:rPr lang="en-US" dirty="0" err="1"/>
              <a:t>Enerjisi</a:t>
            </a:r>
            <a:r>
              <a:rPr lang="en-US" dirty="0"/>
              <a:t> </a:t>
            </a:r>
            <a:r>
              <a:rPr lang="en-US" dirty="0" err="1"/>
              <a:t>Enstitüsü</a:t>
            </a:r>
            <a:r>
              <a:rPr lang="en-US" dirty="0"/>
              <a:t> –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Teknolojisi</a:t>
            </a:r>
            <a:r>
              <a:rPr lang="en-US" dirty="0"/>
              <a:t> </a:t>
            </a:r>
            <a:r>
              <a:rPr lang="en-US" dirty="0" err="1"/>
              <a:t>Anabilimdalı</a:t>
            </a:r>
            <a:endParaRPr lang="en-US" dirty="0"/>
          </a:p>
          <a:p>
            <a:r>
              <a:rPr lang="tr-TR" dirty="0"/>
              <a:t>Ocak 2</a:t>
            </a:r>
            <a:r>
              <a:rPr lang="en-US" dirty="0"/>
              <a:t>, 202</a:t>
            </a:r>
            <a:r>
              <a:rPr lang="tr-TR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0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66FED5-0A15-7AD8-0B8B-344CB0D2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0293"/>
            <a:ext cx="8596668" cy="1320800"/>
          </a:xfrm>
        </p:spPr>
        <p:txBody>
          <a:bodyPr/>
          <a:lstStyle/>
          <a:p>
            <a:r>
              <a:rPr lang="en-US" dirty="0" err="1"/>
              <a:t>İçerik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F63F3E-6CAE-FB07-4F6B-95D72BE0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41947"/>
            <a:ext cx="8596668" cy="54318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dirty="0"/>
              <a:t>Tezin Amacı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tr-TR" dirty="0"/>
              <a:t>Tezin Önemi ve Öncelikli Alanlar ile İlişkisi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tr-TR" dirty="0"/>
              <a:t>Tezin Yenilikçilik ve Teknolojik Düzey Değerlendirilmesi</a:t>
            </a:r>
          </a:p>
          <a:p>
            <a:pPr>
              <a:lnSpc>
                <a:spcPct val="150000"/>
              </a:lnSpc>
            </a:pPr>
            <a:r>
              <a:rPr lang="tr-TR" dirty="0"/>
              <a:t>Tez Materyal ve Yöntemleri</a:t>
            </a:r>
          </a:p>
          <a:p>
            <a:pPr>
              <a:lnSpc>
                <a:spcPct val="150000"/>
              </a:lnSpc>
            </a:pPr>
            <a:r>
              <a:rPr lang="tr-TR" dirty="0"/>
              <a:t>Çalışma Planı, İş Paketleri-Zaman Çizelgesi</a:t>
            </a:r>
          </a:p>
          <a:p>
            <a:pPr>
              <a:lnSpc>
                <a:spcPct val="150000"/>
              </a:lnSpc>
            </a:pPr>
            <a:r>
              <a:rPr lang="tr-TR" dirty="0"/>
              <a:t>Kaynaklar Dizini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60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A40649-A5B3-3822-A658-75918B89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4333937" cy="44106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4000" dirty="0"/>
              <a:t>TEZİN</a:t>
            </a:r>
            <a:br>
              <a:rPr lang="tr-TR" sz="4000" dirty="0"/>
            </a:br>
            <a:r>
              <a:rPr lang="tr-TR" sz="4000" dirty="0"/>
              <a:t>AMACI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1603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7077"/>
          </a:xfrm>
        </p:spPr>
        <p:txBody>
          <a:bodyPr/>
          <a:lstStyle/>
          <a:p>
            <a:r>
              <a:rPr lang="tr-TR" dirty="0"/>
              <a:t>Biyoyağın Değerlendirilmesi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16677"/>
            <a:ext cx="9880688" cy="44703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dirty="0"/>
              <a:t>Biyokütlenin yavaş pirolizi sırasında ortaya çıkan ürün </a:t>
            </a:r>
            <a:r>
              <a:rPr lang="tr-TR" dirty="0" err="1"/>
              <a:t>biyoyağın</a:t>
            </a:r>
            <a:r>
              <a:rPr lang="tr-TR" dirty="0"/>
              <a:t> değerlendirilerek katma değerli ürüne dönüştürülmesi </a:t>
            </a:r>
          </a:p>
          <a:p>
            <a:pPr>
              <a:lnSpc>
                <a:spcPct val="150000"/>
              </a:lnSpc>
            </a:pPr>
            <a:r>
              <a:rPr lang="tr-TR" dirty="0"/>
              <a:t>Biyoyağ, petrol türevlerine alternatif olabilecek değerli hidrokarbonları içeren bir üründür. </a:t>
            </a:r>
          </a:p>
          <a:p>
            <a:pPr>
              <a:lnSpc>
                <a:spcPct val="150000"/>
              </a:lnSpc>
            </a:pPr>
            <a:r>
              <a:rPr lang="tr-TR" dirty="0"/>
              <a:t>Biyokütlenin türüne ve proses koşullarına bağlı olarak biyoyağ içeriği de oldukça değişkenlik gösterir.</a:t>
            </a:r>
            <a:r>
              <a:rPr lang="tr-TR" baseline="30000" dirty="0"/>
              <a:t>[1]</a:t>
            </a:r>
            <a:r>
              <a:rPr lang="tr-TR" dirty="0"/>
              <a:t> </a:t>
            </a:r>
          </a:p>
          <a:p>
            <a:pPr lvl="1">
              <a:lnSpc>
                <a:spcPct val="150000"/>
              </a:lnSpc>
            </a:pPr>
            <a:r>
              <a:rPr lang="tr-TR" dirty="0" err="1"/>
              <a:t>Biyoyağın</a:t>
            </a:r>
            <a:r>
              <a:rPr lang="tr-TR" dirty="0"/>
              <a:t> işlenmesi ve değerlendirilmesi süreçlerinin karmaşıklığı. </a:t>
            </a:r>
          </a:p>
          <a:p>
            <a:pPr lvl="1">
              <a:lnSpc>
                <a:spcPct val="150000"/>
              </a:lnSpc>
            </a:pPr>
            <a:r>
              <a:rPr lang="tr-TR" dirty="0" err="1"/>
              <a:t>Biyoyağın</a:t>
            </a:r>
            <a:r>
              <a:rPr lang="tr-TR" dirty="0"/>
              <a:t> işleneceği prosesin seçiminde temel parametrenin biyoyağ kompozisyonu olması </a:t>
            </a:r>
          </a:p>
          <a:p>
            <a:pPr>
              <a:lnSpc>
                <a:spcPct val="150000"/>
              </a:lnSpc>
            </a:pPr>
            <a:r>
              <a:rPr lang="tr-TR" dirty="0"/>
              <a:t>Biyoyağ kalitesinin düşük olma ihtimali de uygulama alanını daraltmaktadır.</a:t>
            </a:r>
            <a:r>
              <a:rPr lang="tr-TR" baseline="30000" dirty="0"/>
              <a:t>[2]</a:t>
            </a:r>
            <a:endParaRPr lang="tr-TR" dirty="0"/>
          </a:p>
          <a:p>
            <a:pPr>
              <a:lnSpc>
                <a:spcPct val="150000"/>
              </a:lnSpc>
            </a:pPr>
            <a:endParaRPr lang="tr-TR" baseline="30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31663A3-866B-95B9-9C6F-6A3D016DF4DB}"/>
              </a:ext>
            </a:extLst>
          </p:cNvPr>
          <p:cNvSpPr txBox="1"/>
          <p:nvPr/>
        </p:nvSpPr>
        <p:spPr>
          <a:xfrm>
            <a:off x="0" y="5886994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</a:t>
            </a:r>
            <a:r>
              <a:rPr lang="tr-TR" sz="1200" dirty="0"/>
              <a:t>1</a:t>
            </a:r>
            <a:r>
              <a:rPr lang="en-US" sz="1200" dirty="0"/>
              <a:t>]: </a:t>
            </a:r>
            <a:r>
              <a:rPr lang="tr-TR" sz="1200" dirty="0"/>
              <a:t>Zhang, S., Chen, T., Xiong, Y., Dong, Q., </a:t>
            </a:r>
            <a:r>
              <a:rPr lang="tr-TR" sz="1200" i="1" dirty="0"/>
              <a:t>Effects of wet torrefaction on the physicochemical properties and pyrolysis product properties of rice husk</a:t>
            </a:r>
            <a:r>
              <a:rPr lang="tr-TR" sz="1200" dirty="0"/>
              <a:t>, “Energy Conversion and Management”, 141(2017):403-409​​.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31663A3-866B-95B9-9C6F-6A3D016DF4DB}"/>
              </a:ext>
            </a:extLst>
          </p:cNvPr>
          <p:cNvSpPr txBox="1"/>
          <p:nvPr/>
        </p:nvSpPr>
        <p:spPr>
          <a:xfrm>
            <a:off x="-1" y="6348659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</a:t>
            </a:r>
            <a:r>
              <a:rPr lang="tr-TR" sz="1200" dirty="0"/>
              <a:t>2</a:t>
            </a:r>
            <a:r>
              <a:rPr lang="en-US" sz="1200" dirty="0"/>
              <a:t>]: </a:t>
            </a:r>
            <a:r>
              <a:rPr lang="tr-TR" sz="1200" dirty="0"/>
              <a:t>Keskin, T., Duman, G., </a:t>
            </a:r>
            <a:r>
              <a:rPr lang="tr-TR" sz="1200" i="1" dirty="0"/>
              <a:t>Bioethanol production by syngas fermentatio from pyrolysis gas using mixed culture: Heat-pretreatment effect, </a:t>
            </a:r>
            <a:r>
              <a:rPr lang="tr-TR" sz="1200" dirty="0"/>
              <a:t>“Pamukkale Univ Muh Bilim Derg, 26(7):1299-1307,2020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2093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Tezin Amacı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Çalışmanın temel amacı: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Biyokütlenin özelliklerine göre biyoyağ içeriğini tahmin edebilen bir yapay zeka modeli 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Yapılan tahminler doğrultusunda </a:t>
            </a:r>
            <a:r>
              <a:rPr lang="tr-TR" dirty="0" err="1"/>
              <a:t>biyoyağdan</a:t>
            </a:r>
            <a:r>
              <a:rPr lang="tr-TR" dirty="0"/>
              <a:t> üretilebilecek ürünlerin belirlenmesi 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Karar verilen ürünlerin üretiminde Model Öngörülü Kontrol (MÖK) senaryosu</a:t>
            </a:r>
          </a:p>
        </p:txBody>
      </p:sp>
    </p:spTree>
    <p:extLst>
      <p:ext uri="{BB962C8B-B14F-4D97-AF65-F5344CB8AC3E}">
        <p14:creationId xmlns:p14="http://schemas.microsoft.com/office/powerpoint/2010/main" val="280662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Biyoyağ İçeriği Tahmini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0009"/>
            <a:ext cx="8596668" cy="4561354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Biyokütleden biyoyağ üretimi üzerine literatür taraması</a:t>
            </a:r>
          </a:p>
          <a:p>
            <a:r>
              <a:rPr lang="tr-TR" dirty="0"/>
              <a:t>Veritabanı hazırlanması</a:t>
            </a:r>
          </a:p>
          <a:p>
            <a:pPr lvl="1"/>
            <a:r>
              <a:rPr lang="tr-TR" dirty="0"/>
              <a:t>Biyokütle özellikleri</a:t>
            </a:r>
          </a:p>
          <a:p>
            <a:pPr lvl="2"/>
            <a:r>
              <a:rPr lang="tr-TR" dirty="0"/>
              <a:t>Kısa analiz sonuçları</a:t>
            </a:r>
          </a:p>
          <a:p>
            <a:pPr lvl="2"/>
            <a:r>
              <a:rPr lang="tr-TR" dirty="0"/>
              <a:t>Elementel analiz sonuçları</a:t>
            </a:r>
          </a:p>
          <a:p>
            <a:pPr lvl="2"/>
            <a:r>
              <a:rPr lang="tr-TR" dirty="0"/>
              <a:t>Isıl analiz sonuçları</a:t>
            </a:r>
          </a:p>
          <a:p>
            <a:pPr lvl="1"/>
            <a:r>
              <a:rPr lang="tr-TR" dirty="0"/>
              <a:t>Proses koşulları</a:t>
            </a:r>
          </a:p>
          <a:p>
            <a:pPr lvl="2"/>
            <a:r>
              <a:rPr lang="tr-TR" dirty="0"/>
              <a:t>Sıcaklık</a:t>
            </a:r>
          </a:p>
          <a:p>
            <a:pPr lvl="2"/>
            <a:r>
              <a:rPr lang="tr-TR" dirty="0"/>
              <a:t>Bekleme süresi</a:t>
            </a:r>
          </a:p>
          <a:p>
            <a:pPr lvl="2"/>
            <a:r>
              <a:rPr lang="tr-TR" dirty="0"/>
              <a:t>Katalist</a:t>
            </a:r>
            <a:r>
              <a:rPr lang="tr-TR" sz="1400" i="1" dirty="0"/>
              <a:t> (</a:t>
            </a:r>
            <a:r>
              <a:rPr lang="tr-TR" sz="1400" i="1" dirty="0" err="1"/>
              <a:t>Hidrothermal</a:t>
            </a:r>
            <a:r>
              <a:rPr lang="tr-TR" sz="1400" i="1" dirty="0"/>
              <a:t> karbonizasyon da dahil)</a:t>
            </a:r>
            <a:endParaRPr lang="tr-TR" dirty="0"/>
          </a:p>
          <a:p>
            <a:pPr lvl="1"/>
            <a:r>
              <a:rPr lang="tr-TR" dirty="0"/>
              <a:t>Biyoyağ kompozisyonu</a:t>
            </a:r>
          </a:p>
          <a:p>
            <a:pPr lvl="2"/>
            <a:r>
              <a:rPr lang="tr-TR" b="0" i="0" dirty="0">
                <a:effectLst/>
                <a:latin typeface="ElsevierGulliver"/>
              </a:rPr>
              <a:t>Hidroksil</a:t>
            </a:r>
            <a:r>
              <a:rPr lang="en-US" b="0" i="0" dirty="0">
                <a:effectLst/>
                <a:latin typeface="ElsevierGulliver"/>
              </a:rPr>
              <a:t> </a:t>
            </a:r>
            <a:r>
              <a:rPr lang="tr-TR" b="0" i="0" dirty="0">
                <a:effectLst/>
                <a:latin typeface="ElsevierGulliver"/>
              </a:rPr>
              <a:t>bileşikler</a:t>
            </a:r>
            <a:endParaRPr lang="en-US" b="0" i="0" dirty="0">
              <a:effectLst/>
              <a:latin typeface="ElsevierGulliver"/>
            </a:endParaRPr>
          </a:p>
          <a:p>
            <a:pPr lvl="2"/>
            <a:r>
              <a:rPr lang="tr-TR" b="0" i="0" dirty="0">
                <a:effectLst/>
                <a:latin typeface="ElsevierGulliver"/>
              </a:rPr>
              <a:t>Karbonil</a:t>
            </a:r>
            <a:r>
              <a:rPr lang="en-US" b="0" i="0" dirty="0">
                <a:effectLst/>
                <a:latin typeface="ElsevierGulliver"/>
              </a:rPr>
              <a:t> </a:t>
            </a:r>
            <a:r>
              <a:rPr lang="tr-TR" b="0" i="0" dirty="0">
                <a:effectLst/>
                <a:latin typeface="ElsevierGulliver"/>
              </a:rPr>
              <a:t>bileşikler</a:t>
            </a:r>
            <a:endParaRPr lang="en-US" b="0" i="0" dirty="0">
              <a:effectLst/>
              <a:latin typeface="ElsevierGulliver"/>
            </a:endParaRPr>
          </a:p>
          <a:p>
            <a:pPr lvl="2"/>
            <a:r>
              <a:rPr lang="tr-TR" b="0" i="0" dirty="0">
                <a:effectLst/>
                <a:latin typeface="ElsevierGulliver"/>
              </a:rPr>
              <a:t>k</a:t>
            </a:r>
            <a:r>
              <a:rPr lang="en-US" b="0" i="0" dirty="0" err="1">
                <a:effectLst/>
                <a:latin typeface="ElsevierGulliver"/>
              </a:rPr>
              <a:t>arbo</a:t>
            </a:r>
            <a:r>
              <a:rPr lang="tr-TR" b="0" i="0" dirty="0" err="1">
                <a:effectLst/>
                <a:latin typeface="ElsevierGulliver"/>
              </a:rPr>
              <a:t>ksilik</a:t>
            </a:r>
            <a:r>
              <a:rPr lang="en-US" b="0" i="0" dirty="0">
                <a:effectLst/>
                <a:latin typeface="ElsevierGulliver"/>
              </a:rPr>
              <a:t> a</a:t>
            </a:r>
            <a:r>
              <a:rPr lang="tr-TR" b="0" i="0" dirty="0">
                <a:effectLst/>
                <a:latin typeface="ElsevierGulliver"/>
              </a:rPr>
              <a:t>sitler</a:t>
            </a:r>
            <a:endParaRPr lang="en-US" b="0" i="0" dirty="0">
              <a:effectLst/>
              <a:latin typeface="ElsevierGulliver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515761"/>
              </p:ext>
            </p:extLst>
          </p:nvPr>
        </p:nvGraphicFramePr>
        <p:xfrm>
          <a:off x="5595123" y="2745626"/>
          <a:ext cx="4191000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Visio" r:id="rId3" imgW="4193053" imgH="2337860" progId="Visio.Drawing.11">
                  <p:embed/>
                </p:oleObj>
              </mc:Choice>
              <mc:Fallback>
                <p:oleObj name="Visio" r:id="rId3" imgW="4193053" imgH="23378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123" y="2745626"/>
                        <a:ext cx="4191000" cy="233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Metin kutusu 6">
            <a:extLst>
              <a:ext uri="{FF2B5EF4-FFF2-40B4-BE49-F238E27FC236}">
                <a16:creationId xmlns:a16="http://schemas.microsoft.com/office/drawing/2014/main" xmlns="" id="{9E6D6B6B-21B4-8610-FC6E-A4B3137723E5}"/>
              </a:ext>
            </a:extLst>
          </p:cNvPr>
          <p:cNvSpPr txBox="1"/>
          <p:nvPr/>
        </p:nvSpPr>
        <p:spPr>
          <a:xfrm>
            <a:off x="3473780" y="5038928"/>
            <a:ext cx="1861792" cy="888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3525" lvl="2" indent="-2286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ElsevierGulliver"/>
              </a:rPr>
              <a:t>Fenoller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ElsevierGulliver"/>
            </a:endParaRPr>
          </a:p>
          <a:p>
            <a:pPr marL="263525" lvl="2" indent="-2286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ElsevierGulliver"/>
              </a:rPr>
              <a:t>Karbonhidratlar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ElsevierGulliver"/>
            </a:endParaRPr>
          </a:p>
          <a:p>
            <a:pPr marL="263525" lvl="2" indent="-2286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ElsevierGulliver"/>
              </a:rPr>
              <a:t>Su içeriği </a:t>
            </a:r>
            <a:r>
              <a:rPr lang="tr-TR"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ElsevierGulliver"/>
              </a:rPr>
              <a:t>v.b</a:t>
            </a:r>
            <a:r>
              <a:rPr lang="tr-T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ElsevierGulliver"/>
              </a:rPr>
              <a:t>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ElsevierGulliver"/>
            </a:endParaRPr>
          </a:p>
        </p:txBody>
      </p:sp>
    </p:spTree>
    <p:extLst>
      <p:ext uri="{BB962C8B-B14F-4D97-AF65-F5344CB8AC3E}">
        <p14:creationId xmlns:p14="http://schemas.microsoft.com/office/powerpoint/2010/main" val="176700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Biyoyağın Değerlendirilmesi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379580" cy="38807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Biyoyağın hammadde olduğu prosesler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Literatür taraması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Proses tasarımı</a:t>
            </a:r>
          </a:p>
          <a:p>
            <a:pPr lvl="2">
              <a:lnSpc>
                <a:spcPct val="150000"/>
              </a:lnSpc>
            </a:pPr>
            <a:r>
              <a:rPr lang="tr-TR" dirty="0"/>
              <a:t>Ekipmanların belirlenmesi ve akış diyagramı</a:t>
            </a:r>
          </a:p>
          <a:p>
            <a:pPr lvl="2">
              <a:lnSpc>
                <a:spcPct val="150000"/>
              </a:lnSpc>
            </a:pPr>
            <a:r>
              <a:rPr lang="tr-TR" dirty="0"/>
              <a:t>Ekipmanların yüksek ürün kalitesi-düşük maliyet optimizasyonu</a:t>
            </a:r>
          </a:p>
          <a:p>
            <a:pPr lvl="1"/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477692" y="287382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0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Model Öngörülü Kontrol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Model Öngörülü Kontrol (Model Predictiv Control - MPC)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Ürün özelliklerini hesaplayan simülasyon modeli üzerinden optimizasyon yapar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Proses kontrol parametrelerini belirler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02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A40649-A5B3-3822-A658-75918B89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327329" cy="44106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4000" dirty="0"/>
              <a:t>TEZİN ÖNEMİ </a:t>
            </a:r>
            <a:br>
              <a:rPr lang="tr-TR" sz="4000" dirty="0"/>
            </a:br>
            <a:r>
              <a:rPr lang="tr-TR" sz="4000" dirty="0"/>
              <a:t>ve	</a:t>
            </a:r>
            <a:br>
              <a:rPr lang="tr-TR" sz="4000" dirty="0"/>
            </a:br>
            <a:r>
              <a:rPr lang="tr-TR" sz="4000" dirty="0"/>
              <a:t>ÖNCELİKLİ ALANLAR İLE İLİŞKİSİ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9185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ÖNCELİKLİ </a:t>
            </a:r>
            <a:r>
              <a:rPr lang="tr-TR" dirty="0"/>
              <a:t>ALANLAR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Biyokütleden üretilen biyoyağın değerlendirilmesi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Yenilenebilir enerji </a:t>
            </a:r>
            <a:r>
              <a:rPr lang="tr-TR" dirty="0" smtClean="0"/>
              <a:t>teknolojileri (Ege Üniversitesi)</a:t>
            </a:r>
            <a:endParaRPr lang="tr-TR" dirty="0"/>
          </a:p>
          <a:p>
            <a:pPr lvl="1">
              <a:lnSpc>
                <a:spcPct val="150000"/>
              </a:lnSpc>
            </a:pPr>
            <a:r>
              <a:rPr lang="tr-TR" dirty="0"/>
              <a:t>Çevre dostu, sürdürülebilir kimyasal </a:t>
            </a:r>
            <a:r>
              <a:rPr lang="tr-TR" dirty="0"/>
              <a:t>teknolojiler (Ege Üniversitesi</a:t>
            </a:r>
            <a:r>
              <a:rPr lang="tr-TR" dirty="0" smtClean="0"/>
              <a:t>)</a:t>
            </a:r>
            <a:endParaRPr lang="tr-TR" dirty="0"/>
          </a:p>
          <a:p>
            <a:pPr lvl="1">
              <a:lnSpc>
                <a:spcPct val="150000"/>
              </a:lnSpc>
            </a:pPr>
            <a:r>
              <a:rPr lang="tr-TR" dirty="0"/>
              <a:t>Atıkların geri kazanımı ve katma değeri yüksek malzeme </a:t>
            </a:r>
            <a:r>
              <a:rPr lang="tr-TR" dirty="0"/>
              <a:t>üretimi (Ege Üniversitesi)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İklim değişikliği (YÖK)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Sürdürülebilir çevre (YÖK)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5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ÖNCELİKLİ </a:t>
            </a:r>
            <a:r>
              <a:rPr lang="tr-TR" dirty="0"/>
              <a:t>ALANLAR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4626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Biyokütleden üretilen biyoyağ içeriğinin öngörüsü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Yapay zeka, makine öğrenmesi ve derin </a:t>
            </a:r>
            <a:r>
              <a:rPr lang="tr-TR" dirty="0" smtClean="0"/>
              <a:t>öğrenme (Ege Üniversitesi)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Yapay zeka, makine öğrenmesi, arttırılmış ve sanal gerçeklik (YÖK)</a:t>
            </a:r>
            <a:endParaRPr lang="tr-TR" dirty="0"/>
          </a:p>
          <a:p>
            <a:pPr>
              <a:lnSpc>
                <a:spcPct val="150000"/>
              </a:lnSpc>
            </a:pPr>
            <a:r>
              <a:rPr lang="tr-TR" dirty="0"/>
              <a:t>Biyoyağın değerlendirilmesinde proses tasarımı ve model öngörülü kontrol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Modelleme, simülasyon ve optimizasyon teknikleri ve </a:t>
            </a:r>
            <a:r>
              <a:rPr lang="tr-TR" dirty="0" smtClean="0"/>
              <a:t>uygulamaları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Akıllı enerji sistemleri (YÖK)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Enerji verimliliği (YÖK)</a:t>
            </a:r>
          </a:p>
        </p:txBody>
      </p:sp>
    </p:spTree>
    <p:extLst>
      <p:ext uri="{BB962C8B-B14F-4D97-AF65-F5344CB8AC3E}">
        <p14:creationId xmlns:p14="http://schemas.microsoft.com/office/powerpoint/2010/main" val="299793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A40649-A5B3-3822-A658-75918B89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9659740" cy="44106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4000" dirty="0"/>
              <a:t>TEZİN YENİLİKÇİLİK </a:t>
            </a:r>
            <a:br>
              <a:rPr lang="tr-TR" sz="4000" dirty="0"/>
            </a:br>
            <a:r>
              <a:rPr lang="tr-TR" sz="4000" dirty="0"/>
              <a:t>ve</a:t>
            </a:r>
            <a:br>
              <a:rPr lang="tr-TR" sz="4000" dirty="0"/>
            </a:br>
            <a:r>
              <a:rPr lang="tr-TR" sz="4000" dirty="0"/>
              <a:t>TEKNOLOJİK DÜZEY DEĞERLENDİRİLMESİ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5510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YAPAY ZEKA KULLANIMI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51162"/>
            <a:ext cx="8596668" cy="38807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r-TR"/>
              <a:t>Biyokütle özelliklerini ve proses koşullarını değerlendiren yapay zeka tabanlı bir model, bu alandaki mevcut yaklaşımlardan bir adım öteye geçen yenilikçi bir araştırmadır. </a:t>
            </a:r>
          </a:p>
          <a:p>
            <a:pPr>
              <a:lnSpc>
                <a:spcPct val="150000"/>
              </a:lnSpc>
            </a:pPr>
            <a:r>
              <a:rPr lang="tr-TR" dirty="0"/>
              <a:t>Bu modelin biyoyağ içeriğini daha doğru bir şekilde tahmin edebilmesi, bütüncül olarak proses verimliliğini ve ürün kalitesini artıracaktır.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7901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OPTİMİZASYON ve KONTROL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tr-TR"/>
              <a:t>Geliştirilecek model, proses koşullarının daha sistematik tanımlanmasını sağlayacağı için süreçlerin optimizasyonunu ve kontrolünü kolaylaştıracaktır. </a:t>
            </a:r>
          </a:p>
          <a:p>
            <a:pPr>
              <a:lnSpc>
                <a:spcPct val="150000"/>
              </a:lnSpc>
            </a:pPr>
            <a:r>
              <a:rPr lang="tr-TR" dirty="0"/>
              <a:t>Bu, enerji verimliliğini ve çevresel sürdürülebilirliği artıracak bir adım olacaktır. 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3050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ENDÜSTRİYEL UGULAMALARA ETKİ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Modelin geliştirilmesi, piroliz üzerine faaliyet gösteren endüstriler için yeni ve daha etkili işleme tekniklerinin yolunu açabilir. </a:t>
            </a:r>
          </a:p>
          <a:p>
            <a:pPr>
              <a:lnSpc>
                <a:spcPct val="150000"/>
              </a:lnSpc>
            </a:pPr>
            <a:r>
              <a:rPr lang="tr-TR" dirty="0"/>
              <a:t>Bu, hem ekonomik kazanç hem de çevresel etkiler açısından önemli bir katkı sağlayabilecekken, piroliz sistemlerinin yaygınlaşmasına da katkı sağlayabilecektir. </a:t>
            </a:r>
          </a:p>
          <a:p>
            <a:pPr>
              <a:lnSpc>
                <a:spcPct val="150000"/>
              </a:lnSpc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0606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FC1F43D4-D68A-9280-1037-DC17B972E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dirty="0"/>
              <a:t>TEKNOLOJİK DÜZEY DEĞERLENDİRİLMESİ</a:t>
            </a:r>
            <a:endParaRPr lang="tr-TR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xmlns="" id="{1BA21941-A2AF-71CA-DDF3-3C690AD3CDEF}"/>
              </a:ext>
            </a:extLst>
          </p:cNvPr>
          <p:cNvGrpSpPr/>
          <p:nvPr/>
        </p:nvGrpSpPr>
        <p:grpSpPr>
          <a:xfrm>
            <a:off x="530064" y="5554322"/>
            <a:ext cx="9812120" cy="717229"/>
            <a:chOff x="548917" y="5127819"/>
            <a:chExt cx="9812120" cy="717229"/>
          </a:xfrm>
        </p:grpSpPr>
        <p:pic>
          <p:nvPicPr>
            <p:cNvPr id="6" name="Resim 5">
              <a:extLst>
                <a:ext uri="{FF2B5EF4-FFF2-40B4-BE49-F238E27FC236}">
                  <a16:creationId xmlns:a16="http://schemas.microsoft.com/office/drawing/2014/main" xmlns="" id="{FE145B2B-5B5D-74B9-3E09-937E2C601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918" y="5311574"/>
              <a:ext cx="9812119" cy="533474"/>
            </a:xfrm>
            <a:prstGeom prst="rect">
              <a:avLst/>
            </a:prstGeom>
          </p:spPr>
        </p:pic>
        <p:pic>
          <p:nvPicPr>
            <p:cNvPr id="8" name="Resim 7">
              <a:extLst>
                <a:ext uri="{FF2B5EF4-FFF2-40B4-BE49-F238E27FC236}">
                  <a16:creationId xmlns:a16="http://schemas.microsoft.com/office/drawing/2014/main" xmlns="" id="{42B2EB6D-1B68-602E-F383-E2EAB6CCA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917" y="5127819"/>
              <a:ext cx="9812119" cy="219106"/>
            </a:xfrm>
            <a:prstGeom prst="rect">
              <a:avLst/>
            </a:prstGeom>
          </p:spPr>
        </p:pic>
      </p:grpSp>
      <p:pic>
        <p:nvPicPr>
          <p:cNvPr id="11" name="Resim 10">
            <a:extLst>
              <a:ext uri="{FF2B5EF4-FFF2-40B4-BE49-F238E27FC236}">
                <a16:creationId xmlns:a16="http://schemas.microsoft.com/office/drawing/2014/main" xmlns="" id="{361E273D-D51C-0E93-224F-012E637EE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214" y="1300215"/>
            <a:ext cx="6075155" cy="404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3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A40649-A5B3-3822-A658-75918B89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9659740" cy="44106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4000" dirty="0"/>
              <a:t>TEZİN METERYALİ</a:t>
            </a:r>
            <a:br>
              <a:rPr lang="tr-TR" sz="4000" dirty="0"/>
            </a:br>
            <a:r>
              <a:rPr lang="tr-TR" sz="4000" dirty="0"/>
              <a:t>ve</a:t>
            </a:r>
            <a:br>
              <a:rPr lang="tr-TR" sz="4000" dirty="0"/>
            </a:br>
            <a:r>
              <a:rPr lang="tr-TR" sz="4000" dirty="0"/>
              <a:t>YÖNTEMLERİ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7522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BİYOYAĞ İÇERİĞİ ÖNGÖRÜSÜ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9311397" cy="38807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Biyokütleden biyoyağ üretimi 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Literatür taraması ve veritabanı oluşturulması</a:t>
            </a:r>
          </a:p>
          <a:p>
            <a:pPr lvl="2">
              <a:lnSpc>
                <a:spcPct val="150000"/>
              </a:lnSpc>
            </a:pPr>
            <a:r>
              <a:rPr lang="tr-TR" dirty="0"/>
              <a:t>SQL server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Veritabanı kullanılarak yapay zeka modelinin eğitilmesi</a:t>
            </a:r>
          </a:p>
          <a:p>
            <a:pPr lvl="2">
              <a:lnSpc>
                <a:spcPct val="150000"/>
              </a:lnSpc>
            </a:pPr>
            <a:r>
              <a:rPr lang="tr-TR" dirty="0"/>
              <a:t>Öğrenme verisi ve doğrulama verisi</a:t>
            </a:r>
            <a:r>
              <a:rPr lang="tr-TR" baseline="30000" dirty="0"/>
              <a:t>[3]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Çeşitli makine öğrenmesi yöntemleri</a:t>
            </a:r>
          </a:p>
          <a:p>
            <a:pPr lvl="2">
              <a:lnSpc>
                <a:spcPct val="150000"/>
              </a:lnSpc>
            </a:pPr>
            <a:r>
              <a:rPr lang="tr-TR" dirty="0"/>
              <a:t>Yapay sinir ağları, karar ağaçları</a:t>
            </a:r>
          </a:p>
          <a:p>
            <a:pPr lvl="2">
              <a:lnSpc>
                <a:spcPct val="150000"/>
              </a:lnSpc>
            </a:pPr>
            <a:r>
              <a:rPr lang="tr-TR" dirty="0"/>
              <a:t>Python'un </a:t>
            </a:r>
            <a:r>
              <a:rPr lang="en-GB" i="1" dirty="0" err="1"/>
              <a:t>numpy</a:t>
            </a:r>
            <a:r>
              <a:rPr lang="en-GB" dirty="0"/>
              <a:t>, </a:t>
            </a:r>
            <a:r>
              <a:rPr lang="en-GB" i="1" dirty="0" err="1"/>
              <a:t>tensorflow</a:t>
            </a:r>
            <a:r>
              <a:rPr lang="en-GB" dirty="0"/>
              <a:t>, </a:t>
            </a:r>
            <a:r>
              <a:rPr lang="en-GB" i="1" dirty="0" err="1"/>
              <a:t>sklearn</a:t>
            </a:r>
            <a:r>
              <a:rPr lang="en-GB" dirty="0"/>
              <a:t>, </a:t>
            </a:r>
            <a:r>
              <a:rPr lang="en-GB" i="1" dirty="0"/>
              <a:t>pandas </a:t>
            </a:r>
            <a:r>
              <a:rPr lang="en-GB" dirty="0" err="1"/>
              <a:t>ve</a:t>
            </a:r>
            <a:r>
              <a:rPr lang="en-GB" dirty="0"/>
              <a:t> </a:t>
            </a:r>
            <a:r>
              <a:rPr lang="en-GB" i="1" dirty="0" err="1"/>
              <a:t>pyearth</a:t>
            </a:r>
            <a:r>
              <a:rPr lang="en-GB" i="1" dirty="0"/>
              <a:t> </a:t>
            </a:r>
            <a:r>
              <a:rPr lang="tr-TR" i="1" dirty="0"/>
              <a:t>kütüphaneleri</a:t>
            </a:r>
            <a:r>
              <a:rPr lang="tr-TR" dirty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31663A3-866B-95B9-9C6F-6A3D016DF4DB}"/>
              </a:ext>
            </a:extLst>
          </p:cNvPr>
          <p:cNvSpPr txBox="1"/>
          <p:nvPr/>
        </p:nvSpPr>
        <p:spPr>
          <a:xfrm>
            <a:off x="0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</a:t>
            </a:r>
            <a:r>
              <a:rPr lang="tr-TR" sz="1200" dirty="0"/>
              <a:t>3</a:t>
            </a:r>
            <a:r>
              <a:rPr lang="en-US" sz="1200" dirty="0"/>
              <a:t>]: </a:t>
            </a:r>
            <a:r>
              <a:rPr lang="tr-TR" sz="1200" dirty="0"/>
              <a:t>Aniza, R., Chen, W., Yang, F., Pugazhendh, A., Singh, Y.,</a:t>
            </a:r>
            <a:r>
              <a:rPr lang="tr-TR" sz="1200" i="1" dirty="0"/>
              <a:t> Integrating Taguchi method and artificial neural network for predicting and maximizing biofuel production via torrefaction and pyrolysis</a:t>
            </a:r>
            <a:r>
              <a:rPr lang="tr-TR" sz="1200" dirty="0"/>
              <a:t>, "Bioresource Technology", 343(2022)126140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2992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BİYOYAĞ İÇERİĞİ ÖNGÖRÜSÜ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PYTHON programlama dili</a:t>
            </a:r>
          </a:p>
          <a:p>
            <a:pPr lvl="1">
              <a:lnSpc>
                <a:spcPct val="150000"/>
              </a:lnSpc>
            </a:pPr>
            <a:r>
              <a:rPr lang="en-GB" i="1" dirty="0" err="1"/>
              <a:t>numpy</a:t>
            </a:r>
            <a:r>
              <a:rPr lang="tr-TR" i="1" dirty="0"/>
              <a:t>: çok boyutlu diziler ve matrisler</a:t>
            </a:r>
            <a:endParaRPr lang="tr-TR" dirty="0"/>
          </a:p>
          <a:p>
            <a:pPr lvl="1">
              <a:lnSpc>
                <a:spcPct val="150000"/>
              </a:lnSpc>
            </a:pPr>
            <a:r>
              <a:rPr lang="en-GB" i="1" dirty="0" err="1"/>
              <a:t>tensorflow</a:t>
            </a:r>
            <a:r>
              <a:rPr lang="tr-TR" i="1" dirty="0"/>
              <a:t>: makine öğrenmesi algoritmaları</a:t>
            </a:r>
            <a:endParaRPr lang="tr-TR" dirty="0"/>
          </a:p>
          <a:p>
            <a:pPr lvl="1">
              <a:lnSpc>
                <a:spcPct val="150000"/>
              </a:lnSpc>
            </a:pPr>
            <a:r>
              <a:rPr lang="en-GB" i="1" dirty="0" err="1"/>
              <a:t>sklearn</a:t>
            </a:r>
            <a:r>
              <a:rPr lang="tr-TR" i="1" dirty="0"/>
              <a:t>: sonuç verisi analizi</a:t>
            </a:r>
            <a:endParaRPr lang="tr-TR" dirty="0"/>
          </a:p>
          <a:p>
            <a:pPr lvl="1">
              <a:lnSpc>
                <a:spcPct val="150000"/>
              </a:lnSpc>
            </a:pPr>
            <a:r>
              <a:rPr lang="en-GB" i="1" dirty="0"/>
              <a:t>pandas</a:t>
            </a:r>
            <a:r>
              <a:rPr lang="tr-TR" i="1" dirty="0"/>
              <a:t>: ham veri düzenlemesi</a:t>
            </a:r>
            <a:endParaRPr lang="tr-TR" dirty="0"/>
          </a:p>
          <a:p>
            <a:pPr lvl="1">
              <a:lnSpc>
                <a:spcPct val="150000"/>
              </a:lnSpc>
            </a:pPr>
            <a:r>
              <a:rPr lang="en-GB" i="1" dirty="0" err="1"/>
              <a:t>pyearth</a:t>
            </a:r>
            <a:r>
              <a:rPr lang="tr-TR" i="1" dirty="0"/>
              <a:t>: regresyon </a:t>
            </a:r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4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BİYOYAĞIN DEĞERLENDİRİLMESİ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Proses tasarımı ve akış diyagramı hazırlanması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Aspen Plus</a:t>
            </a:r>
          </a:p>
          <a:p>
            <a:r>
              <a:rPr lang="tr-TR" dirty="0"/>
              <a:t>Ekipman tasarımları ve optimizasyon</a:t>
            </a:r>
          </a:p>
          <a:p>
            <a:pPr lvl="1"/>
            <a:r>
              <a:rPr lang="tr-TR" dirty="0"/>
              <a:t>C# programlama dili</a:t>
            </a:r>
          </a:p>
          <a:p>
            <a:pPr lvl="1"/>
            <a:r>
              <a:rPr lang="tr-TR" dirty="0"/>
              <a:t>happ.tlb dosyası ile C#-Aspen entegrasyonu</a:t>
            </a:r>
          </a:p>
          <a:p>
            <a:pPr lvl="1"/>
            <a:r>
              <a:rPr lang="tr-TR" dirty="0"/>
              <a:t>Metasezgisel optimizasyon yöntemleri</a:t>
            </a:r>
          </a:p>
          <a:p>
            <a:pPr lvl="2"/>
            <a:r>
              <a:rPr lang="tr-TR" dirty="0"/>
              <a:t>Parçacık sürü optimizasyonu</a:t>
            </a:r>
          </a:p>
          <a:p>
            <a:pPr lvl="2"/>
            <a:r>
              <a:rPr lang="tr-TR" dirty="0"/>
              <a:t>Genetik algoritma</a:t>
            </a:r>
          </a:p>
          <a:p>
            <a:pPr lvl="2"/>
            <a:r>
              <a:rPr lang="tr-TR" dirty="0"/>
              <a:t>Nelder-Mead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7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MODEL ÖNGÖRÜLÜ KONTROL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MATLAB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Model ile ürün öngörüsü</a:t>
            </a:r>
          </a:p>
          <a:p>
            <a:pPr lvl="2">
              <a:lnSpc>
                <a:spcPct val="150000"/>
              </a:lnSpc>
            </a:pPr>
            <a:r>
              <a:rPr lang="tr-TR" dirty="0"/>
              <a:t>Birden çok girdi-çıktı ilişkisi</a:t>
            </a:r>
          </a:p>
          <a:p>
            <a:pPr lvl="2">
              <a:lnSpc>
                <a:spcPct val="150000"/>
              </a:lnSpc>
            </a:pPr>
            <a:r>
              <a:rPr lang="tr-TR" dirty="0"/>
              <a:t>Maliyet hesaplanması</a:t>
            </a:r>
          </a:p>
          <a:p>
            <a:pPr lvl="2">
              <a:lnSpc>
                <a:spcPct val="150000"/>
              </a:lnSpc>
            </a:pPr>
            <a:r>
              <a:rPr lang="tr-TR" dirty="0"/>
              <a:t>Optimizasyon</a:t>
            </a:r>
          </a:p>
          <a:p>
            <a:pPr lvl="2">
              <a:lnSpc>
                <a:spcPct val="150000"/>
              </a:lnSpc>
            </a:pPr>
            <a:r>
              <a:rPr lang="tr-TR" dirty="0"/>
              <a:t>Değişken kısıtları</a:t>
            </a:r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0857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A40649-A5B3-3822-A658-75918B89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9659740" cy="44106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4000" dirty="0"/>
              <a:t>ÇALIŞMA PLANI</a:t>
            </a:r>
            <a:br>
              <a:rPr lang="tr-TR" sz="4000" dirty="0"/>
            </a:br>
            <a:r>
              <a:rPr lang="tr-TR" sz="4000" dirty="0"/>
              <a:t>İŞ PAKETLERİ-ZAMAN ÇİZELGESİ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5875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ÇALIŞMA PLANI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88869"/>
            <a:ext cx="8596668" cy="543414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tr-TR"/>
              <a:t>Literatür taraması:</a:t>
            </a:r>
          </a:p>
          <a:p>
            <a:pPr lvl="1">
              <a:lnSpc>
                <a:spcPct val="150000"/>
              </a:lnSpc>
            </a:pPr>
            <a:r>
              <a:rPr lang="tr-TR"/>
              <a:t>Biyokütle enerjisi üzerine makine öğrenmesi çalışmalarının taranması 	</a:t>
            </a:r>
          </a:p>
          <a:p>
            <a:pPr>
              <a:lnSpc>
                <a:spcPct val="150000"/>
              </a:lnSpc>
            </a:pPr>
            <a:r>
              <a:rPr lang="tr-TR"/>
              <a:t>Veritabanı hazırlanması:</a:t>
            </a:r>
          </a:p>
          <a:p>
            <a:pPr lvl="1">
              <a:lnSpc>
                <a:spcPct val="150000"/>
              </a:lnSpc>
            </a:pPr>
            <a:r>
              <a:rPr lang="tr-TR"/>
              <a:t>Farklı biyokütle kaynaklarından biyoyağ üretim sürecinin proses koşulları, hammadde özellikleri ve biyoyağ kompozisyonu açısından incelenmesi 		</a:t>
            </a:r>
          </a:p>
          <a:p>
            <a:pPr>
              <a:lnSpc>
                <a:spcPct val="150000"/>
              </a:lnSpc>
            </a:pPr>
            <a:r>
              <a:rPr lang="tr-TR"/>
              <a:t>Kod yazımı:</a:t>
            </a:r>
          </a:p>
          <a:p>
            <a:pPr lvl="1">
              <a:lnSpc>
                <a:spcPct val="150000"/>
              </a:lnSpc>
            </a:pPr>
            <a:r>
              <a:rPr lang="tr-TR"/>
              <a:t>Makine öğrenmesi kodlarının yazılması 	</a:t>
            </a:r>
          </a:p>
          <a:p>
            <a:pPr lvl="1">
              <a:lnSpc>
                <a:spcPct val="150000"/>
              </a:lnSpc>
            </a:pPr>
            <a:r>
              <a:rPr lang="tr-TR"/>
              <a:t>Programlanan makine öğrenmesi yöntemlerinin karşılaştırılması ve nihai modelin belirlenmesi </a:t>
            </a:r>
          </a:p>
          <a:p>
            <a:pPr>
              <a:lnSpc>
                <a:spcPct val="150000"/>
              </a:lnSpc>
            </a:pPr>
            <a:r>
              <a:rPr lang="tr-TR"/>
              <a:t>Katma değerli ürün seçimi ve proses modellemesi:</a:t>
            </a:r>
          </a:p>
          <a:p>
            <a:pPr lvl="1"/>
            <a:r>
              <a:rPr lang="tr-TR"/>
              <a:t>Ürün ve proses seçimi, akış diyagramlarının oluşturulması</a:t>
            </a:r>
          </a:p>
          <a:p>
            <a:pPr lvl="1"/>
            <a:r>
              <a:rPr lang="tr-TR"/>
              <a:t>Akış diyagramlarındaki ekipmanların optimizasyonunu yapacak olan yazılımın programlanması </a:t>
            </a:r>
          </a:p>
          <a:p>
            <a:pPr>
              <a:lnSpc>
                <a:spcPct val="150000"/>
              </a:lnSpc>
            </a:pPr>
            <a:r>
              <a:rPr lang="tr-TR"/>
              <a:t>MÖK senaryosunun oluşturulması:</a:t>
            </a:r>
          </a:p>
          <a:p>
            <a:pPr lvl="1"/>
            <a:r>
              <a:rPr lang="tr-TR"/>
              <a:t>MÖK senaryosunun programlanması 	</a:t>
            </a:r>
          </a:p>
          <a:p>
            <a:pPr>
              <a:lnSpc>
                <a:spcPct val="150000"/>
              </a:lnSpc>
            </a:pPr>
            <a:endParaRPr lang="tr-TR"/>
          </a:p>
          <a:p>
            <a:pPr>
              <a:lnSpc>
                <a:spcPct val="150000"/>
              </a:lnSpc>
            </a:pPr>
            <a:endParaRPr lang="tr-TR"/>
          </a:p>
          <a:p>
            <a:pPr lvl="1">
              <a:lnSpc>
                <a:spcPct val="150000"/>
              </a:lnSpc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672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39634"/>
            <a:ext cx="8596668" cy="1085512"/>
          </a:xfrm>
        </p:spPr>
        <p:txBody>
          <a:bodyPr/>
          <a:lstStyle/>
          <a:p>
            <a:r>
              <a:rPr lang="tr-TR" dirty="0"/>
              <a:t>İŞ PAKETLERİ-ZAMAN ÇİZELGESİ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95" y="1200150"/>
            <a:ext cx="103632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7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95794"/>
            <a:ext cx="8596668" cy="705394"/>
          </a:xfrm>
        </p:spPr>
        <p:txBody>
          <a:bodyPr/>
          <a:lstStyle/>
          <a:p>
            <a:r>
              <a:rPr lang="tr-TR" dirty="0"/>
              <a:t>KAYNAKLAR DİZİNİ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801188"/>
            <a:ext cx="8596668" cy="6056811"/>
          </a:xfrm>
        </p:spPr>
        <p:txBody>
          <a:bodyPr>
            <a:noAutofit/>
          </a:bodyPr>
          <a:lstStyle/>
          <a:p>
            <a:r>
              <a:rPr lang="tr-TR" sz="1600" dirty="0"/>
              <a:t>Aniza, R., Chen, W., Yang, F., Pugazhendh, A., Singh, Y.,</a:t>
            </a:r>
            <a:r>
              <a:rPr lang="tr-TR" sz="1600" i="1" dirty="0"/>
              <a:t> Integrating Taguchi method and artificial neural network for predicting and maximizing biofuel production via torrefaction and pyrolysis</a:t>
            </a:r>
            <a:r>
              <a:rPr lang="tr-TR" sz="1600" dirty="0"/>
              <a:t>, "Bioresource Technology", 343(2022)126140</a:t>
            </a:r>
            <a:endParaRPr lang="en-US" sz="1600" dirty="0"/>
          </a:p>
          <a:p>
            <a:r>
              <a:rPr lang="tr-TR" sz="1600" dirty="0"/>
              <a:t>Bridgwater, A. V.,</a:t>
            </a:r>
            <a:r>
              <a:rPr lang="tr-TR" sz="1600" i="1" dirty="0"/>
              <a:t> Review of fast pyrolysis of biomass and product upgrading</a:t>
            </a:r>
            <a:r>
              <a:rPr lang="tr-TR" sz="1600" dirty="0"/>
              <a:t>, “Renewable and Sustainable Energy Reviews”, 52(2012):1282-1293​​.</a:t>
            </a:r>
            <a:endParaRPr lang="en-US" sz="1600" dirty="0"/>
          </a:p>
          <a:p>
            <a:r>
              <a:rPr lang="tr-TR" sz="1600" dirty="0"/>
              <a:t>Chang, C. C., Chen, C. P., Yang, C. S., Chen, Y. H., Huang, M., Chang, C. Y., </a:t>
            </a:r>
            <a:r>
              <a:rPr lang="tr-TR" sz="1600" i="1" dirty="0"/>
              <a:t>Conversion of waste bamboo chopsticks to bio-oil via catalytic hydrothermal liquefaction using K2CO3</a:t>
            </a:r>
            <a:r>
              <a:rPr lang="tr-TR" sz="1600" dirty="0"/>
              <a:t>, “Chemical Engineering Journal”, 288(2016):161-172​​.</a:t>
            </a:r>
            <a:endParaRPr lang="en-US" sz="1600" dirty="0"/>
          </a:p>
          <a:p>
            <a:r>
              <a:rPr lang="tr-TR" sz="1600" dirty="0"/>
              <a:t>Chen, D., Wang, Y., Liu, Y., Cen, K., Cao, X., Ma, Z., </a:t>
            </a:r>
            <a:r>
              <a:rPr lang="tr-TR" sz="1600" i="1" dirty="0"/>
              <a:t>Comparative study on the pyrolysis behaviors of rice straw under different washing pretreatments of water, acid solution, and aqueous phase bio-oil by using TG-FTIR and Py-GC/MS</a:t>
            </a:r>
            <a:r>
              <a:rPr lang="tr-TR" sz="1600" dirty="0"/>
              <a:t>, “Fuel”, 252(2019):1-9​​.</a:t>
            </a:r>
            <a:endParaRPr lang="en-US" sz="1600" dirty="0"/>
          </a:p>
          <a:p>
            <a:r>
              <a:rPr lang="tr-TR" sz="1600" dirty="0"/>
              <a:t>Chen, W., Aniza, R., Arpia, A.A., Lo, H., Hoang, A.T., Goodarzi, V., Gao, J., </a:t>
            </a:r>
            <a:r>
              <a:rPr lang="tr-TR" sz="1600" i="1" dirty="0"/>
              <a:t>A comparative analysis of biomass torrefaction severity index prediction from machine learning, </a:t>
            </a:r>
            <a:r>
              <a:rPr lang="tr-TR" sz="1600" dirty="0"/>
              <a:t>“Applied Energy”, 324(2022)119689</a:t>
            </a:r>
            <a:endParaRPr lang="en-US" sz="1600" dirty="0"/>
          </a:p>
          <a:p>
            <a:r>
              <a:rPr lang="tr-TR" sz="1600" dirty="0"/>
              <a:t>Chen, W. H., Huang, M. Y., Chang, J. S., Chen, C. Y., Lee, W. J</a:t>
            </a:r>
            <a:r>
              <a:rPr lang="tr-TR" sz="1600" i="1" dirty="0"/>
              <a:t>., An energy analysis of torrefaction for upgrading microalga residue as a solid fuel</a:t>
            </a:r>
            <a:r>
              <a:rPr lang="tr-TR" sz="1600" dirty="0"/>
              <a:t>, “Applied Energy”, 154(2015):622-630​​.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04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95794"/>
            <a:ext cx="8596668" cy="705394"/>
          </a:xfrm>
        </p:spPr>
        <p:txBody>
          <a:bodyPr/>
          <a:lstStyle/>
          <a:p>
            <a:r>
              <a:rPr lang="tr-TR" dirty="0"/>
              <a:t>KAYNAKLAR DİZİNİ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801188"/>
            <a:ext cx="8596668" cy="6056811"/>
          </a:xfrm>
        </p:spPr>
        <p:txBody>
          <a:bodyPr>
            <a:noAutofit/>
          </a:bodyPr>
          <a:lstStyle/>
          <a:p>
            <a:r>
              <a:rPr lang="tr-TR" sz="1600" dirty="0"/>
              <a:t>Haq, Z.U., Ullah, H., Khan, M.N.A., Naqvi, S.R., Ahad, A., Amin, N.A.S., Comparative study of machine learning methods integrated with genetic algorithm and particle swarm optimization for bio-char yield prediction, "Bioresource Technology", 363(2022)128008</a:t>
            </a:r>
            <a:endParaRPr lang="en-US" sz="1600" dirty="0"/>
          </a:p>
          <a:p>
            <a:r>
              <a:rPr lang="tr-TR" sz="1600" dirty="0"/>
              <a:t>Hu, Z., Zhu, L., Cai, H., Huang, M., Li, J., Cai, B., Chen, D., Zhu, L., Yang, Y., Ma, Z., </a:t>
            </a:r>
            <a:r>
              <a:rPr lang="tr-TR" sz="1600" i="1" dirty="0"/>
              <a:t>Enhancement of the production of bio-aromatics from bamboo pyrolysis: Wet torrefaction pretreatment coupled with catalytic fast pyrolysis</a:t>
            </a:r>
            <a:r>
              <a:rPr lang="tr-TR" sz="1600" dirty="0"/>
              <a:t>, “Journal of Analytical and Applied Pyrolysis”, 169(2023):105818​​.</a:t>
            </a:r>
            <a:endParaRPr lang="en-US" sz="1600" dirty="0"/>
          </a:p>
          <a:p>
            <a:r>
              <a:rPr lang="tr-TR" sz="1600" dirty="0"/>
              <a:t>Kartal, F., Özveren, U., </a:t>
            </a:r>
            <a:r>
              <a:rPr lang="tr-TR" sz="1600" i="1" dirty="0"/>
              <a:t>Prediction of torrefied biomass properties from raw biomass, </a:t>
            </a:r>
            <a:r>
              <a:rPr lang="tr-TR" sz="1600" dirty="0"/>
              <a:t>“Renewable Energy”, 182(2022)578-591</a:t>
            </a:r>
          </a:p>
          <a:p>
            <a:r>
              <a:rPr lang="tr-TR" sz="1600" dirty="0"/>
              <a:t>Keskin, T., Duman, G., </a:t>
            </a:r>
            <a:r>
              <a:rPr lang="tr-TR" sz="1600" i="1" dirty="0"/>
              <a:t>Bioethanol production by </a:t>
            </a:r>
            <a:r>
              <a:rPr lang="tr-TR" sz="1600" i="1" dirty="0" err="1"/>
              <a:t>syngas</a:t>
            </a:r>
            <a:r>
              <a:rPr lang="tr-TR" sz="1600" i="1" dirty="0"/>
              <a:t> </a:t>
            </a:r>
            <a:r>
              <a:rPr lang="tr-TR" sz="1600" i="1" dirty="0" err="1"/>
              <a:t>fermentation</a:t>
            </a:r>
            <a:r>
              <a:rPr lang="tr-TR" sz="1600" i="1" dirty="0"/>
              <a:t> from pyrolysis gas using mixed culture: Heat-pretreatment effect, </a:t>
            </a:r>
            <a:r>
              <a:rPr lang="tr-TR" sz="1600" dirty="0"/>
              <a:t>“Pamukkale Univ Muh Bilim Derg, 26(7):1299-1307,2020</a:t>
            </a:r>
            <a:endParaRPr lang="en-US" sz="1600" dirty="0"/>
          </a:p>
          <a:p>
            <a:r>
              <a:rPr lang="tr-TR" sz="1600" dirty="0"/>
              <a:t>Kutlu, Ö., Koçar, G., </a:t>
            </a:r>
            <a:r>
              <a:rPr lang="tr-TR" sz="1600" i="1" dirty="0"/>
              <a:t>Upgrading lignocellulosic waste to fuel by torrefaction: Characterisation and process optimization by response surface methodology. </a:t>
            </a:r>
            <a:r>
              <a:rPr lang="tr-TR" sz="1600" dirty="0"/>
              <a:t>“Interational Journal of Energy Research”, 42(2018)4746-4760.</a:t>
            </a:r>
            <a:endParaRPr lang="en-US" sz="1600" dirty="0"/>
          </a:p>
          <a:p>
            <a:r>
              <a:rPr lang="tr-TR" sz="1600" dirty="0"/>
              <a:t>Leng, E., He, B., Chen, J., Liao, G., Ma, Y., Zhang, F., Liu, S., E, J., </a:t>
            </a:r>
            <a:r>
              <a:rPr lang="tr-TR" sz="1600" i="1" dirty="0"/>
              <a:t>Prediction of three-phased product distribution and bio-oil heating value of biomass fast pyrolysis based on machine learning, </a:t>
            </a:r>
            <a:r>
              <a:rPr lang="tr-TR" sz="1600" dirty="0"/>
              <a:t>“Energy”, 236(2021)121401.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6911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95794"/>
            <a:ext cx="8596668" cy="705394"/>
          </a:xfrm>
        </p:spPr>
        <p:txBody>
          <a:bodyPr/>
          <a:lstStyle/>
          <a:p>
            <a:r>
              <a:rPr lang="tr-TR" dirty="0"/>
              <a:t>KAYNAKLAR DİZİNİ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801188"/>
            <a:ext cx="8596668" cy="6056811"/>
          </a:xfrm>
        </p:spPr>
        <p:txBody>
          <a:bodyPr>
            <a:normAutofit/>
          </a:bodyPr>
          <a:lstStyle/>
          <a:p>
            <a:r>
              <a:rPr lang="tr-TR" sz="1600" dirty="0"/>
              <a:t>Nzihou, A., Stanmore, B., Lyczko, N., Minh, D. P., </a:t>
            </a:r>
            <a:r>
              <a:rPr lang="tr-TR" sz="1600" i="1" dirty="0"/>
              <a:t>The catalytic effect of inherent and adsorbed metals on the fast/flash pyrolysis of biomass: a review</a:t>
            </a:r>
            <a:r>
              <a:rPr lang="tr-TR" sz="1600" dirty="0"/>
              <a:t>, “Biomass and Bioenergy”, 116(2014):358-369​​.</a:t>
            </a:r>
            <a:endParaRPr lang="en-US" sz="1600" dirty="0"/>
          </a:p>
          <a:p>
            <a:r>
              <a:rPr lang="tr-TR" sz="1600" dirty="0"/>
              <a:t>Onsree, T., Tippayawong, N., </a:t>
            </a:r>
            <a:r>
              <a:rPr lang="tr-TR" sz="1600" i="1" dirty="0"/>
              <a:t>Machine learning application to predict yields of solid products from biomass torrefaction, </a:t>
            </a:r>
            <a:r>
              <a:rPr lang="tr-TR" sz="1600" dirty="0"/>
              <a:t>“Renewable Energy”, 167(2021)425-432.</a:t>
            </a:r>
            <a:endParaRPr lang="en-US" sz="1600" dirty="0"/>
          </a:p>
          <a:p>
            <a:r>
              <a:rPr lang="tr-TR" sz="1600" dirty="0"/>
              <a:t>Wang, S., Li, Z., Bai, X., Yi, W., Fu, P</a:t>
            </a:r>
            <a:r>
              <a:rPr lang="tr-TR" sz="1600" i="1" dirty="0"/>
              <a:t>., Influence of inherent hierarchical porous char with alkali and alkaline earth metallic species on lignin pyrolysis</a:t>
            </a:r>
            <a:r>
              <a:rPr lang="tr-TR" sz="1600" dirty="0"/>
              <a:t>, “Bioresource Technology”, 268(2018):323-331​​.</a:t>
            </a:r>
            <a:endParaRPr lang="en-US" sz="1600" dirty="0"/>
          </a:p>
          <a:p>
            <a:r>
              <a:rPr lang="tr-TR" sz="1600" dirty="0"/>
              <a:t>Yang, H., Yan, R., Chen, H., Lee, D. H., Zheng, C., </a:t>
            </a:r>
            <a:r>
              <a:rPr lang="tr-TR" sz="1600" i="1" dirty="0"/>
              <a:t>Characteristics of hemicellulose, cellulose and lignin pyrolysis</a:t>
            </a:r>
            <a:r>
              <a:rPr lang="tr-TR" sz="1600" dirty="0"/>
              <a:t>, “Fuel”, 86(12-13)(2007):1781-1788​​.</a:t>
            </a:r>
            <a:endParaRPr lang="en-US" sz="1600" dirty="0"/>
          </a:p>
          <a:p>
            <a:r>
              <a:rPr lang="tr-TR" sz="1600" dirty="0"/>
              <a:t>Zhang, S., Chen, T., Xiong, Y., Dong, Q., </a:t>
            </a:r>
            <a:r>
              <a:rPr lang="tr-TR" sz="1600" i="1" dirty="0"/>
              <a:t>Effects of wet torrefaction on the physicochemical properties and pyrolysis product properties of rice husk</a:t>
            </a:r>
            <a:r>
              <a:rPr lang="tr-TR" sz="1600" dirty="0"/>
              <a:t>, “Energy Conversion and Management”, 141(2017):403-409​​.</a:t>
            </a:r>
            <a:endParaRPr lang="en-US" sz="1600" dirty="0"/>
          </a:p>
          <a:p>
            <a:r>
              <a:rPr lang="tr-TR" sz="1600" dirty="0"/>
              <a:t>Zhu, X., Yinan, L., Wang, X., </a:t>
            </a:r>
            <a:r>
              <a:rPr lang="tr-TR" sz="1600" i="1" dirty="0"/>
              <a:t>Machine Learning prediction of biochar yield and carbon contents in biochar based on biomass characteristics and pyrolysis conditions, </a:t>
            </a:r>
            <a:r>
              <a:rPr lang="tr-TR" sz="1600" dirty="0"/>
              <a:t>“Bioresource Technology”, 288(2019):121527</a:t>
            </a:r>
            <a:endParaRPr lang="en-US" sz="1600" dirty="0"/>
          </a:p>
          <a:p>
            <a:r>
              <a:rPr lang="tr-TR" sz="1600" dirty="0"/>
              <a:t>Zhu, Z., Toor, S. S., Rosendahl, L., Yu, D. H., Chen, G. Y</a:t>
            </a:r>
            <a:r>
              <a:rPr lang="tr-TR" sz="1600" i="1" dirty="0"/>
              <a:t>., Influence of alkali catalyst on product yield and properties via hydrothermal liquefaction of barley straw</a:t>
            </a:r>
            <a:r>
              <a:rPr lang="tr-TR" sz="1600" dirty="0"/>
              <a:t>, “Journal of Cleaner Production”, 80(2015):284-292​​.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0166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27524" y="463189"/>
            <a:ext cx="7920880" cy="49685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Vaktiniz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ve ilginiz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için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		teşekkürler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                    </a:t>
            </a:r>
            <a:r>
              <a:rPr lang="tr-TR" sz="72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…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0804" y="5431741"/>
            <a:ext cx="7467600" cy="122318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/>
              <a:buNone/>
            </a:pPr>
            <a:r>
              <a:rPr lang="tr-TR" dirty="0"/>
              <a:t>Orhun Uzdiyem</a:t>
            </a:r>
          </a:p>
          <a:p>
            <a:pPr algn="ctr">
              <a:buFont typeface="Wingdings"/>
              <a:buNone/>
            </a:pPr>
            <a:r>
              <a:rPr lang="tr-TR" dirty="0">
                <a:hlinkClick r:id="rId2"/>
              </a:rPr>
              <a:t>orhun.uzdiyem@gmail.com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454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1"/>
    </mc:Choice>
    <mc:Fallback xmlns="">
      <p:transition spd="slow" advTm="6721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7284</TotalTime>
  <Words>1629</Words>
  <Application>Microsoft Office PowerPoint</Application>
  <PresentationFormat>Widescreen</PresentationFormat>
  <Paragraphs>163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ElsevierGulliver</vt:lpstr>
      <vt:lpstr>Harrington</vt:lpstr>
      <vt:lpstr>Trebuchet MS</vt:lpstr>
      <vt:lpstr>Wingdings</vt:lpstr>
      <vt:lpstr>Wingdings 3</vt:lpstr>
      <vt:lpstr>Facet</vt:lpstr>
      <vt:lpstr>Visio</vt:lpstr>
      <vt:lpstr>Doktora Tezi Önerisi: Yavaş Piroliz ile Hidrokarbon Açısından Zengin Biyoyağ Eldesi ve Katma Değerli Ürüne Dönüşümünün Yapay Zeka Destekli Optimizasyonu</vt:lpstr>
      <vt:lpstr>İçerik</vt:lpstr>
      <vt:lpstr>TEZİN AMACI</vt:lpstr>
      <vt:lpstr>Biyoyağın Değerlendirilmesi</vt:lpstr>
      <vt:lpstr>Tezin Amacı</vt:lpstr>
      <vt:lpstr>Biyoyağ İçeriği Tahmini</vt:lpstr>
      <vt:lpstr>Biyoyağın Değerlendirilmesi</vt:lpstr>
      <vt:lpstr>Model Öngörülü Kontrol</vt:lpstr>
      <vt:lpstr>TEZİN ÖNEMİ  ve  ÖNCELİKLİ ALANLAR İLE İLİŞKİSİ</vt:lpstr>
      <vt:lpstr>ÖNCELİKLİ ALANLAR</vt:lpstr>
      <vt:lpstr>ÖNCELİKLİ ALANLAR</vt:lpstr>
      <vt:lpstr>TEZİN YENİLİKÇİLİK  ve TEKNOLOJİK DÜZEY DEĞERLENDİRİLMESİ </vt:lpstr>
      <vt:lpstr>YAPAY ZEKA KULLANIMI</vt:lpstr>
      <vt:lpstr>OPTİMİZASYON ve KONTROL</vt:lpstr>
      <vt:lpstr>ENDÜSTRİYEL UGULAMALARA ETKİ</vt:lpstr>
      <vt:lpstr>TEKNOLOJİK DÜZEY DEĞERLENDİRİLMESİ</vt:lpstr>
      <vt:lpstr>TEZİN METERYALİ ve YÖNTEMLERİ</vt:lpstr>
      <vt:lpstr>BİYOYAĞ İÇERİĞİ ÖNGÖRÜSÜ</vt:lpstr>
      <vt:lpstr>BİYOYAĞ İÇERİĞİ ÖNGÖRÜSÜ</vt:lpstr>
      <vt:lpstr>BİYOYAĞIN DEĞERLENDİRİLMESİ</vt:lpstr>
      <vt:lpstr>MODEL ÖNGÖRÜLÜ KONTROL</vt:lpstr>
      <vt:lpstr>ÇALIŞMA PLANI İŞ PAKETLERİ-ZAMAN ÇİZELGESİ</vt:lpstr>
      <vt:lpstr>ÇALIŞMA PLANI</vt:lpstr>
      <vt:lpstr>İŞ PAKETLERİ-ZAMAN ÇİZELGESİ</vt:lpstr>
      <vt:lpstr>KAYNAKLAR DİZİNİ</vt:lpstr>
      <vt:lpstr>KAYNAKLAR DİZİNİ</vt:lpstr>
      <vt:lpstr>KAYNAKLAR DİZİNİ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orhun uzdiyem</dc:creator>
  <cp:lastModifiedBy>orhun uzdiyem</cp:lastModifiedBy>
  <cp:revision>47</cp:revision>
  <dcterms:created xsi:type="dcterms:W3CDTF">2023-05-23T10:14:23Z</dcterms:created>
  <dcterms:modified xsi:type="dcterms:W3CDTF">2024-01-02T10:15:30Z</dcterms:modified>
</cp:coreProperties>
</file>