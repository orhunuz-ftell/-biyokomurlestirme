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av" ContentType="audio/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54"/>
  </p:notesMasterIdLst>
  <p:sldIdLst>
    <p:sldId id="256" r:id="rId2"/>
    <p:sldId id="280" r:id="rId3"/>
    <p:sldId id="295" r:id="rId4"/>
    <p:sldId id="297" r:id="rId5"/>
    <p:sldId id="305" r:id="rId6"/>
    <p:sldId id="309" r:id="rId7"/>
    <p:sldId id="310" r:id="rId8"/>
    <p:sldId id="311" r:id="rId9"/>
    <p:sldId id="312" r:id="rId10"/>
    <p:sldId id="313" r:id="rId11"/>
    <p:sldId id="314" r:id="rId12"/>
    <p:sldId id="315" r:id="rId13"/>
    <p:sldId id="316" r:id="rId14"/>
    <p:sldId id="317" r:id="rId15"/>
    <p:sldId id="318" r:id="rId16"/>
    <p:sldId id="349" r:id="rId17"/>
    <p:sldId id="319" r:id="rId18"/>
    <p:sldId id="325" r:id="rId19"/>
    <p:sldId id="351" r:id="rId20"/>
    <p:sldId id="320" r:id="rId21"/>
    <p:sldId id="352" r:id="rId22"/>
    <p:sldId id="350" r:id="rId23"/>
    <p:sldId id="321" r:id="rId24"/>
    <p:sldId id="322" r:id="rId25"/>
    <p:sldId id="323" r:id="rId26"/>
    <p:sldId id="324" r:id="rId27"/>
    <p:sldId id="326" r:id="rId28"/>
    <p:sldId id="327" r:id="rId29"/>
    <p:sldId id="328" r:id="rId30"/>
    <p:sldId id="329" r:id="rId31"/>
    <p:sldId id="330" r:id="rId32"/>
    <p:sldId id="331" r:id="rId33"/>
    <p:sldId id="332" r:id="rId34"/>
    <p:sldId id="333" r:id="rId35"/>
    <p:sldId id="334" r:id="rId36"/>
    <p:sldId id="335" r:id="rId37"/>
    <p:sldId id="336" r:id="rId38"/>
    <p:sldId id="337" r:id="rId39"/>
    <p:sldId id="338" r:id="rId40"/>
    <p:sldId id="339" r:id="rId41"/>
    <p:sldId id="340" r:id="rId42"/>
    <p:sldId id="341" r:id="rId43"/>
    <p:sldId id="342" r:id="rId44"/>
    <p:sldId id="343" r:id="rId45"/>
    <p:sldId id="344" r:id="rId46"/>
    <p:sldId id="345" r:id="rId47"/>
    <p:sldId id="346" r:id="rId48"/>
    <p:sldId id="347" r:id="rId49"/>
    <p:sldId id="353" r:id="rId50"/>
    <p:sldId id="354" r:id="rId51"/>
    <p:sldId id="355" r:id="rId52"/>
    <p:sldId id="293" r:id="rId5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orhun uzdiyem" initials="ou" lastIdx="1" clrIdx="0">
    <p:extLst>
      <p:ext uri="{19B8F6BF-5375-455C-9EA6-DF929625EA0E}">
        <p15:presenceInfo xmlns:p15="http://schemas.microsoft.com/office/powerpoint/2012/main" userId="7c704e6ad42cbf6c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3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75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commentAuthors" Target="commentAuthor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806725-A5C6-4D97-BAB5-97495DA97B1D}" type="datetimeFigureOut">
              <a:rPr lang="en-US" smtClean="0"/>
              <a:t>12/24/2024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15C1EF-337A-4A14-9C0C-535002ACE8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4987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287EC-2D8B-4839-853F-448EC8EF3B82}" type="datetimeFigureOut">
              <a:rPr lang="en-US" smtClean="0"/>
              <a:t>12/24/2024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D2CDD-3E38-45E1-AC54-DC8B9A3ACF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47628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287EC-2D8B-4839-853F-448EC8EF3B82}" type="datetimeFigureOut">
              <a:rPr lang="en-US" smtClean="0"/>
              <a:t>12/24/2024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D2CDD-3E38-45E1-AC54-DC8B9A3ACF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46290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287EC-2D8B-4839-853F-448EC8EF3B82}" type="datetimeFigureOut">
              <a:rPr lang="en-US" smtClean="0"/>
              <a:t>12/24/2024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D2CDD-3E38-45E1-AC54-DC8B9A3ACF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2663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287EC-2D8B-4839-853F-448EC8EF3B82}" type="datetimeFigureOut">
              <a:rPr lang="en-US" smtClean="0"/>
              <a:t>12/24/2024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D2CDD-3E38-45E1-AC54-DC8B9A3ACF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20301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287EC-2D8B-4839-853F-448EC8EF3B82}" type="datetimeFigureOut">
              <a:rPr lang="en-US" smtClean="0"/>
              <a:t>12/24/2024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D2CDD-3E38-45E1-AC54-DC8B9A3ACF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44988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287EC-2D8B-4839-853F-448EC8EF3B82}" type="datetimeFigureOut">
              <a:rPr lang="en-US" smtClean="0"/>
              <a:t>12/24/2024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D2CDD-3E38-45E1-AC54-DC8B9A3ACF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61539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287EC-2D8B-4839-853F-448EC8EF3B82}" type="datetimeFigureOut">
              <a:rPr lang="en-US" smtClean="0"/>
              <a:t>12/24/2024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D2CDD-3E38-45E1-AC54-DC8B9A3ACF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54538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287EC-2D8B-4839-853F-448EC8EF3B82}" type="datetimeFigureOut">
              <a:rPr lang="en-US" smtClean="0"/>
              <a:t>12/24/2024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D2CDD-3E38-45E1-AC54-DC8B9A3ACF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29386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287EC-2D8B-4839-853F-448EC8EF3B82}" type="datetimeFigureOut">
              <a:rPr lang="en-US" smtClean="0"/>
              <a:t>12/24/2024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D2CDD-3E38-45E1-AC54-DC8B9A3ACF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68547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287EC-2D8B-4839-853F-448EC8EF3B82}" type="datetimeFigureOut">
              <a:rPr lang="en-US" smtClean="0"/>
              <a:t>12/24/2024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D2CDD-3E38-45E1-AC54-DC8B9A3ACF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4009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287EC-2D8B-4839-853F-448EC8EF3B82}" type="datetimeFigureOut">
              <a:rPr lang="en-US" smtClean="0"/>
              <a:t>12/24/2024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D2CDD-3E38-45E1-AC54-DC8B9A3ACF4B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345101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287EC-2D8B-4839-853F-448EC8EF3B82}" type="datetimeFigureOut">
              <a:rPr lang="en-US" smtClean="0"/>
              <a:t>12/24/2024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D2CDD-3E38-45E1-AC54-DC8B9A3ACF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08759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287EC-2D8B-4839-853F-448EC8EF3B82}" type="datetimeFigureOut">
              <a:rPr lang="en-US" smtClean="0"/>
              <a:t>12/24/2024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D2CDD-3E38-45E1-AC54-DC8B9A3ACF4B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2940009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287EC-2D8B-4839-853F-448EC8EF3B82}" type="datetimeFigureOut">
              <a:rPr lang="en-US" smtClean="0"/>
              <a:t>12/24/2024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D2CDD-3E38-45E1-AC54-DC8B9A3ACF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298213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287EC-2D8B-4839-853F-448EC8EF3B82}" type="datetimeFigureOut">
              <a:rPr lang="en-US" smtClean="0"/>
              <a:t>12/24/2024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D2CDD-3E38-45E1-AC54-DC8B9A3ACF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85107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287EC-2D8B-4839-853F-448EC8EF3B82}" type="datetimeFigureOut">
              <a:rPr lang="en-US" smtClean="0"/>
              <a:t>12/24/2024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D2CDD-3E38-45E1-AC54-DC8B9A3ACF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17412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6287EC-2D8B-4839-853F-448EC8EF3B82}" type="datetimeFigureOut">
              <a:rPr lang="en-US" smtClean="0"/>
              <a:t>12/24/2024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51DD2CDD-3E38-45E1-AC54-DC8B9A3ACF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10832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hyperlink" Target="mailto:orhun.uzdiyem@gmail.com" TargetMode="External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7AFEF-9B2B-F339-7BA2-47BF50A9F5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80682" y="188259"/>
            <a:ext cx="9807388" cy="3306765"/>
          </a:xfrm>
        </p:spPr>
        <p:txBody>
          <a:bodyPr/>
          <a:lstStyle/>
          <a:p>
            <a:r>
              <a:rPr lang="tr-TR" sz="3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Biyokütleden Elde Edilen </a:t>
            </a:r>
            <a:r>
              <a:rPr lang="tr-TR" sz="36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Biyoyağ</a:t>
            </a:r>
            <a:r>
              <a:rPr lang="tr-TR" sz="3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Kompozisyonunun Makine Öğrenmesi ile </a:t>
            </a:r>
            <a:br>
              <a:rPr lang="tr-TR" sz="3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tr-TR" sz="3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	Tahmini ve Model Öngörülü Kontrol Tabanlı Süreç Optimizasyonu</a:t>
            </a:r>
            <a:br>
              <a:rPr lang="en-US" sz="3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US" sz="40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Tez </a:t>
            </a:r>
            <a:r>
              <a:rPr lang="en-US" sz="4000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İzleme</a:t>
            </a:r>
            <a:r>
              <a:rPr lang="en-US" sz="40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4000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Sunumu</a:t>
            </a:r>
            <a:r>
              <a:rPr lang="en-US" sz="40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- 2</a:t>
            </a:r>
            <a:endParaRPr lang="en-US" sz="8800" i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41569F-3488-D383-99CF-A515057064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376" y="4050833"/>
            <a:ext cx="8861627" cy="2305143"/>
          </a:xfrm>
        </p:spPr>
        <p:txBody>
          <a:bodyPr>
            <a:normAutofit lnSpcReduction="10000"/>
          </a:bodyPr>
          <a:lstStyle/>
          <a:p>
            <a:r>
              <a:rPr lang="en-US" dirty="0" err="1"/>
              <a:t>Hazırlayan</a:t>
            </a:r>
            <a:r>
              <a:rPr lang="en-US" dirty="0"/>
              <a:t>: Orhun Uzdiyem</a:t>
            </a:r>
          </a:p>
          <a:p>
            <a:r>
              <a:rPr lang="en-US" dirty="0" err="1"/>
              <a:t>Komite</a:t>
            </a:r>
            <a:r>
              <a:rPr lang="en-US" dirty="0"/>
              <a:t>: Prof. Dr. </a:t>
            </a:r>
            <a:r>
              <a:rPr lang="en-US" dirty="0" err="1"/>
              <a:t>Hayati</a:t>
            </a:r>
            <a:r>
              <a:rPr lang="en-US" dirty="0"/>
              <a:t> </a:t>
            </a:r>
            <a:r>
              <a:rPr lang="en-US" dirty="0" err="1"/>
              <a:t>Olgun</a:t>
            </a:r>
            <a:r>
              <a:rPr lang="en-US" dirty="0"/>
              <a:t>(Tez </a:t>
            </a:r>
            <a:r>
              <a:rPr lang="en-US" dirty="0" err="1"/>
              <a:t>danışmanı</a:t>
            </a:r>
            <a:r>
              <a:rPr lang="en-US" dirty="0"/>
              <a:t>),  </a:t>
            </a:r>
          </a:p>
          <a:p>
            <a:r>
              <a:rPr lang="en-US" dirty="0"/>
              <a:t>Prof. Dr. Harun Kemal </a:t>
            </a:r>
            <a:r>
              <a:rPr lang="en-US" dirty="0" err="1"/>
              <a:t>Öztürk</a:t>
            </a:r>
            <a:r>
              <a:rPr lang="en-US" dirty="0"/>
              <a:t>,  </a:t>
            </a:r>
          </a:p>
          <a:p>
            <a:r>
              <a:rPr lang="en-US" dirty="0"/>
              <a:t>Dr. </a:t>
            </a:r>
            <a:r>
              <a:rPr lang="en-US" dirty="0" err="1"/>
              <a:t>Öğretim</a:t>
            </a:r>
            <a:r>
              <a:rPr lang="en-US" dirty="0"/>
              <a:t> </a:t>
            </a:r>
            <a:r>
              <a:rPr lang="en-US" dirty="0" err="1"/>
              <a:t>Üyesi</a:t>
            </a:r>
            <a:r>
              <a:rPr lang="en-US" dirty="0"/>
              <a:t> </a:t>
            </a:r>
            <a:r>
              <a:rPr lang="en-US" dirty="0" err="1"/>
              <a:t>Özben</a:t>
            </a:r>
            <a:r>
              <a:rPr lang="en-US" dirty="0"/>
              <a:t> </a:t>
            </a:r>
            <a:r>
              <a:rPr lang="en-US" dirty="0" err="1"/>
              <a:t>Kutlu</a:t>
            </a:r>
            <a:endParaRPr lang="en-US" dirty="0"/>
          </a:p>
          <a:p>
            <a:r>
              <a:rPr lang="en-US" dirty="0" err="1"/>
              <a:t>Ege</a:t>
            </a:r>
            <a:r>
              <a:rPr lang="en-US" dirty="0"/>
              <a:t> </a:t>
            </a:r>
            <a:r>
              <a:rPr lang="en-US" dirty="0" err="1"/>
              <a:t>Üniversitesi</a:t>
            </a:r>
            <a:r>
              <a:rPr lang="en-US" dirty="0"/>
              <a:t> </a:t>
            </a:r>
            <a:r>
              <a:rPr lang="en-US" dirty="0" err="1"/>
              <a:t>Güneş</a:t>
            </a:r>
            <a:r>
              <a:rPr lang="en-US" dirty="0"/>
              <a:t> </a:t>
            </a:r>
            <a:r>
              <a:rPr lang="en-US" dirty="0" err="1"/>
              <a:t>Enerjisi</a:t>
            </a:r>
            <a:r>
              <a:rPr lang="en-US" dirty="0"/>
              <a:t> </a:t>
            </a:r>
            <a:r>
              <a:rPr lang="en-US" dirty="0" err="1"/>
              <a:t>Enstitüsü</a:t>
            </a:r>
            <a:r>
              <a:rPr lang="en-US" dirty="0"/>
              <a:t> – </a:t>
            </a:r>
            <a:r>
              <a:rPr lang="en-US" dirty="0" err="1"/>
              <a:t>Enerji</a:t>
            </a:r>
            <a:r>
              <a:rPr lang="en-US" dirty="0"/>
              <a:t> </a:t>
            </a:r>
            <a:r>
              <a:rPr lang="en-US" dirty="0" err="1"/>
              <a:t>Teknolojisi</a:t>
            </a:r>
            <a:r>
              <a:rPr lang="en-US" dirty="0"/>
              <a:t> </a:t>
            </a:r>
            <a:r>
              <a:rPr lang="en-US" dirty="0" err="1"/>
              <a:t>Anabilimdalı</a:t>
            </a:r>
            <a:endParaRPr lang="en-US" dirty="0"/>
          </a:p>
          <a:p>
            <a:r>
              <a:rPr lang="en-US" dirty="0" err="1"/>
              <a:t>Aralık</a:t>
            </a:r>
            <a:r>
              <a:rPr lang="en-US" dirty="0"/>
              <a:t> 24, 2024</a:t>
            </a:r>
          </a:p>
        </p:txBody>
      </p:sp>
    </p:spTree>
    <p:extLst>
      <p:ext uri="{BB962C8B-B14F-4D97-AF65-F5344CB8AC3E}">
        <p14:creationId xmlns:p14="http://schemas.microsoft.com/office/powerpoint/2010/main" val="41011003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66FED5-0A15-7AD8-0B8B-344CB0D231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350293"/>
            <a:ext cx="8596668" cy="1320800"/>
          </a:xfrm>
        </p:spPr>
        <p:txBody>
          <a:bodyPr/>
          <a:lstStyle/>
          <a:p>
            <a:r>
              <a:rPr lang="en-US" dirty="0" err="1"/>
              <a:t>İçerik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F63F3E-6CAE-FB07-4F6B-95D72BE083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241947"/>
            <a:ext cx="8596668" cy="5431808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en-US" dirty="0" err="1"/>
              <a:t>Tezin</a:t>
            </a:r>
            <a:r>
              <a:rPr lang="en-US" dirty="0"/>
              <a:t> </a:t>
            </a:r>
            <a:r>
              <a:rPr lang="en-US" dirty="0" err="1"/>
              <a:t>Amacı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Bir </a:t>
            </a:r>
            <a:r>
              <a:rPr lang="en-US" dirty="0" err="1"/>
              <a:t>Önceki</a:t>
            </a:r>
            <a:r>
              <a:rPr lang="en-US" dirty="0"/>
              <a:t> </a:t>
            </a:r>
            <a:r>
              <a:rPr lang="en-US" dirty="0" err="1"/>
              <a:t>Dönemde</a:t>
            </a:r>
            <a:r>
              <a:rPr lang="en-US" dirty="0"/>
              <a:t> </a:t>
            </a:r>
            <a:r>
              <a:rPr lang="en-US" dirty="0" err="1"/>
              <a:t>Yapılan</a:t>
            </a:r>
            <a:r>
              <a:rPr lang="en-US" dirty="0"/>
              <a:t> </a:t>
            </a:r>
            <a:r>
              <a:rPr lang="en-US" dirty="0" err="1"/>
              <a:t>Çalışmalar</a:t>
            </a:r>
            <a:endParaRPr lang="en-US" dirty="0"/>
          </a:p>
          <a:p>
            <a:pPr>
              <a:lnSpc>
                <a:spcPct val="200000"/>
              </a:lnSpc>
            </a:pPr>
            <a:r>
              <a:rPr lang="en-US" dirty="0" err="1"/>
              <a:t>Dönem</a:t>
            </a:r>
            <a:r>
              <a:rPr lang="en-US" dirty="0"/>
              <a:t> </a:t>
            </a:r>
            <a:r>
              <a:rPr lang="en-US" dirty="0" err="1"/>
              <a:t>İçinde</a:t>
            </a:r>
            <a:r>
              <a:rPr lang="en-US" dirty="0"/>
              <a:t> </a:t>
            </a:r>
            <a:r>
              <a:rPr lang="en-US" dirty="0" err="1"/>
              <a:t>Yapılan</a:t>
            </a:r>
            <a:r>
              <a:rPr lang="en-US" dirty="0"/>
              <a:t> </a:t>
            </a:r>
            <a:r>
              <a:rPr lang="en-US" dirty="0" err="1"/>
              <a:t>Çalışmalar</a:t>
            </a:r>
            <a:endParaRPr lang="en-US" dirty="0"/>
          </a:p>
          <a:p>
            <a:pPr lvl="1">
              <a:lnSpc>
                <a:spcPct val="200000"/>
              </a:lnSpc>
            </a:pPr>
            <a:r>
              <a:rPr lang="en-US" dirty="0"/>
              <a:t>Python </a:t>
            </a:r>
            <a:r>
              <a:rPr lang="en-US" dirty="0" err="1"/>
              <a:t>kodlarının</a:t>
            </a:r>
            <a:r>
              <a:rPr lang="en-US" dirty="0"/>
              <a:t> </a:t>
            </a:r>
            <a:r>
              <a:rPr lang="en-US" dirty="0" err="1"/>
              <a:t>yazılması</a:t>
            </a:r>
            <a:endParaRPr lang="en-US" dirty="0"/>
          </a:p>
          <a:p>
            <a:pPr lvl="1">
              <a:lnSpc>
                <a:spcPct val="200000"/>
              </a:lnSpc>
            </a:pPr>
            <a:r>
              <a:rPr lang="en-US" dirty="0"/>
              <a:t>İlk </a:t>
            </a:r>
            <a:r>
              <a:rPr lang="en-US" dirty="0" err="1"/>
              <a:t>sonuçların</a:t>
            </a:r>
            <a:r>
              <a:rPr lang="en-US" dirty="0"/>
              <a:t> </a:t>
            </a:r>
            <a:r>
              <a:rPr lang="en-US" dirty="0" err="1"/>
              <a:t>değerlendirilmesi</a:t>
            </a:r>
            <a:endParaRPr lang="en-US" dirty="0"/>
          </a:p>
          <a:p>
            <a:pPr>
              <a:lnSpc>
                <a:spcPct val="200000"/>
              </a:lnSpc>
            </a:pPr>
            <a:r>
              <a:rPr lang="en-US" dirty="0"/>
              <a:t>Bir </a:t>
            </a:r>
            <a:r>
              <a:rPr lang="en-US" dirty="0" err="1"/>
              <a:t>Sonraki</a:t>
            </a:r>
            <a:r>
              <a:rPr lang="en-US" dirty="0"/>
              <a:t> </a:t>
            </a:r>
            <a:r>
              <a:rPr lang="en-US" dirty="0" err="1"/>
              <a:t>Dönem</a:t>
            </a:r>
            <a:r>
              <a:rPr lang="en-US" dirty="0"/>
              <a:t> </a:t>
            </a:r>
            <a:r>
              <a:rPr lang="en-US" dirty="0" err="1"/>
              <a:t>İçerisinde</a:t>
            </a:r>
            <a:r>
              <a:rPr lang="en-US" dirty="0"/>
              <a:t> </a:t>
            </a:r>
            <a:r>
              <a:rPr lang="en-US" dirty="0" err="1"/>
              <a:t>Yapılacak</a:t>
            </a:r>
            <a:r>
              <a:rPr lang="en-US" dirty="0"/>
              <a:t> </a:t>
            </a:r>
            <a:r>
              <a:rPr lang="en-US" dirty="0" err="1"/>
              <a:t>Çalışmalar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66057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Tezin </a:t>
            </a:r>
            <a:r>
              <a:rPr lang="en-US" dirty="0"/>
              <a:t>a</a:t>
            </a:r>
            <a:r>
              <a:rPr lang="tr-TR" dirty="0" err="1"/>
              <a:t>macı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2160589"/>
            <a:ext cx="8596668" cy="3880773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tr-TR" dirty="0"/>
              <a:t>Çalışmanın temel amacı:</a:t>
            </a:r>
          </a:p>
          <a:p>
            <a:pPr lvl="1">
              <a:lnSpc>
                <a:spcPct val="150000"/>
              </a:lnSpc>
            </a:pPr>
            <a:r>
              <a:rPr lang="tr-TR" dirty="0"/>
              <a:t>Biyokütlenin özelliklerine göre biyoyağ içeriğini tahmin edebilen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makine</a:t>
            </a:r>
            <a:r>
              <a:rPr lang="en-US" dirty="0"/>
              <a:t> </a:t>
            </a:r>
            <a:r>
              <a:rPr lang="en-US" dirty="0" err="1"/>
              <a:t>öğrenmesi</a:t>
            </a:r>
            <a:r>
              <a:rPr lang="en-US" dirty="0"/>
              <a:t> </a:t>
            </a:r>
            <a:r>
              <a:rPr lang="tr-TR" dirty="0"/>
              <a:t>modeli </a:t>
            </a:r>
          </a:p>
          <a:p>
            <a:pPr lvl="1">
              <a:lnSpc>
                <a:spcPct val="150000"/>
              </a:lnSpc>
            </a:pPr>
            <a:r>
              <a:rPr lang="tr-TR" dirty="0"/>
              <a:t>Yapılan tahminler doğrultusunda </a:t>
            </a:r>
            <a:r>
              <a:rPr lang="tr-TR" dirty="0" err="1"/>
              <a:t>biyoyağdan</a:t>
            </a:r>
            <a:r>
              <a:rPr lang="tr-TR" dirty="0"/>
              <a:t> üretilebilecek ürünlerin belirlenmesi </a:t>
            </a:r>
          </a:p>
          <a:p>
            <a:pPr lvl="1">
              <a:lnSpc>
                <a:spcPct val="150000"/>
              </a:lnSpc>
            </a:pPr>
            <a:r>
              <a:rPr lang="tr-TR" dirty="0"/>
              <a:t>Karar verilen ürünlerin üretiminde Model Öngörülü Kontrol (MÖK) senaryosu</a:t>
            </a:r>
          </a:p>
        </p:txBody>
      </p:sp>
    </p:spTree>
    <p:extLst>
      <p:ext uri="{BB962C8B-B14F-4D97-AF65-F5344CB8AC3E}">
        <p14:creationId xmlns:p14="http://schemas.microsoft.com/office/powerpoint/2010/main" val="28066201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Biyoyağ</a:t>
            </a:r>
            <a:r>
              <a:rPr lang="tr-TR" dirty="0"/>
              <a:t> </a:t>
            </a:r>
            <a:r>
              <a:rPr lang="en-US" dirty="0" err="1"/>
              <a:t>i</a:t>
            </a:r>
            <a:r>
              <a:rPr lang="tr-TR" dirty="0" err="1"/>
              <a:t>çeriği</a:t>
            </a:r>
            <a:r>
              <a:rPr lang="tr-TR" dirty="0"/>
              <a:t> </a:t>
            </a:r>
            <a:r>
              <a:rPr lang="en-US" dirty="0"/>
              <a:t>t</a:t>
            </a:r>
            <a:r>
              <a:rPr lang="tr-TR" dirty="0" err="1"/>
              <a:t>ahmini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480009"/>
            <a:ext cx="8596668" cy="4561354"/>
          </a:xfrm>
        </p:spPr>
        <p:txBody>
          <a:bodyPr>
            <a:normAutofit/>
          </a:bodyPr>
          <a:lstStyle/>
          <a:p>
            <a:r>
              <a:rPr lang="tr-TR" sz="2400" dirty="0" err="1"/>
              <a:t>Veritabanı</a:t>
            </a:r>
            <a:r>
              <a:rPr lang="tr-TR" sz="2400" dirty="0"/>
              <a:t> hazırlanması</a:t>
            </a:r>
            <a:endParaRPr lang="en-US" sz="2400" dirty="0"/>
          </a:p>
          <a:p>
            <a:pPr lvl="1"/>
            <a:r>
              <a:rPr lang="en-US" sz="2000" dirty="0" err="1"/>
              <a:t>Bağımsız</a:t>
            </a:r>
            <a:r>
              <a:rPr lang="en-US" sz="2000" dirty="0"/>
              <a:t> </a:t>
            </a:r>
            <a:r>
              <a:rPr lang="en-US" sz="2000" dirty="0" err="1"/>
              <a:t>değişkenler</a:t>
            </a:r>
            <a:endParaRPr lang="tr-TR" sz="2000" dirty="0"/>
          </a:p>
          <a:p>
            <a:pPr lvl="2"/>
            <a:r>
              <a:rPr lang="tr-TR" sz="1800" dirty="0"/>
              <a:t>Biyokütle özellikleri</a:t>
            </a:r>
          </a:p>
          <a:p>
            <a:pPr lvl="3"/>
            <a:r>
              <a:rPr lang="tr-TR" sz="1600" dirty="0"/>
              <a:t>Kısa analiz sonuçları</a:t>
            </a:r>
          </a:p>
          <a:p>
            <a:pPr lvl="3"/>
            <a:r>
              <a:rPr lang="tr-TR" sz="1600" dirty="0"/>
              <a:t>Elementel analiz sonuçları</a:t>
            </a:r>
          </a:p>
          <a:p>
            <a:pPr lvl="3"/>
            <a:r>
              <a:rPr lang="tr-TR" sz="1600" dirty="0"/>
              <a:t>Isıl analiz sonuçları</a:t>
            </a:r>
          </a:p>
          <a:p>
            <a:pPr lvl="2"/>
            <a:r>
              <a:rPr lang="tr-TR" sz="1800" dirty="0"/>
              <a:t>Proses koşulları</a:t>
            </a:r>
            <a:endParaRPr lang="en-US" sz="1800" dirty="0"/>
          </a:p>
          <a:p>
            <a:pPr lvl="1"/>
            <a:r>
              <a:rPr lang="en-US" sz="2000" dirty="0" err="1"/>
              <a:t>Sonuç</a:t>
            </a:r>
            <a:r>
              <a:rPr lang="en-US" sz="2000" dirty="0"/>
              <a:t> </a:t>
            </a:r>
            <a:r>
              <a:rPr lang="en-US" sz="2000" dirty="0" err="1"/>
              <a:t>değişkeni</a:t>
            </a:r>
            <a:endParaRPr lang="tr-TR" sz="2000" dirty="0"/>
          </a:p>
          <a:p>
            <a:pPr lvl="2"/>
            <a:r>
              <a:rPr lang="tr-TR" sz="1800" dirty="0" err="1"/>
              <a:t>Biyoyağ</a:t>
            </a:r>
            <a:r>
              <a:rPr lang="tr-TR" sz="1800" dirty="0"/>
              <a:t> kompozisyonu</a:t>
            </a:r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/>
        </p:nvGraphicFramePr>
        <p:xfrm>
          <a:off x="5595123" y="2745626"/>
          <a:ext cx="4191000" cy="2333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4193053" imgH="2337860" progId="Visio.Drawing.11">
                  <p:embed/>
                </p:oleObj>
              </mc:Choice>
              <mc:Fallback>
                <p:oleObj name="Visio" r:id="rId2" imgW="4193053" imgH="2337860" progId="Visio.Drawing.11">
                  <p:embed/>
                  <p:pic>
                    <p:nvPicPr>
                      <p:cNvPr id="4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95123" y="2745626"/>
                        <a:ext cx="4191000" cy="23336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670086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3" y="609600"/>
            <a:ext cx="9694832" cy="1320800"/>
          </a:xfrm>
        </p:spPr>
        <p:txBody>
          <a:bodyPr/>
          <a:lstStyle/>
          <a:p>
            <a:r>
              <a:rPr lang="en-US" dirty="0" err="1"/>
              <a:t>Literatür</a:t>
            </a:r>
            <a:r>
              <a:rPr lang="en-US" dirty="0"/>
              <a:t> </a:t>
            </a:r>
            <a:r>
              <a:rPr lang="en-US" dirty="0" err="1"/>
              <a:t>taraması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veritabanı</a:t>
            </a:r>
            <a:r>
              <a:rPr lang="en-US" dirty="0"/>
              <a:t> </a:t>
            </a:r>
            <a:r>
              <a:rPr lang="en-US" dirty="0" err="1"/>
              <a:t>hazırlanması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676399"/>
            <a:ext cx="8596668" cy="5072131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 err="1"/>
              <a:t>Toplam</a:t>
            </a:r>
            <a:r>
              <a:rPr lang="en-US" dirty="0"/>
              <a:t> 48 set </a:t>
            </a:r>
            <a:r>
              <a:rPr lang="en-US" dirty="0" err="1"/>
              <a:t>deney</a:t>
            </a:r>
            <a:r>
              <a:rPr lang="en-US" dirty="0"/>
              <a:t> </a:t>
            </a:r>
            <a:r>
              <a:rPr lang="en-US" dirty="0" err="1"/>
              <a:t>verisi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dirty="0" err="1"/>
              <a:t>Veritabanı</a:t>
            </a:r>
            <a:r>
              <a:rPr lang="en-US" dirty="0"/>
              <a:t>: SQL Server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Kaynak – 11 </a:t>
            </a:r>
            <a:r>
              <a:rPr lang="en-US" dirty="0" err="1"/>
              <a:t>adet</a:t>
            </a:r>
            <a:r>
              <a:rPr lang="en-US" dirty="0"/>
              <a:t> </a:t>
            </a:r>
            <a:r>
              <a:rPr lang="en-US" dirty="0" err="1"/>
              <a:t>kayıt</a:t>
            </a:r>
            <a:endParaRPr lang="en-US" dirty="0"/>
          </a:p>
          <a:p>
            <a:pPr lvl="1">
              <a:lnSpc>
                <a:spcPct val="150000"/>
              </a:lnSpc>
            </a:pPr>
            <a:r>
              <a:rPr lang="en-US" dirty="0" err="1"/>
              <a:t>Katalizör</a:t>
            </a:r>
            <a:r>
              <a:rPr lang="en-US" dirty="0"/>
              <a:t> – 13 </a:t>
            </a:r>
            <a:r>
              <a:rPr lang="en-US" dirty="0" err="1"/>
              <a:t>adet</a:t>
            </a:r>
            <a:r>
              <a:rPr lang="en-US" dirty="0"/>
              <a:t> </a:t>
            </a:r>
            <a:r>
              <a:rPr lang="en-US" dirty="0" err="1"/>
              <a:t>kayıt</a:t>
            </a:r>
            <a:endParaRPr lang="en-US" dirty="0"/>
          </a:p>
          <a:p>
            <a:pPr lvl="1">
              <a:lnSpc>
                <a:spcPct val="150000"/>
              </a:lnSpc>
            </a:pPr>
            <a:r>
              <a:rPr lang="en-US" dirty="0" err="1"/>
              <a:t>Biyokütle</a:t>
            </a:r>
            <a:r>
              <a:rPr lang="en-US" dirty="0"/>
              <a:t> – 37 </a:t>
            </a:r>
            <a:r>
              <a:rPr lang="en-US" dirty="0" err="1"/>
              <a:t>adet</a:t>
            </a:r>
            <a:r>
              <a:rPr lang="en-US" dirty="0"/>
              <a:t> </a:t>
            </a:r>
            <a:r>
              <a:rPr lang="en-US" dirty="0" err="1"/>
              <a:t>kayıt</a:t>
            </a:r>
            <a:endParaRPr lang="en-US" dirty="0"/>
          </a:p>
          <a:p>
            <a:pPr lvl="1">
              <a:lnSpc>
                <a:spcPct val="150000"/>
              </a:lnSpc>
            </a:pPr>
            <a:r>
              <a:rPr lang="en-US" dirty="0" err="1"/>
              <a:t>Piroliz</a:t>
            </a:r>
            <a:r>
              <a:rPr lang="en-US" dirty="0"/>
              <a:t> </a:t>
            </a:r>
            <a:r>
              <a:rPr lang="en-US" dirty="0" err="1"/>
              <a:t>denemesi</a:t>
            </a:r>
            <a:r>
              <a:rPr lang="en-US" dirty="0"/>
              <a:t> – 88 </a:t>
            </a:r>
            <a:r>
              <a:rPr lang="en-US" dirty="0" err="1"/>
              <a:t>adet</a:t>
            </a:r>
            <a:r>
              <a:rPr lang="en-US" dirty="0"/>
              <a:t> </a:t>
            </a:r>
            <a:r>
              <a:rPr lang="en-US" dirty="0" err="1"/>
              <a:t>kayıt</a:t>
            </a:r>
            <a:endParaRPr lang="en-US" dirty="0"/>
          </a:p>
          <a:p>
            <a:pPr lvl="1">
              <a:lnSpc>
                <a:spcPct val="150000"/>
              </a:lnSpc>
            </a:pPr>
            <a:r>
              <a:rPr lang="en-US" dirty="0" err="1"/>
              <a:t>Biyoyağ</a:t>
            </a:r>
            <a:r>
              <a:rPr lang="en-US" dirty="0"/>
              <a:t> – 48 </a:t>
            </a:r>
            <a:r>
              <a:rPr lang="en-US" dirty="0" err="1"/>
              <a:t>adet</a:t>
            </a:r>
            <a:r>
              <a:rPr lang="en-US" dirty="0"/>
              <a:t> </a:t>
            </a:r>
            <a:r>
              <a:rPr lang="en-US" dirty="0" err="1"/>
              <a:t>kayıt</a:t>
            </a:r>
            <a:endParaRPr lang="en-US" dirty="0"/>
          </a:p>
          <a:p>
            <a:pPr lvl="1">
              <a:lnSpc>
                <a:spcPct val="150000"/>
              </a:lnSpc>
            </a:pPr>
            <a:r>
              <a:rPr lang="en-US" dirty="0" err="1"/>
              <a:t>Biyokömür</a:t>
            </a:r>
            <a:r>
              <a:rPr lang="en-US" dirty="0"/>
              <a:t> – 33 </a:t>
            </a:r>
            <a:r>
              <a:rPr lang="en-US" dirty="0" err="1"/>
              <a:t>adet</a:t>
            </a:r>
            <a:r>
              <a:rPr lang="en-US" dirty="0"/>
              <a:t> </a:t>
            </a:r>
            <a:r>
              <a:rPr lang="en-US" dirty="0" err="1"/>
              <a:t>kayıt</a:t>
            </a:r>
            <a:endParaRPr lang="en-US" dirty="0"/>
          </a:p>
          <a:p>
            <a:pPr lvl="1">
              <a:lnSpc>
                <a:spcPct val="150000"/>
              </a:lnSpc>
            </a:pPr>
            <a:endParaRPr lang="en-US" dirty="0"/>
          </a:p>
          <a:p>
            <a:pPr lvl="1">
              <a:lnSpc>
                <a:spcPct val="150000"/>
              </a:lnSpc>
            </a:pP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4784473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53E03A-0C6F-1770-1FDB-EF2712A42D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DCA809-6406-46C2-B92A-68ED3F2F31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599"/>
            <a:ext cx="4333937" cy="4410635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4000" dirty="0" err="1"/>
              <a:t>Dönem</a:t>
            </a:r>
            <a:r>
              <a:rPr lang="en-US" sz="4000" dirty="0"/>
              <a:t> </a:t>
            </a:r>
            <a:r>
              <a:rPr lang="en-US" sz="4000" dirty="0" err="1"/>
              <a:t>İçinde</a:t>
            </a:r>
            <a:r>
              <a:rPr lang="en-US" sz="4000" dirty="0"/>
              <a:t> </a:t>
            </a:r>
            <a:r>
              <a:rPr lang="en-US" sz="4000" dirty="0" err="1"/>
              <a:t>Yapılan</a:t>
            </a:r>
            <a:r>
              <a:rPr lang="en-US" sz="4000" dirty="0"/>
              <a:t> </a:t>
            </a:r>
            <a:r>
              <a:rPr lang="en-US" sz="4000" dirty="0" err="1"/>
              <a:t>Çalışmalar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6914818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C0114C-EB7F-DA0D-55D3-095E2AE9F6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0217FD-8882-81A5-D9E4-A848B69991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609600"/>
            <a:ext cx="9694832" cy="1320800"/>
          </a:xfrm>
        </p:spPr>
        <p:txBody>
          <a:bodyPr/>
          <a:lstStyle/>
          <a:p>
            <a:r>
              <a:rPr lang="en-US" dirty="0"/>
              <a:t>Python </a:t>
            </a:r>
            <a:r>
              <a:rPr lang="en-US" dirty="0" err="1"/>
              <a:t>kodlarının</a:t>
            </a:r>
            <a:r>
              <a:rPr lang="en-US" dirty="0"/>
              <a:t> </a:t>
            </a:r>
            <a:r>
              <a:rPr lang="en-US" dirty="0" err="1"/>
              <a:t>yazılması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8B09FA-908A-318A-F77B-3B19ED3559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76399"/>
            <a:ext cx="8596668" cy="5072131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s-ES" sz="2200" dirty="0"/>
              <a:t>Veri Çekme ve Ön İşleme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SQL </a:t>
            </a:r>
            <a:r>
              <a:rPr lang="en-US" sz="1800" dirty="0" err="1"/>
              <a:t>Server'dan</a:t>
            </a:r>
            <a:r>
              <a:rPr lang="en-US" sz="1800" dirty="0"/>
              <a:t> </a:t>
            </a:r>
            <a:r>
              <a:rPr lang="en-US" sz="1800" dirty="0" err="1"/>
              <a:t>veri</a:t>
            </a:r>
            <a:r>
              <a:rPr lang="en-US" sz="1800" dirty="0"/>
              <a:t> </a:t>
            </a:r>
            <a:r>
              <a:rPr lang="en-US" sz="1800" dirty="0" err="1"/>
              <a:t>çekme</a:t>
            </a:r>
            <a:r>
              <a:rPr lang="en-US" sz="1800" dirty="0"/>
              <a:t> </a:t>
            </a:r>
            <a:r>
              <a:rPr lang="en-US" sz="1800" dirty="0" err="1"/>
              <a:t>ve</a:t>
            </a:r>
            <a:r>
              <a:rPr lang="en-US" sz="1800" dirty="0"/>
              <a:t> </a:t>
            </a:r>
            <a:r>
              <a:rPr lang="en-US" sz="1800" dirty="0" err="1"/>
              <a:t>birleştirme</a:t>
            </a:r>
            <a:r>
              <a:rPr lang="en-US" sz="1800" dirty="0"/>
              <a:t> </a:t>
            </a:r>
            <a:r>
              <a:rPr lang="en-US" sz="1800" dirty="0" err="1"/>
              <a:t>işlemleri</a:t>
            </a:r>
            <a:r>
              <a:rPr lang="en-US" sz="1800" dirty="0"/>
              <a:t> Biomass, Experiment </a:t>
            </a:r>
            <a:r>
              <a:rPr lang="en-US" sz="1800" dirty="0" err="1"/>
              <a:t>ve</a:t>
            </a:r>
            <a:r>
              <a:rPr lang="en-US" sz="1800" dirty="0"/>
              <a:t> Biooil </a:t>
            </a:r>
            <a:r>
              <a:rPr lang="en-US" sz="1800" dirty="0" err="1"/>
              <a:t>tablolarına</a:t>
            </a:r>
            <a:r>
              <a:rPr lang="en-US" sz="1800" dirty="0"/>
              <a:t> </a:t>
            </a:r>
            <a:r>
              <a:rPr lang="en-US" sz="1800" dirty="0" err="1"/>
              <a:t>bağlanma</a:t>
            </a:r>
            <a:endParaRPr lang="en-US" sz="1800" dirty="0"/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 err="1"/>
              <a:t>Tablolardaki</a:t>
            </a:r>
            <a:r>
              <a:rPr lang="en-US" sz="1800" dirty="0"/>
              <a:t> </a:t>
            </a:r>
            <a:r>
              <a:rPr lang="en-US" sz="1800" dirty="0" err="1"/>
              <a:t>verileri</a:t>
            </a:r>
            <a:r>
              <a:rPr lang="en-US" sz="1800" dirty="0"/>
              <a:t> </a:t>
            </a:r>
            <a:r>
              <a:rPr lang="en-US" sz="1800" dirty="0" err="1"/>
              <a:t>Biomass_Id</a:t>
            </a:r>
            <a:r>
              <a:rPr lang="en-US" sz="1800" dirty="0"/>
              <a:t> </a:t>
            </a:r>
            <a:r>
              <a:rPr lang="en-US" sz="1800" dirty="0" err="1"/>
              <a:t>ve</a:t>
            </a:r>
            <a:r>
              <a:rPr lang="en-US" sz="1800" dirty="0"/>
              <a:t> </a:t>
            </a:r>
            <a:r>
              <a:rPr lang="en-US" sz="1800" dirty="0" err="1"/>
              <a:t>Experiment_Id</a:t>
            </a:r>
            <a:r>
              <a:rPr lang="en-US" sz="1800" dirty="0"/>
              <a:t> </a:t>
            </a:r>
            <a:r>
              <a:rPr lang="en-US" sz="1800" dirty="0" err="1"/>
              <a:t>kullanarak</a:t>
            </a:r>
            <a:r>
              <a:rPr lang="en-US" sz="1800" dirty="0"/>
              <a:t> </a:t>
            </a:r>
            <a:r>
              <a:rPr lang="en-US" sz="1800" dirty="0" err="1"/>
              <a:t>birleştirme</a:t>
            </a:r>
            <a:endParaRPr lang="en-US" sz="1800" dirty="0"/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 err="1"/>
              <a:t>Eksik</a:t>
            </a:r>
            <a:r>
              <a:rPr lang="en-US" sz="1800" dirty="0"/>
              <a:t> </a:t>
            </a:r>
            <a:r>
              <a:rPr lang="en-US" sz="1800" dirty="0" err="1"/>
              <a:t>verileri</a:t>
            </a:r>
            <a:r>
              <a:rPr lang="en-US" sz="1800" dirty="0"/>
              <a:t> </a:t>
            </a:r>
            <a:r>
              <a:rPr lang="en-US" sz="1800" dirty="0" err="1"/>
              <a:t>tespit</a:t>
            </a:r>
            <a:r>
              <a:rPr lang="en-US" sz="1800" dirty="0"/>
              <a:t> </a:t>
            </a:r>
            <a:r>
              <a:rPr lang="en-US" sz="1800" dirty="0" err="1"/>
              <a:t>etme</a:t>
            </a:r>
            <a:r>
              <a:rPr lang="en-US" sz="1800" dirty="0"/>
              <a:t> </a:t>
            </a:r>
            <a:r>
              <a:rPr lang="en-US" sz="1800" dirty="0" err="1"/>
              <a:t>ve</a:t>
            </a:r>
            <a:r>
              <a:rPr lang="en-US" sz="1800" dirty="0"/>
              <a:t> </a:t>
            </a:r>
            <a:r>
              <a:rPr lang="en-US" sz="1800" dirty="0" err="1"/>
              <a:t>uygun</a:t>
            </a:r>
            <a:r>
              <a:rPr lang="en-US" sz="1800" dirty="0"/>
              <a:t> </a:t>
            </a:r>
            <a:r>
              <a:rPr lang="en-US" sz="1800" dirty="0" err="1"/>
              <a:t>yöntemle</a:t>
            </a:r>
            <a:r>
              <a:rPr lang="en-US" sz="1800" dirty="0"/>
              <a:t> </a:t>
            </a:r>
            <a:r>
              <a:rPr lang="en-US" sz="1800" dirty="0" err="1"/>
              <a:t>doldurma</a:t>
            </a:r>
            <a:endParaRPr lang="en-US" sz="1800" dirty="0"/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 err="1"/>
              <a:t>Sayısal</a:t>
            </a:r>
            <a:r>
              <a:rPr lang="en-US" sz="1800" dirty="0"/>
              <a:t> </a:t>
            </a:r>
            <a:r>
              <a:rPr lang="en-US" sz="1800" dirty="0" err="1"/>
              <a:t>değişkenleri</a:t>
            </a:r>
            <a:r>
              <a:rPr lang="en-US" sz="1800" dirty="0"/>
              <a:t> normalize </a:t>
            </a:r>
            <a:r>
              <a:rPr lang="en-US" sz="1800" dirty="0" err="1"/>
              <a:t>etme</a:t>
            </a:r>
            <a:r>
              <a:rPr lang="en-US" sz="1800" dirty="0"/>
              <a:t>/</a:t>
            </a:r>
            <a:r>
              <a:rPr lang="en-US" sz="1800" dirty="0" err="1"/>
              <a:t>standartlaştırma</a:t>
            </a:r>
            <a:endParaRPr lang="en-US" sz="1800" dirty="0"/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 err="1"/>
              <a:t>Veriyi</a:t>
            </a:r>
            <a:r>
              <a:rPr lang="en-US" sz="1800" dirty="0"/>
              <a:t> </a:t>
            </a:r>
            <a:r>
              <a:rPr lang="en-US" sz="1800" dirty="0" err="1"/>
              <a:t>eğitim</a:t>
            </a:r>
            <a:r>
              <a:rPr lang="en-US" sz="1800" dirty="0"/>
              <a:t> </a:t>
            </a:r>
            <a:r>
              <a:rPr lang="en-US" sz="1800" dirty="0" err="1"/>
              <a:t>ve</a:t>
            </a:r>
            <a:r>
              <a:rPr lang="en-US" sz="1800" dirty="0"/>
              <a:t> </a:t>
            </a:r>
            <a:r>
              <a:rPr lang="en-US" sz="1800" dirty="0" err="1"/>
              <a:t>doğrulama</a:t>
            </a:r>
            <a:r>
              <a:rPr lang="en-US" sz="1800" dirty="0"/>
              <a:t> </a:t>
            </a:r>
            <a:r>
              <a:rPr lang="en-US" sz="1800" dirty="0" err="1"/>
              <a:t>setlerine</a:t>
            </a:r>
            <a:r>
              <a:rPr lang="en-US" sz="1800" dirty="0"/>
              <a:t> </a:t>
            </a:r>
            <a:r>
              <a:rPr lang="en-US" sz="1800" dirty="0" err="1"/>
              <a:t>ayırma</a:t>
            </a:r>
            <a:endParaRPr lang="en-US" sz="1800" dirty="0"/>
          </a:p>
          <a:p>
            <a:pPr lvl="1">
              <a:lnSpc>
                <a:spcPct val="150000"/>
              </a:lnSpc>
            </a:pPr>
            <a:endParaRPr lang="en-US" dirty="0"/>
          </a:p>
          <a:p>
            <a:pPr>
              <a:lnSpc>
                <a:spcPct val="150000"/>
              </a:lnSpc>
            </a:pPr>
            <a:endParaRPr lang="en-US" dirty="0"/>
          </a:p>
          <a:p>
            <a:pPr lvl="1">
              <a:lnSpc>
                <a:spcPct val="150000"/>
              </a:lnSpc>
            </a:pPr>
            <a:endParaRPr lang="en-US" dirty="0"/>
          </a:p>
          <a:p>
            <a:pPr lvl="2">
              <a:lnSpc>
                <a:spcPct val="150000"/>
              </a:lnSpc>
            </a:pPr>
            <a:endParaRPr lang="en-US" dirty="0"/>
          </a:p>
          <a:p>
            <a:pPr lvl="1">
              <a:lnSpc>
                <a:spcPct val="150000"/>
              </a:lnSpc>
            </a:pPr>
            <a:endParaRPr lang="en-US" dirty="0"/>
          </a:p>
          <a:p>
            <a:pPr lvl="1">
              <a:lnSpc>
                <a:spcPct val="150000"/>
              </a:lnSpc>
            </a:pP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6939581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CCD8EF-A7D7-1D32-7B24-FEF03CCC62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B6D99E-49D3-823D-2B90-FB908B0DFB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609600"/>
            <a:ext cx="9694832" cy="1320800"/>
          </a:xfrm>
        </p:spPr>
        <p:txBody>
          <a:bodyPr/>
          <a:lstStyle/>
          <a:p>
            <a:r>
              <a:rPr lang="en-US" dirty="0"/>
              <a:t>Model </a:t>
            </a:r>
            <a:r>
              <a:rPr lang="en-US" dirty="0" err="1"/>
              <a:t>Geliştirme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D294E7-4628-2B96-5C8C-E96E802232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76399"/>
            <a:ext cx="8596668" cy="5072131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 err="1"/>
              <a:t>Rastgele</a:t>
            </a:r>
            <a:r>
              <a:rPr lang="en-US" dirty="0"/>
              <a:t> Orman (Random Forest) </a:t>
            </a:r>
            <a:r>
              <a:rPr lang="en-US" dirty="0" err="1"/>
              <a:t>Modeli</a:t>
            </a:r>
            <a:endParaRPr lang="en-US" dirty="0"/>
          </a:p>
          <a:p>
            <a:pPr lvl="1">
              <a:lnSpc>
                <a:spcPct val="150000"/>
              </a:lnSpc>
            </a:pPr>
            <a:r>
              <a:rPr lang="en-US" dirty="0" err="1"/>
              <a:t>Sıvı</a:t>
            </a:r>
            <a:r>
              <a:rPr lang="en-US" dirty="0"/>
              <a:t> </a:t>
            </a:r>
            <a:r>
              <a:rPr lang="en-US" dirty="0" err="1"/>
              <a:t>ürün</a:t>
            </a:r>
            <a:r>
              <a:rPr lang="en-US" dirty="0"/>
              <a:t> </a:t>
            </a:r>
            <a:r>
              <a:rPr lang="en-US" dirty="0" err="1"/>
              <a:t>yüzdesi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 RF </a:t>
            </a:r>
            <a:r>
              <a:rPr lang="en-US" dirty="0" err="1"/>
              <a:t>regresyon</a:t>
            </a:r>
            <a:r>
              <a:rPr lang="en-US" dirty="0"/>
              <a:t> </a:t>
            </a:r>
            <a:r>
              <a:rPr lang="en-US" dirty="0" err="1"/>
              <a:t>modeli</a:t>
            </a:r>
            <a:r>
              <a:rPr lang="en-US" dirty="0"/>
              <a:t> </a:t>
            </a:r>
            <a:r>
              <a:rPr lang="en-US" dirty="0" err="1"/>
              <a:t>oluşturma</a:t>
            </a:r>
            <a:endParaRPr lang="en-US" dirty="0"/>
          </a:p>
          <a:p>
            <a:pPr lvl="1">
              <a:lnSpc>
                <a:spcPct val="150000"/>
              </a:lnSpc>
            </a:pPr>
            <a:r>
              <a:rPr lang="en-US" dirty="0"/>
              <a:t>FTIR </a:t>
            </a:r>
            <a:r>
              <a:rPr lang="en-US" dirty="0" err="1"/>
              <a:t>değerleri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 RF </a:t>
            </a:r>
            <a:r>
              <a:rPr lang="en-US" dirty="0" err="1"/>
              <a:t>regresyon</a:t>
            </a:r>
            <a:r>
              <a:rPr lang="en-US" dirty="0"/>
              <a:t> </a:t>
            </a:r>
            <a:r>
              <a:rPr lang="en-US" dirty="0" err="1"/>
              <a:t>modelleri</a:t>
            </a:r>
            <a:r>
              <a:rPr lang="en-US" dirty="0"/>
              <a:t> </a:t>
            </a:r>
            <a:r>
              <a:rPr lang="en-US" dirty="0" err="1"/>
              <a:t>oluşturma</a:t>
            </a:r>
            <a:endParaRPr lang="en-US" dirty="0"/>
          </a:p>
          <a:p>
            <a:pPr lvl="1">
              <a:lnSpc>
                <a:spcPct val="150000"/>
              </a:lnSpc>
            </a:pPr>
            <a:r>
              <a:rPr lang="en-US" dirty="0" err="1"/>
              <a:t>Hiperparametre</a:t>
            </a:r>
            <a:r>
              <a:rPr lang="en-US" dirty="0"/>
              <a:t> </a:t>
            </a:r>
            <a:r>
              <a:rPr lang="en-US" dirty="0" err="1"/>
              <a:t>belirlenmesi</a:t>
            </a:r>
            <a:endParaRPr lang="en-US" dirty="0"/>
          </a:p>
          <a:p>
            <a:pPr lvl="1">
              <a:lnSpc>
                <a:spcPct val="150000"/>
              </a:lnSpc>
            </a:pPr>
            <a:r>
              <a:rPr lang="en-US" dirty="0" err="1"/>
              <a:t>Modellerin</a:t>
            </a:r>
            <a:r>
              <a:rPr lang="en-US" dirty="0"/>
              <a:t> </a:t>
            </a:r>
            <a:r>
              <a:rPr lang="en-US" dirty="0" err="1"/>
              <a:t>eğitimi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91387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06ADE4-9C9A-72FA-B243-D2B711C31E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6B8319-C081-3CCA-CB0D-7E405AFF0C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233082"/>
            <a:ext cx="9694832" cy="1030942"/>
          </a:xfrm>
        </p:spPr>
        <p:txBody>
          <a:bodyPr/>
          <a:lstStyle/>
          <a:p>
            <a:r>
              <a:rPr lang="en-US" dirty="0"/>
              <a:t>Model </a:t>
            </a:r>
            <a:r>
              <a:rPr lang="en-US" dirty="0" err="1"/>
              <a:t>Geliştirme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204F54-5656-95FA-74A7-ADAB8703DB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977153"/>
            <a:ext cx="8596668" cy="5771378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nb-NO" dirty="0"/>
              <a:t>Yapay Sinir Ağı (ANN) Modeli</a:t>
            </a:r>
          </a:p>
          <a:p>
            <a:pPr lvl="1">
              <a:lnSpc>
                <a:spcPct val="150000"/>
              </a:lnSpc>
            </a:pPr>
            <a:r>
              <a:rPr lang="en-US" dirty="0" err="1"/>
              <a:t>Ağ</a:t>
            </a:r>
            <a:r>
              <a:rPr lang="en-US" dirty="0"/>
              <a:t> </a:t>
            </a:r>
            <a:r>
              <a:rPr lang="en-US" dirty="0" err="1"/>
              <a:t>mimarisi</a:t>
            </a:r>
            <a:r>
              <a:rPr lang="en-US" dirty="0"/>
              <a:t> </a:t>
            </a:r>
            <a:r>
              <a:rPr lang="en-US" dirty="0" err="1"/>
              <a:t>tasarımı</a:t>
            </a:r>
            <a:r>
              <a:rPr lang="en-US" dirty="0"/>
              <a:t>:</a:t>
            </a:r>
          </a:p>
          <a:p>
            <a:pPr lvl="2">
              <a:lnSpc>
                <a:spcPct val="150000"/>
              </a:lnSpc>
            </a:pPr>
            <a:r>
              <a:rPr lang="en-US" dirty="0" err="1"/>
              <a:t>Giriş</a:t>
            </a:r>
            <a:r>
              <a:rPr lang="en-US" dirty="0"/>
              <a:t> </a:t>
            </a:r>
            <a:r>
              <a:rPr lang="en-US" dirty="0" err="1"/>
              <a:t>katmanı</a:t>
            </a:r>
            <a:r>
              <a:rPr lang="en-US" dirty="0"/>
              <a:t> (input layer)</a:t>
            </a:r>
          </a:p>
          <a:p>
            <a:pPr lvl="2">
              <a:lnSpc>
                <a:spcPct val="150000"/>
              </a:lnSpc>
            </a:pPr>
            <a:r>
              <a:rPr lang="en-US" dirty="0" err="1"/>
              <a:t>Gizli</a:t>
            </a:r>
            <a:r>
              <a:rPr lang="en-US" dirty="0"/>
              <a:t> </a:t>
            </a:r>
            <a:r>
              <a:rPr lang="en-US" dirty="0" err="1"/>
              <a:t>katmanlar</a:t>
            </a:r>
            <a:r>
              <a:rPr lang="en-US" dirty="0"/>
              <a:t> (hidden layers)</a:t>
            </a:r>
          </a:p>
          <a:p>
            <a:pPr lvl="2">
              <a:lnSpc>
                <a:spcPct val="150000"/>
              </a:lnSpc>
            </a:pPr>
            <a:r>
              <a:rPr lang="en-US" dirty="0" err="1"/>
              <a:t>Çıkış</a:t>
            </a:r>
            <a:r>
              <a:rPr lang="en-US" dirty="0"/>
              <a:t> </a:t>
            </a:r>
            <a:r>
              <a:rPr lang="en-US" dirty="0" err="1"/>
              <a:t>katmanı</a:t>
            </a:r>
            <a:r>
              <a:rPr lang="en-US" dirty="0"/>
              <a:t> (output layer)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Model </a:t>
            </a:r>
            <a:r>
              <a:rPr lang="en-US" dirty="0" err="1"/>
              <a:t>parametrelerinin</a:t>
            </a:r>
            <a:r>
              <a:rPr lang="en-US" dirty="0"/>
              <a:t> </a:t>
            </a:r>
            <a:r>
              <a:rPr lang="en-US" dirty="0" err="1"/>
              <a:t>belirlenmesi</a:t>
            </a:r>
            <a:r>
              <a:rPr lang="en-US" dirty="0"/>
              <a:t>:</a:t>
            </a:r>
          </a:p>
          <a:p>
            <a:pPr lvl="2">
              <a:lnSpc>
                <a:spcPct val="150000"/>
              </a:lnSpc>
            </a:pPr>
            <a:r>
              <a:rPr lang="en-US" dirty="0" err="1"/>
              <a:t>Kayıp</a:t>
            </a:r>
            <a:r>
              <a:rPr lang="en-US" dirty="0"/>
              <a:t> </a:t>
            </a:r>
            <a:r>
              <a:rPr lang="en-US" dirty="0" err="1"/>
              <a:t>fonksiyonu</a:t>
            </a:r>
            <a:r>
              <a:rPr lang="en-US" dirty="0"/>
              <a:t> </a:t>
            </a:r>
            <a:r>
              <a:rPr lang="en-US" dirty="0" err="1"/>
              <a:t>seçimi</a:t>
            </a:r>
            <a:endParaRPr lang="en-US" dirty="0"/>
          </a:p>
          <a:p>
            <a:pPr lvl="2">
              <a:lnSpc>
                <a:spcPct val="150000"/>
              </a:lnSpc>
            </a:pPr>
            <a:r>
              <a:rPr lang="en-US" dirty="0"/>
              <a:t>Optimizer </a:t>
            </a:r>
            <a:r>
              <a:rPr lang="en-US" dirty="0" err="1"/>
              <a:t>seçimi</a:t>
            </a:r>
            <a:endParaRPr lang="en-US" dirty="0"/>
          </a:p>
          <a:p>
            <a:pPr lvl="2">
              <a:lnSpc>
                <a:spcPct val="150000"/>
              </a:lnSpc>
            </a:pPr>
            <a:r>
              <a:rPr lang="en-US" dirty="0" err="1"/>
              <a:t>Aktivasyon</a:t>
            </a:r>
            <a:r>
              <a:rPr lang="en-US" dirty="0"/>
              <a:t> </a:t>
            </a:r>
            <a:r>
              <a:rPr lang="en-US" dirty="0" err="1"/>
              <a:t>fonksiyonları</a:t>
            </a:r>
            <a:endParaRPr lang="en-US" dirty="0"/>
          </a:p>
          <a:p>
            <a:pPr lvl="1">
              <a:lnSpc>
                <a:spcPct val="150000"/>
              </a:lnSpc>
            </a:pPr>
            <a:r>
              <a:rPr lang="en-US" dirty="0" err="1"/>
              <a:t>Eğitim</a:t>
            </a:r>
            <a:r>
              <a:rPr lang="en-US" dirty="0"/>
              <a:t> </a:t>
            </a:r>
            <a:r>
              <a:rPr lang="en-US" dirty="0" err="1"/>
              <a:t>parametrelerinin</a:t>
            </a:r>
            <a:r>
              <a:rPr lang="en-US" dirty="0"/>
              <a:t> </a:t>
            </a:r>
            <a:r>
              <a:rPr lang="en-US" dirty="0" err="1"/>
              <a:t>ayarlanması</a:t>
            </a:r>
            <a:r>
              <a:rPr lang="en-US" dirty="0"/>
              <a:t>:</a:t>
            </a:r>
          </a:p>
          <a:p>
            <a:pPr lvl="2">
              <a:lnSpc>
                <a:spcPct val="150000"/>
              </a:lnSpc>
            </a:pPr>
            <a:r>
              <a:rPr lang="en-US" dirty="0"/>
              <a:t>Early stopping</a:t>
            </a:r>
          </a:p>
          <a:p>
            <a:pPr lvl="2">
              <a:lnSpc>
                <a:spcPct val="150000"/>
              </a:lnSpc>
            </a:pPr>
            <a:r>
              <a:rPr lang="en-US" dirty="0"/>
              <a:t>Learning rate scheduling</a:t>
            </a:r>
          </a:p>
          <a:p>
            <a:pPr lvl="1">
              <a:lnSpc>
                <a:spcPct val="150000"/>
              </a:lnSpc>
            </a:pPr>
            <a:r>
              <a:rPr lang="en-US" dirty="0" err="1"/>
              <a:t>Modellerin</a:t>
            </a:r>
            <a:r>
              <a:rPr lang="en-US" dirty="0"/>
              <a:t> </a:t>
            </a:r>
            <a:r>
              <a:rPr lang="en-US" dirty="0" err="1"/>
              <a:t>eğitimi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81200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6387E3-67E4-D8E4-C3F2-2113D0A262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FE4BB9-3ED9-FB8F-ECC7-EF7698FF28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609600"/>
            <a:ext cx="9694832" cy="1320800"/>
          </a:xfrm>
        </p:spPr>
        <p:txBody>
          <a:bodyPr/>
          <a:lstStyle/>
          <a:p>
            <a:r>
              <a:rPr lang="en-US" dirty="0"/>
              <a:t>Model </a:t>
            </a:r>
            <a:r>
              <a:rPr lang="en-US" dirty="0" err="1"/>
              <a:t>Geliştirme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96111E-8055-0B20-DCE3-4837FAA7C4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76399"/>
            <a:ext cx="8596668" cy="5072131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Model </a:t>
            </a:r>
            <a:r>
              <a:rPr lang="en-US" dirty="0" err="1"/>
              <a:t>Değerlendirme</a:t>
            </a:r>
            <a:endParaRPr lang="en-US" dirty="0"/>
          </a:p>
          <a:p>
            <a:pPr lvl="1">
              <a:lnSpc>
                <a:spcPct val="150000"/>
              </a:lnSpc>
            </a:pPr>
            <a:r>
              <a:rPr lang="en-US" dirty="0" err="1"/>
              <a:t>Performans</a:t>
            </a:r>
            <a:r>
              <a:rPr lang="en-US" dirty="0"/>
              <a:t> </a:t>
            </a:r>
            <a:r>
              <a:rPr lang="en-US" dirty="0" err="1"/>
              <a:t>metriklerinin</a:t>
            </a:r>
            <a:r>
              <a:rPr lang="en-US" dirty="0"/>
              <a:t> </a:t>
            </a:r>
            <a:r>
              <a:rPr lang="en-US" dirty="0" err="1"/>
              <a:t>hesaplanması</a:t>
            </a:r>
            <a:r>
              <a:rPr lang="en-US" dirty="0"/>
              <a:t>: </a:t>
            </a:r>
          </a:p>
          <a:p>
            <a:pPr lvl="2">
              <a:lnSpc>
                <a:spcPct val="150000"/>
              </a:lnSpc>
            </a:pPr>
            <a:r>
              <a:rPr lang="en-US" dirty="0"/>
              <a:t>R-</a:t>
            </a:r>
            <a:r>
              <a:rPr lang="en-US" dirty="0" err="1"/>
              <a:t>kare</a:t>
            </a:r>
            <a:r>
              <a:rPr lang="en-US" dirty="0"/>
              <a:t> (R²)</a:t>
            </a:r>
          </a:p>
          <a:p>
            <a:pPr lvl="2">
              <a:lnSpc>
                <a:spcPct val="150000"/>
              </a:lnSpc>
            </a:pPr>
            <a:r>
              <a:rPr lang="en-US" dirty="0" err="1"/>
              <a:t>Ortalama</a:t>
            </a:r>
            <a:r>
              <a:rPr lang="en-US" dirty="0"/>
              <a:t> </a:t>
            </a:r>
            <a:r>
              <a:rPr lang="en-US" dirty="0" err="1"/>
              <a:t>Mutlak</a:t>
            </a:r>
            <a:r>
              <a:rPr lang="en-US" dirty="0"/>
              <a:t> Hata (MAE)</a:t>
            </a:r>
          </a:p>
          <a:p>
            <a:pPr lvl="2">
              <a:lnSpc>
                <a:spcPct val="150000"/>
              </a:lnSpc>
            </a:pPr>
            <a:r>
              <a:rPr lang="en-US" dirty="0" err="1"/>
              <a:t>Ortalama</a:t>
            </a:r>
            <a:r>
              <a:rPr lang="en-US" dirty="0"/>
              <a:t> </a:t>
            </a:r>
            <a:r>
              <a:rPr lang="en-US" dirty="0" err="1"/>
              <a:t>Karesel</a:t>
            </a:r>
            <a:r>
              <a:rPr lang="en-US" dirty="0"/>
              <a:t> Hata (MSE)</a:t>
            </a:r>
          </a:p>
          <a:p>
            <a:pPr lvl="2">
              <a:lnSpc>
                <a:spcPct val="150000"/>
              </a:lnSpc>
            </a:pPr>
            <a:r>
              <a:rPr lang="en-US" dirty="0" err="1"/>
              <a:t>Kök</a:t>
            </a:r>
            <a:r>
              <a:rPr lang="en-US" dirty="0"/>
              <a:t> </a:t>
            </a:r>
            <a:r>
              <a:rPr lang="en-US" dirty="0" err="1"/>
              <a:t>Ortalama</a:t>
            </a:r>
            <a:r>
              <a:rPr lang="en-US" dirty="0"/>
              <a:t> </a:t>
            </a:r>
            <a:r>
              <a:rPr lang="en-US" dirty="0" err="1"/>
              <a:t>Karesel</a:t>
            </a:r>
            <a:r>
              <a:rPr lang="en-US" dirty="0"/>
              <a:t> Hata (RMSE)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RF </a:t>
            </a:r>
            <a:r>
              <a:rPr lang="en-US" dirty="0" err="1"/>
              <a:t>ve</a:t>
            </a:r>
            <a:r>
              <a:rPr lang="en-US" dirty="0"/>
              <a:t> ANN </a:t>
            </a:r>
            <a:r>
              <a:rPr lang="en-US" dirty="0" err="1"/>
              <a:t>modellerinin</a:t>
            </a:r>
            <a:r>
              <a:rPr lang="en-US" dirty="0"/>
              <a:t> </a:t>
            </a:r>
            <a:r>
              <a:rPr lang="en-US" dirty="0" err="1"/>
              <a:t>karşılaştırılması</a:t>
            </a:r>
            <a:endParaRPr lang="en-US" dirty="0"/>
          </a:p>
          <a:p>
            <a:pPr lvl="1">
              <a:lnSpc>
                <a:spcPct val="150000"/>
              </a:lnSpc>
            </a:pPr>
            <a:r>
              <a:rPr lang="en-US" dirty="0" err="1"/>
              <a:t>Tahmin</a:t>
            </a:r>
            <a:r>
              <a:rPr lang="en-US" dirty="0"/>
              <a:t> vs </a:t>
            </a:r>
            <a:r>
              <a:rPr lang="en-US" dirty="0" err="1"/>
              <a:t>gerçek</a:t>
            </a:r>
            <a:r>
              <a:rPr lang="en-US" dirty="0"/>
              <a:t> </a:t>
            </a:r>
            <a:r>
              <a:rPr lang="en-US" dirty="0" err="1"/>
              <a:t>değer</a:t>
            </a:r>
            <a:r>
              <a:rPr lang="en-US" dirty="0"/>
              <a:t> </a:t>
            </a:r>
            <a:r>
              <a:rPr lang="en-US" dirty="0" err="1"/>
              <a:t>grafiklerinin</a:t>
            </a:r>
            <a:r>
              <a:rPr lang="en-US" dirty="0"/>
              <a:t> </a:t>
            </a:r>
            <a:r>
              <a:rPr lang="en-US" dirty="0" err="1"/>
              <a:t>oluşturulması</a:t>
            </a:r>
            <a:endParaRPr lang="en-US" dirty="0"/>
          </a:p>
          <a:p>
            <a:pPr lvl="1">
              <a:lnSpc>
                <a:spcPct val="150000"/>
              </a:lnSpc>
            </a:pPr>
            <a:r>
              <a:rPr lang="en-US" dirty="0" err="1"/>
              <a:t>Özellik</a:t>
            </a:r>
            <a:r>
              <a:rPr lang="en-US" dirty="0"/>
              <a:t> </a:t>
            </a:r>
            <a:r>
              <a:rPr lang="en-US" dirty="0" err="1"/>
              <a:t>önem</a:t>
            </a:r>
            <a:r>
              <a:rPr lang="en-US" dirty="0"/>
              <a:t> </a:t>
            </a:r>
            <a:r>
              <a:rPr lang="en-US" dirty="0" err="1"/>
              <a:t>analizi</a:t>
            </a:r>
            <a:r>
              <a:rPr lang="en-US" dirty="0"/>
              <a:t>: </a:t>
            </a:r>
          </a:p>
          <a:p>
            <a:pPr lvl="2">
              <a:lnSpc>
                <a:spcPct val="150000"/>
              </a:lnSpc>
            </a:pPr>
            <a:r>
              <a:rPr lang="en-US" dirty="0"/>
              <a:t>Feature importance</a:t>
            </a:r>
          </a:p>
        </p:txBody>
      </p:sp>
    </p:spTree>
    <p:extLst>
      <p:ext uri="{BB962C8B-B14F-4D97-AF65-F5344CB8AC3E}">
        <p14:creationId xmlns:p14="http://schemas.microsoft.com/office/powerpoint/2010/main" val="41225505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664E90-3CA9-AF8E-1344-F46A74A80A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3DDFA-C80E-8D3D-F5EA-33E4423ED3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242046"/>
            <a:ext cx="9694832" cy="1078753"/>
          </a:xfrm>
        </p:spPr>
        <p:txBody>
          <a:bodyPr/>
          <a:lstStyle/>
          <a:p>
            <a:r>
              <a:rPr lang="en-US" dirty="0"/>
              <a:t>Ham </a:t>
            </a:r>
            <a:r>
              <a:rPr lang="en-US" dirty="0" err="1"/>
              <a:t>veri</a:t>
            </a:r>
            <a:r>
              <a:rPr lang="en-US" dirty="0"/>
              <a:t> </a:t>
            </a:r>
            <a:r>
              <a:rPr lang="en-US" dirty="0" err="1"/>
              <a:t>işlenmesi</a:t>
            </a:r>
            <a:endParaRPr lang="en-US" dirty="0"/>
          </a:p>
        </p:txBody>
      </p:sp>
      <p:pic>
        <p:nvPicPr>
          <p:cNvPr id="5" name="Resim 4">
            <a:extLst>
              <a:ext uri="{FF2B5EF4-FFF2-40B4-BE49-F238E27FC236}">
                <a16:creationId xmlns:a16="http://schemas.microsoft.com/office/drawing/2014/main" id="{EC47AF0E-1094-DC8B-B855-2CA40B3F30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627" y="1658471"/>
            <a:ext cx="9746428" cy="5199529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D51FF7C-C29A-A0EB-9C33-95D6F4CA2C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1013012"/>
            <a:ext cx="8596668" cy="914235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prepare_data.py</a:t>
            </a:r>
          </a:p>
          <a:p>
            <a:pPr marL="914400" lvl="2" indent="0">
              <a:lnSpc>
                <a:spcPct val="150000"/>
              </a:lnSpc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47545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05F381-916A-677D-6A22-6FFB989B9C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701AB4-82E6-8958-8D26-056DD38185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609600"/>
            <a:ext cx="9694832" cy="1320800"/>
          </a:xfrm>
        </p:spPr>
        <p:txBody>
          <a:bodyPr/>
          <a:lstStyle/>
          <a:p>
            <a:r>
              <a:rPr lang="en-US" dirty="0" err="1"/>
              <a:t>Veritabanından</a:t>
            </a:r>
            <a:r>
              <a:rPr lang="en-US" dirty="0"/>
              <a:t> Ham </a:t>
            </a:r>
            <a:r>
              <a:rPr lang="en-US" dirty="0" err="1"/>
              <a:t>veri</a:t>
            </a:r>
            <a:r>
              <a:rPr lang="en-US" dirty="0"/>
              <a:t> </a:t>
            </a:r>
            <a:r>
              <a:rPr lang="en-US" dirty="0" err="1"/>
              <a:t>alınması</a:t>
            </a:r>
            <a:endParaRPr lang="en-US" dirty="0"/>
          </a:p>
        </p:txBody>
      </p:sp>
      <p:pic>
        <p:nvPicPr>
          <p:cNvPr id="7" name="Resim 6">
            <a:extLst>
              <a:ext uri="{FF2B5EF4-FFF2-40B4-BE49-F238E27FC236}">
                <a16:creationId xmlns:a16="http://schemas.microsoft.com/office/drawing/2014/main" id="{856C36E3-6073-856D-A553-E8366489C8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233" y="1809130"/>
            <a:ext cx="10307488" cy="4439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48662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0A8F3C-B5B9-CAD1-93CD-9431028F23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BB23F0-5B52-3AA8-3040-A9AADB4B23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609600"/>
            <a:ext cx="9694832" cy="1320800"/>
          </a:xfrm>
        </p:spPr>
        <p:txBody>
          <a:bodyPr/>
          <a:lstStyle/>
          <a:p>
            <a:r>
              <a:rPr lang="en-US" dirty="0" err="1"/>
              <a:t>Veritabanından</a:t>
            </a:r>
            <a:r>
              <a:rPr lang="en-US" dirty="0"/>
              <a:t> Ham </a:t>
            </a:r>
            <a:r>
              <a:rPr lang="en-US" dirty="0" err="1"/>
              <a:t>veri</a:t>
            </a:r>
            <a:r>
              <a:rPr lang="en-US" dirty="0"/>
              <a:t> </a:t>
            </a:r>
            <a:r>
              <a:rPr lang="en-US" dirty="0" err="1"/>
              <a:t>alınması</a:t>
            </a:r>
            <a:endParaRPr lang="en-US" dirty="0"/>
          </a:p>
        </p:txBody>
      </p:sp>
      <p:pic>
        <p:nvPicPr>
          <p:cNvPr id="5" name="Resim 4">
            <a:extLst>
              <a:ext uri="{FF2B5EF4-FFF2-40B4-BE49-F238E27FC236}">
                <a16:creationId xmlns:a16="http://schemas.microsoft.com/office/drawing/2014/main" id="{805E7A81-0BB8-9354-A6D8-51F0DE0FF3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9224" y="1459338"/>
            <a:ext cx="7622280" cy="5315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45786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9CD77A-4781-92D5-F72E-F869750471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C1872C-35CE-A59C-7F5B-2243EF2678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609600"/>
            <a:ext cx="9694832" cy="1320800"/>
          </a:xfrm>
        </p:spPr>
        <p:txBody>
          <a:bodyPr/>
          <a:lstStyle/>
          <a:p>
            <a:r>
              <a:rPr lang="en-US" dirty="0" err="1"/>
              <a:t>Veritabanından</a:t>
            </a:r>
            <a:r>
              <a:rPr lang="en-US" dirty="0"/>
              <a:t> Ham </a:t>
            </a:r>
            <a:r>
              <a:rPr lang="en-US" dirty="0" err="1"/>
              <a:t>veri</a:t>
            </a:r>
            <a:r>
              <a:rPr lang="en-US" dirty="0"/>
              <a:t> </a:t>
            </a:r>
            <a:r>
              <a:rPr lang="en-US" dirty="0" err="1"/>
              <a:t>alınması</a:t>
            </a:r>
            <a:endParaRPr lang="en-US" dirty="0"/>
          </a:p>
        </p:txBody>
      </p:sp>
      <p:pic>
        <p:nvPicPr>
          <p:cNvPr id="5" name="Resim 4">
            <a:extLst>
              <a:ext uri="{FF2B5EF4-FFF2-40B4-BE49-F238E27FC236}">
                <a16:creationId xmlns:a16="http://schemas.microsoft.com/office/drawing/2014/main" id="{E4D703E6-6D67-F026-7019-FC1D03907A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63" y="1459481"/>
            <a:ext cx="9078592" cy="5229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12653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E2B43F-7EBC-10BC-7696-6529AC8196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DDBBF3-5083-9D80-8C81-DE0792B6CE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298" y="0"/>
            <a:ext cx="9694832" cy="1320800"/>
          </a:xfrm>
        </p:spPr>
        <p:txBody>
          <a:bodyPr/>
          <a:lstStyle/>
          <a:p>
            <a:r>
              <a:rPr lang="en-US" dirty="0" err="1"/>
              <a:t>Veritabanından</a:t>
            </a:r>
            <a:r>
              <a:rPr lang="en-US" dirty="0"/>
              <a:t> Ham </a:t>
            </a:r>
            <a:r>
              <a:rPr lang="en-US" dirty="0" err="1"/>
              <a:t>veri</a:t>
            </a:r>
            <a:r>
              <a:rPr lang="en-US" dirty="0"/>
              <a:t> </a:t>
            </a:r>
            <a:r>
              <a:rPr lang="en-US" dirty="0" err="1"/>
              <a:t>alınması</a:t>
            </a:r>
            <a:endParaRPr lang="en-US" dirty="0"/>
          </a:p>
        </p:txBody>
      </p:sp>
      <p:pic>
        <p:nvPicPr>
          <p:cNvPr id="5" name="Resim 4">
            <a:extLst>
              <a:ext uri="{FF2B5EF4-FFF2-40B4-BE49-F238E27FC236}">
                <a16:creationId xmlns:a16="http://schemas.microsoft.com/office/drawing/2014/main" id="{83CC778D-866B-AA46-EC77-5DABA94DA4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7044" y="645459"/>
            <a:ext cx="5414985" cy="6212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66207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D8C29B-389F-D39E-A3E6-4C86AECB82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7D9C92-852D-5936-4712-ACDF1D355E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600634"/>
            <a:ext cx="9694832" cy="1329765"/>
          </a:xfrm>
        </p:spPr>
        <p:txBody>
          <a:bodyPr/>
          <a:lstStyle/>
          <a:p>
            <a:r>
              <a:rPr lang="en-US" dirty="0" err="1"/>
              <a:t>Feedrate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Residence Time </a:t>
            </a:r>
            <a:br>
              <a:rPr lang="en-US" dirty="0"/>
            </a:br>
            <a:r>
              <a:rPr lang="en-US" dirty="0" err="1"/>
              <a:t>verilerinin</a:t>
            </a:r>
            <a:r>
              <a:rPr lang="en-US" dirty="0"/>
              <a:t> </a:t>
            </a:r>
            <a:r>
              <a:rPr lang="en-US" dirty="0" err="1"/>
              <a:t>işlenmesi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A0C851-CDAF-A330-7C8F-380ACA982C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730187"/>
            <a:ext cx="8596668" cy="5018343"/>
          </a:xfrm>
        </p:spPr>
        <p:txBody>
          <a:bodyPr>
            <a:normAutofit/>
          </a:bodyPr>
          <a:lstStyle/>
          <a:p>
            <a:pPr algn="l"/>
            <a:endParaRPr lang="en-US" sz="18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r>
              <a:rPr lang="en-US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İşlem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süresi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: </a:t>
            </a:r>
          </a:p>
          <a:p>
            <a:pPr lvl="1"/>
            <a:r>
              <a:rPr lang="en-US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kesikli</a:t>
            </a:r>
            <a:r>
              <a:rPr lang="en-US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reaksiyon</a:t>
            </a:r>
            <a:r>
              <a:rPr lang="en-US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uygulanan</a:t>
            </a:r>
            <a:r>
              <a:rPr lang="en-US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deneylerde</a:t>
            </a:r>
            <a:r>
              <a:rPr lang="en-US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doğrudan</a:t>
            </a:r>
            <a:r>
              <a:rPr lang="en-US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kaydedilmiş</a:t>
            </a:r>
            <a:r>
              <a:rPr lang="en-US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. </a:t>
            </a:r>
          </a:p>
          <a:p>
            <a:pPr lvl="1"/>
            <a:r>
              <a:rPr lang="en-US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5/48 </a:t>
            </a:r>
            <a:r>
              <a:rPr lang="en-US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eksik</a:t>
            </a:r>
            <a:r>
              <a:rPr lang="en-US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(%10.4) </a:t>
            </a:r>
          </a:p>
          <a:p>
            <a:r>
              <a:rPr lang="en-US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Besleme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hızı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ve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Kalış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süresi</a:t>
            </a:r>
            <a:endParaRPr lang="en-US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lvl="1"/>
            <a:r>
              <a:rPr lang="en-US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43/48 </a:t>
            </a:r>
            <a:r>
              <a:rPr lang="en-US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eksik</a:t>
            </a:r>
            <a:r>
              <a:rPr lang="en-US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(%89.6) </a:t>
            </a:r>
          </a:p>
        </p:txBody>
      </p:sp>
    </p:spTree>
    <p:extLst>
      <p:ext uri="{BB962C8B-B14F-4D97-AF65-F5344CB8AC3E}">
        <p14:creationId xmlns:p14="http://schemas.microsoft.com/office/powerpoint/2010/main" val="30489408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8C7DC2-C3F7-81C9-D3FD-C7C1E6C743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D3796F-A821-2434-65F3-AB6E8CACCF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0"/>
            <a:ext cx="11591364" cy="1320800"/>
          </a:xfrm>
        </p:spPr>
        <p:txBody>
          <a:bodyPr/>
          <a:lstStyle/>
          <a:p>
            <a:r>
              <a:rPr lang="en-US" dirty="0" err="1"/>
              <a:t>Feedrate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Residence Time </a:t>
            </a:r>
            <a:r>
              <a:rPr lang="en-US" dirty="0" err="1"/>
              <a:t>verilerinin</a:t>
            </a:r>
            <a:r>
              <a:rPr lang="en-US" dirty="0"/>
              <a:t> </a:t>
            </a:r>
            <a:r>
              <a:rPr lang="en-US" dirty="0" err="1"/>
              <a:t>işlenmesi</a:t>
            </a:r>
            <a:endParaRPr lang="en-US" dirty="0"/>
          </a:p>
        </p:txBody>
      </p:sp>
      <p:pic>
        <p:nvPicPr>
          <p:cNvPr id="5" name="Resim 4">
            <a:extLst>
              <a:ext uri="{FF2B5EF4-FFF2-40B4-BE49-F238E27FC236}">
                <a16:creationId xmlns:a16="http://schemas.microsoft.com/office/drawing/2014/main" id="{37370806-F05B-1FE1-A986-40F9DFC40D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943" y="756828"/>
            <a:ext cx="7675669" cy="6101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87840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35EEDB-4FAD-6E7E-ED2E-7C784E3F3C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DB2A38-5E5C-2EEC-D0F8-0771A53EA2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072" y="0"/>
            <a:ext cx="9694832" cy="1320800"/>
          </a:xfrm>
        </p:spPr>
        <p:txBody>
          <a:bodyPr/>
          <a:lstStyle/>
          <a:p>
            <a:r>
              <a:rPr lang="en-US" dirty="0"/>
              <a:t>Ham </a:t>
            </a:r>
            <a:r>
              <a:rPr lang="en-US" dirty="0" err="1"/>
              <a:t>veri</a:t>
            </a:r>
            <a:r>
              <a:rPr lang="en-US" dirty="0"/>
              <a:t> </a:t>
            </a:r>
            <a:r>
              <a:rPr lang="en-US" dirty="0" err="1"/>
              <a:t>işlenmesi</a:t>
            </a:r>
            <a:endParaRPr lang="en-US" dirty="0"/>
          </a:p>
        </p:txBody>
      </p:sp>
      <p:pic>
        <p:nvPicPr>
          <p:cNvPr id="4" name="Resim 3">
            <a:extLst>
              <a:ext uri="{FF2B5EF4-FFF2-40B4-BE49-F238E27FC236}">
                <a16:creationId xmlns:a16="http://schemas.microsoft.com/office/drawing/2014/main" id="{0392EA82-89B5-2FC3-1A71-3F264FB038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6293" y="721863"/>
            <a:ext cx="5933401" cy="6136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88359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72429C-8584-6A25-A402-5E6617E7DB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A96F0C-C1ED-88BA-E204-A11AEAA398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502024"/>
            <a:ext cx="9694832" cy="1428376"/>
          </a:xfrm>
        </p:spPr>
        <p:txBody>
          <a:bodyPr/>
          <a:lstStyle/>
          <a:p>
            <a:r>
              <a:rPr lang="en-US" dirty="0" err="1"/>
              <a:t>Özellik</a:t>
            </a:r>
            <a:r>
              <a:rPr lang="en-US" dirty="0"/>
              <a:t> </a:t>
            </a:r>
            <a:r>
              <a:rPr lang="en-US" dirty="0" err="1"/>
              <a:t>Standartlaştırma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12F378-5250-BBCA-E718-667EEDA545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930400"/>
            <a:ext cx="8596668" cy="4818130"/>
          </a:xfrm>
        </p:spPr>
        <p:txBody>
          <a:bodyPr>
            <a:normAutofit/>
          </a:bodyPr>
          <a:lstStyle/>
          <a:p>
            <a:r>
              <a:rPr lang="en-US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Sıcaklık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değerleri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:</a:t>
            </a:r>
          </a:p>
          <a:p>
            <a:pPr lvl="1"/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400-600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aralığında</a:t>
            </a:r>
            <a:endParaRPr lang="en-US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r>
              <a:rPr lang="en-US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Elementel</a:t>
            </a:r>
            <a:r>
              <a:rPr lang="en-US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analiz</a:t>
            </a:r>
            <a:r>
              <a:rPr lang="en-US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ve</a:t>
            </a:r>
            <a:r>
              <a:rPr lang="en-US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FTIR </a:t>
            </a:r>
            <a:r>
              <a:rPr lang="en-US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değerleri</a:t>
            </a:r>
            <a:endParaRPr lang="en-US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lvl="1"/>
            <a:r>
              <a:rPr lang="en-US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0-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1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aralığında</a:t>
            </a:r>
            <a:endParaRPr lang="en-US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708229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BBBD40-4927-306B-6E87-792BE43B85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BCC84C-247C-4F29-3428-234FA2E15C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072" y="0"/>
            <a:ext cx="9694832" cy="1320800"/>
          </a:xfrm>
        </p:spPr>
        <p:txBody>
          <a:bodyPr/>
          <a:lstStyle/>
          <a:p>
            <a:r>
              <a:rPr lang="en-US" dirty="0" err="1"/>
              <a:t>Özellik</a:t>
            </a:r>
            <a:r>
              <a:rPr lang="en-US" dirty="0"/>
              <a:t> </a:t>
            </a:r>
            <a:r>
              <a:rPr lang="en-US" dirty="0" err="1"/>
              <a:t>Standartlaştırma</a:t>
            </a:r>
            <a:endParaRPr lang="en-US" dirty="0"/>
          </a:p>
        </p:txBody>
      </p:sp>
      <p:pic>
        <p:nvPicPr>
          <p:cNvPr id="4" name="Resim 3">
            <a:extLst>
              <a:ext uri="{FF2B5EF4-FFF2-40B4-BE49-F238E27FC236}">
                <a16:creationId xmlns:a16="http://schemas.microsoft.com/office/drawing/2014/main" id="{29254B04-73B8-4AAA-5C70-121723405E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9735" y="618565"/>
            <a:ext cx="7396694" cy="6239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680119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36C4C0-8108-BED2-464A-FB1BB68ADE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139E71-93FF-6EA3-E3AF-3AB02BD914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251012"/>
            <a:ext cx="9694832" cy="1679388"/>
          </a:xfrm>
        </p:spPr>
        <p:txBody>
          <a:bodyPr/>
          <a:lstStyle/>
          <a:p>
            <a:r>
              <a:rPr lang="en-US" dirty="0" err="1"/>
              <a:t>Eksik</a:t>
            </a:r>
            <a:r>
              <a:rPr lang="en-US" dirty="0"/>
              <a:t> </a:t>
            </a:r>
            <a:r>
              <a:rPr lang="en-US" dirty="0" err="1"/>
              <a:t>değer</a:t>
            </a:r>
            <a:r>
              <a:rPr lang="en-US" dirty="0"/>
              <a:t> </a:t>
            </a:r>
            <a:r>
              <a:rPr lang="en-US" dirty="0" err="1"/>
              <a:t>analizi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6B9CCF-8B76-D769-610D-7426509C6C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326776"/>
            <a:ext cx="8596668" cy="5421754"/>
          </a:xfrm>
        </p:spPr>
        <p:txBody>
          <a:bodyPr>
            <a:normAutofit/>
          </a:bodyPr>
          <a:lstStyle/>
          <a:p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Tam Veri </a:t>
            </a:r>
            <a:r>
              <a:rPr lang="en-US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İçeren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değişkenler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:</a:t>
            </a:r>
            <a:endParaRPr lang="en-US" sz="18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lvl="1"/>
            <a:r>
              <a:rPr lang="en-US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Elementel</a:t>
            </a:r>
            <a:r>
              <a:rPr lang="en-US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Analiz: Carbon, Hydrogen, Nitrogen, Oxygen </a:t>
            </a:r>
          </a:p>
          <a:p>
            <a:pPr lvl="1"/>
            <a:r>
              <a:rPr lang="en-US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Proses </a:t>
            </a:r>
            <a:r>
              <a:rPr lang="en-US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Parametreleri</a:t>
            </a:r>
            <a:r>
              <a:rPr lang="en-US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: </a:t>
            </a:r>
            <a:r>
              <a:rPr lang="en-US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ProcessTemperature</a:t>
            </a:r>
            <a:r>
              <a:rPr lang="en-US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, </a:t>
            </a:r>
            <a:r>
              <a:rPr lang="en-US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CatalystBiomassRatio</a:t>
            </a:r>
            <a:r>
              <a:rPr lang="en-US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</a:p>
          <a:p>
            <a:r>
              <a:rPr lang="en-US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Eksik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veri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içeren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değişkenler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: </a:t>
            </a:r>
          </a:p>
          <a:p>
            <a:pPr lvl="1"/>
            <a:r>
              <a:rPr lang="nn-NO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Yapısal ve Kompozisyon Analiz Değişkenleri </a:t>
            </a:r>
          </a:p>
          <a:p>
            <a:pPr lvl="2"/>
            <a:r>
              <a:rPr lang="en-US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Sugar: %56.25 (27/48 </a:t>
            </a:r>
            <a:r>
              <a:rPr lang="en-US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eksik</a:t>
            </a:r>
            <a:r>
              <a:rPr lang="en-US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) </a:t>
            </a:r>
          </a:p>
          <a:p>
            <a:pPr lvl="2"/>
            <a:r>
              <a:rPr lang="en-US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Alcohols, Oxides: %52.08 (25/48 </a:t>
            </a:r>
            <a:r>
              <a:rPr lang="en-US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eksik</a:t>
            </a:r>
            <a:r>
              <a:rPr lang="en-US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) </a:t>
            </a:r>
          </a:p>
          <a:p>
            <a:pPr lvl="2"/>
            <a:r>
              <a:rPr lang="en-US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Esters, </a:t>
            </a:r>
            <a:r>
              <a:rPr lang="en-US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Aliphatichydrocarbon</a:t>
            </a:r>
            <a:r>
              <a:rPr lang="en-US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: %47.92 (23/48 </a:t>
            </a:r>
            <a:r>
              <a:rPr lang="en-US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eksik</a:t>
            </a:r>
            <a:r>
              <a:rPr lang="en-US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) </a:t>
            </a:r>
            <a:endParaRPr lang="en-US" sz="18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lvl="2"/>
            <a:r>
              <a:rPr lang="en-US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Aromatics: %29.17 (14/48 </a:t>
            </a:r>
            <a:r>
              <a:rPr lang="en-US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eksik</a:t>
            </a:r>
            <a:r>
              <a:rPr lang="en-US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) </a:t>
            </a:r>
          </a:p>
          <a:p>
            <a:pPr lvl="2"/>
            <a:r>
              <a:rPr lang="en-US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Furans: %22.92 (11/48 </a:t>
            </a:r>
            <a:r>
              <a:rPr lang="en-US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eksik</a:t>
            </a:r>
            <a:r>
              <a:rPr lang="en-US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) </a:t>
            </a:r>
          </a:p>
          <a:p>
            <a:pPr lvl="2"/>
            <a:r>
              <a:rPr lang="da-DK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Aldehyde_ketone: %10.42 (5/48 eksik) </a:t>
            </a:r>
            <a:endParaRPr lang="en-US" sz="18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lvl="1"/>
            <a:r>
              <a:rPr lang="en-US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Proses </a:t>
            </a:r>
            <a:r>
              <a:rPr lang="en-US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Parametreleri</a:t>
            </a:r>
            <a:r>
              <a:rPr lang="en-US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</a:p>
          <a:p>
            <a:pPr lvl="2"/>
            <a:r>
              <a:rPr lang="en-US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GasFlowrate</a:t>
            </a:r>
            <a:r>
              <a:rPr lang="en-US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: %47.92 (23/48 </a:t>
            </a:r>
            <a:r>
              <a:rPr lang="en-US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eksik</a:t>
            </a:r>
            <a:r>
              <a:rPr lang="en-US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) </a:t>
            </a:r>
          </a:p>
          <a:p>
            <a:pPr lvl="2"/>
            <a:r>
              <a:rPr lang="en-US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FeedRate</a:t>
            </a:r>
            <a:r>
              <a:rPr lang="en-US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, </a:t>
            </a:r>
            <a:r>
              <a:rPr lang="en-US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ResidenceTime</a:t>
            </a:r>
            <a:r>
              <a:rPr lang="en-US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: %89.58 (43/48 </a:t>
            </a:r>
            <a:r>
              <a:rPr lang="en-US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eksik</a:t>
            </a:r>
            <a:r>
              <a:rPr lang="en-US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) </a:t>
            </a:r>
          </a:p>
        </p:txBody>
      </p:sp>
    </p:spTree>
    <p:extLst>
      <p:ext uri="{BB962C8B-B14F-4D97-AF65-F5344CB8AC3E}">
        <p14:creationId xmlns:p14="http://schemas.microsoft.com/office/powerpoint/2010/main" val="222739426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62D59A-6E93-21AC-5386-172DE5D77A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C93108-8E35-D5D5-CC1B-0AC3C029B2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564776"/>
            <a:ext cx="9694832" cy="1365624"/>
          </a:xfrm>
        </p:spPr>
        <p:txBody>
          <a:bodyPr/>
          <a:lstStyle/>
          <a:p>
            <a:r>
              <a:rPr lang="en-US" dirty="0" err="1"/>
              <a:t>Eksik</a:t>
            </a:r>
            <a:r>
              <a:rPr lang="en-US" dirty="0"/>
              <a:t> </a:t>
            </a:r>
            <a:r>
              <a:rPr lang="en-US" dirty="0" err="1"/>
              <a:t>değer</a:t>
            </a:r>
            <a:r>
              <a:rPr lang="en-US" dirty="0"/>
              <a:t> </a:t>
            </a:r>
            <a:r>
              <a:rPr lang="en-US" dirty="0" err="1"/>
              <a:t>analizi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D8E639-9CE5-A5A9-67DB-C6DC93EBCE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559859"/>
            <a:ext cx="8596668" cy="5188672"/>
          </a:xfrm>
        </p:spPr>
        <p:txBody>
          <a:bodyPr>
            <a:normAutofit/>
          </a:bodyPr>
          <a:lstStyle/>
          <a:p>
            <a:r>
              <a:rPr lang="en-US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Proses </a:t>
            </a:r>
            <a:r>
              <a:rPr lang="en-US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Parametreleri</a:t>
            </a:r>
            <a:r>
              <a:rPr lang="en-US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</a:p>
          <a:p>
            <a:pPr lvl="1"/>
            <a:r>
              <a:rPr lang="en-US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GasFlowrate</a:t>
            </a:r>
            <a:r>
              <a:rPr lang="en-US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: %47.92 (23/48 </a:t>
            </a:r>
            <a:r>
              <a:rPr lang="en-US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eksik</a:t>
            </a:r>
            <a:r>
              <a:rPr lang="en-US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) </a:t>
            </a:r>
          </a:p>
          <a:p>
            <a:pPr lvl="1"/>
            <a:r>
              <a:rPr lang="en-US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FeedRate</a:t>
            </a:r>
            <a:r>
              <a:rPr lang="en-US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, </a:t>
            </a:r>
            <a:r>
              <a:rPr lang="en-US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ResidenceTime</a:t>
            </a:r>
            <a:r>
              <a:rPr lang="en-US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: %89.58 (43/48 </a:t>
            </a:r>
            <a:r>
              <a:rPr lang="en-US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eksik</a:t>
            </a:r>
            <a:r>
              <a:rPr lang="en-US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) </a:t>
            </a:r>
            <a:endParaRPr lang="en-US" sz="20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r>
              <a:rPr lang="en-US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Biyokütle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Karakterizasyon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Değişkenleri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</a:p>
          <a:p>
            <a:pPr lvl="1"/>
            <a:r>
              <a:rPr lang="en-US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Sulfur: %31.25 (15/48 </a:t>
            </a:r>
            <a:r>
              <a:rPr lang="en-US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eksik</a:t>
            </a:r>
            <a:r>
              <a:rPr lang="en-US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) </a:t>
            </a:r>
          </a:p>
          <a:p>
            <a:pPr lvl="1"/>
            <a:r>
              <a:rPr lang="en-US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HHV (</a:t>
            </a:r>
            <a:r>
              <a:rPr lang="en-US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Yüksek</a:t>
            </a:r>
            <a:r>
              <a:rPr lang="en-US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Isıl</a:t>
            </a:r>
            <a:r>
              <a:rPr lang="en-US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Değer</a:t>
            </a:r>
            <a:r>
              <a:rPr lang="en-US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): %20.83 (10/48 </a:t>
            </a:r>
            <a:r>
              <a:rPr lang="en-US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eksik</a:t>
            </a:r>
            <a:r>
              <a:rPr lang="en-US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) </a:t>
            </a:r>
          </a:p>
          <a:p>
            <a:pPr lvl="1"/>
            <a:r>
              <a:rPr lang="en-US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Volatiles (</a:t>
            </a:r>
            <a:r>
              <a:rPr lang="en-US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Uçucu</a:t>
            </a:r>
            <a:r>
              <a:rPr lang="en-US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Madde</a:t>
            </a:r>
            <a:r>
              <a:rPr lang="en-US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), </a:t>
            </a:r>
            <a:r>
              <a:rPr lang="en-US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FixedCarbon</a:t>
            </a:r>
            <a:r>
              <a:rPr lang="en-US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(</a:t>
            </a:r>
            <a:r>
              <a:rPr lang="en-US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Sabit</a:t>
            </a:r>
            <a:r>
              <a:rPr lang="en-US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Karbon): %10.42 (5/48 </a:t>
            </a:r>
            <a:r>
              <a:rPr lang="en-US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eksik</a:t>
            </a:r>
            <a:r>
              <a:rPr lang="en-US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) </a:t>
            </a:r>
          </a:p>
          <a:p>
            <a:r>
              <a:rPr lang="en-US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Ürün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Verimi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Değişkenleri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</a:p>
          <a:p>
            <a:pPr lvl="1"/>
            <a:r>
              <a:rPr lang="en-US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LiquidOutput</a:t>
            </a:r>
            <a:r>
              <a:rPr lang="en-US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(</a:t>
            </a:r>
            <a:r>
              <a:rPr lang="en-US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Sıvı</a:t>
            </a:r>
            <a:r>
              <a:rPr lang="en-US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Ürün</a:t>
            </a:r>
            <a:r>
              <a:rPr lang="en-US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Verimi</a:t>
            </a:r>
            <a:r>
              <a:rPr lang="en-US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): %37.50 (18/48 </a:t>
            </a:r>
            <a:r>
              <a:rPr lang="en-US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eksik</a:t>
            </a:r>
            <a:r>
              <a:rPr lang="en-US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) </a:t>
            </a:r>
          </a:p>
        </p:txBody>
      </p:sp>
    </p:spTree>
    <p:extLst>
      <p:ext uri="{BB962C8B-B14F-4D97-AF65-F5344CB8AC3E}">
        <p14:creationId xmlns:p14="http://schemas.microsoft.com/office/powerpoint/2010/main" val="105298428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5D7C0B-5F41-5F01-48B5-63E5F10379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C739CC-76DD-2A69-0AE0-48288CE6CA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072" y="0"/>
            <a:ext cx="9694832" cy="1320800"/>
          </a:xfrm>
        </p:spPr>
        <p:txBody>
          <a:bodyPr/>
          <a:lstStyle/>
          <a:p>
            <a:r>
              <a:rPr lang="en-US" dirty="0"/>
              <a:t>Ham </a:t>
            </a:r>
            <a:r>
              <a:rPr lang="en-US" dirty="0" err="1"/>
              <a:t>veri</a:t>
            </a:r>
            <a:r>
              <a:rPr lang="en-US" dirty="0"/>
              <a:t> </a:t>
            </a:r>
            <a:r>
              <a:rPr lang="en-US" dirty="0" err="1"/>
              <a:t>işlenmesi</a:t>
            </a:r>
            <a:endParaRPr lang="en-US" dirty="0"/>
          </a:p>
        </p:txBody>
      </p:sp>
      <p:pic>
        <p:nvPicPr>
          <p:cNvPr id="4" name="Resim 3">
            <a:extLst>
              <a:ext uri="{FF2B5EF4-FFF2-40B4-BE49-F238E27FC236}">
                <a16:creationId xmlns:a16="http://schemas.microsoft.com/office/drawing/2014/main" id="{403CFD90-1DE7-D583-2186-3D441412A7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319" y="564982"/>
            <a:ext cx="7406398" cy="6293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718666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87E61C-F512-C03B-931C-CCFD980D84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A30C11-BE49-13D0-BD8E-ECD3F607A0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072" y="376518"/>
            <a:ext cx="9694832" cy="944282"/>
          </a:xfrm>
        </p:spPr>
        <p:txBody>
          <a:bodyPr/>
          <a:lstStyle/>
          <a:p>
            <a:r>
              <a:rPr lang="en-US" dirty="0"/>
              <a:t>Ham </a:t>
            </a:r>
            <a:r>
              <a:rPr lang="en-US" dirty="0" err="1"/>
              <a:t>veri</a:t>
            </a:r>
            <a:r>
              <a:rPr lang="en-US" dirty="0"/>
              <a:t> </a:t>
            </a:r>
            <a:r>
              <a:rPr lang="en-US" dirty="0" err="1"/>
              <a:t>işlenmesi</a:t>
            </a:r>
            <a:endParaRPr lang="en-US" dirty="0"/>
          </a:p>
        </p:txBody>
      </p:sp>
      <p:pic>
        <p:nvPicPr>
          <p:cNvPr id="4" name="Resim 3">
            <a:extLst>
              <a:ext uri="{FF2B5EF4-FFF2-40B4-BE49-F238E27FC236}">
                <a16:creationId xmlns:a16="http://schemas.microsoft.com/office/drawing/2014/main" id="{DAB7C5D8-56FD-1D0C-5CE4-B9BA8C782E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200" y="1423934"/>
            <a:ext cx="10250330" cy="4763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980087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5E13CB-DBFB-09F7-E225-D28F435A9E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D32EEE-6412-ABFF-E475-B36D1A081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072" y="376518"/>
            <a:ext cx="9694832" cy="944282"/>
          </a:xfrm>
        </p:spPr>
        <p:txBody>
          <a:bodyPr/>
          <a:lstStyle/>
          <a:p>
            <a:r>
              <a:rPr lang="en-US" dirty="0"/>
              <a:t>Ham </a:t>
            </a:r>
            <a:r>
              <a:rPr lang="en-US" dirty="0" err="1"/>
              <a:t>veri</a:t>
            </a:r>
            <a:r>
              <a:rPr lang="en-US" dirty="0"/>
              <a:t> </a:t>
            </a:r>
            <a:r>
              <a:rPr lang="en-US" dirty="0" err="1"/>
              <a:t>işlenmesi</a:t>
            </a:r>
            <a:endParaRPr lang="en-US" dirty="0"/>
          </a:p>
        </p:txBody>
      </p:sp>
      <p:pic>
        <p:nvPicPr>
          <p:cNvPr id="4" name="Resim 3">
            <a:extLst>
              <a:ext uri="{FF2B5EF4-FFF2-40B4-BE49-F238E27FC236}">
                <a16:creationId xmlns:a16="http://schemas.microsoft.com/office/drawing/2014/main" id="{1873A200-87FB-C88F-0F6D-E1F6D9758A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1982" y="1224179"/>
            <a:ext cx="7421011" cy="895475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30605BB-0D96-34F4-415F-844E979B87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277035"/>
            <a:ext cx="8596668" cy="4471496"/>
          </a:xfrm>
        </p:spPr>
        <p:txBody>
          <a:bodyPr>
            <a:normAutofit/>
          </a:bodyPr>
          <a:lstStyle/>
          <a:p>
            <a:r>
              <a:rPr lang="en-US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prepare_data</a:t>
            </a:r>
            <a:endParaRPr lang="en-US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lvl="1"/>
            <a:r>
              <a:rPr lang="en-US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merge_all_data</a:t>
            </a:r>
            <a:endParaRPr lang="en-US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lvl="2"/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get_biomass_data</a:t>
            </a:r>
            <a:endParaRPr lang="en-US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lvl="2"/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get_experiment_data</a:t>
            </a:r>
            <a:endParaRPr lang="en-US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lvl="2"/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get_biooil_data</a:t>
            </a:r>
            <a:endParaRPr lang="en-US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lvl="1"/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normalize_features</a:t>
            </a:r>
            <a:endParaRPr lang="en-US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lvl="2"/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clean_numeric_data</a:t>
            </a:r>
            <a:endParaRPr lang="en-US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lvl="2"/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process_residence_time</a:t>
            </a:r>
            <a:endParaRPr lang="en-US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lvl="2"/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train_test_split</a:t>
            </a:r>
            <a:endParaRPr lang="en-US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lvl="2"/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save_processed_data</a:t>
            </a:r>
            <a:endParaRPr lang="en-US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lvl="2"/>
            <a:endParaRPr lang="en-US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lvl="2"/>
            <a:endParaRPr lang="en-US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lvl="1"/>
            <a:endParaRPr lang="en-US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735267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27FFE5-5029-30C3-5B88-D5CF8467A5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74D70E-FCC8-2A5B-3EEE-8807925E66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072" y="376518"/>
            <a:ext cx="9694832" cy="944282"/>
          </a:xfrm>
        </p:spPr>
        <p:txBody>
          <a:bodyPr/>
          <a:lstStyle/>
          <a:p>
            <a:r>
              <a:rPr lang="en-US" dirty="0"/>
              <a:t>Random Forest</a:t>
            </a:r>
          </a:p>
        </p:txBody>
      </p:sp>
      <p:pic>
        <p:nvPicPr>
          <p:cNvPr id="4" name="Resim 3">
            <a:extLst>
              <a:ext uri="{FF2B5EF4-FFF2-40B4-BE49-F238E27FC236}">
                <a16:creationId xmlns:a16="http://schemas.microsoft.com/office/drawing/2014/main" id="{4EC04B10-FA55-E109-76AB-EC5ABBD56F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19039"/>
            <a:ext cx="12192000" cy="2019922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2203BE-36E1-22CE-21F7-37DF36243D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1013012"/>
            <a:ext cx="8596668" cy="914235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random_forest.py</a:t>
            </a:r>
          </a:p>
          <a:p>
            <a:pPr marL="914400" lvl="2" indent="0">
              <a:lnSpc>
                <a:spcPct val="150000"/>
              </a:lnSpc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367420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3F3C63-ADB0-A8BB-6E65-5C263A49EC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99E6C9-9C78-D64A-065F-1E4BC30236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072" y="197224"/>
            <a:ext cx="9694832" cy="1123576"/>
          </a:xfrm>
        </p:spPr>
        <p:txBody>
          <a:bodyPr/>
          <a:lstStyle/>
          <a:p>
            <a:r>
              <a:rPr lang="en-US" dirty="0"/>
              <a:t>Random Forest</a:t>
            </a:r>
          </a:p>
        </p:txBody>
      </p:sp>
      <p:pic>
        <p:nvPicPr>
          <p:cNvPr id="4" name="Resim 3">
            <a:extLst>
              <a:ext uri="{FF2B5EF4-FFF2-40B4-BE49-F238E27FC236}">
                <a16:creationId xmlns:a16="http://schemas.microsoft.com/office/drawing/2014/main" id="{E4C4C9A0-EF0C-61C4-9157-B0EDB31F26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938" y="1071940"/>
            <a:ext cx="11364124" cy="5786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48844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5F72E0-AB8F-141D-2FC1-27E6E0DA11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7A0691-7016-B4EF-F540-32ABBA8ECD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072" y="0"/>
            <a:ext cx="9694832" cy="1320800"/>
          </a:xfrm>
        </p:spPr>
        <p:txBody>
          <a:bodyPr/>
          <a:lstStyle/>
          <a:p>
            <a:r>
              <a:rPr lang="en-US" dirty="0"/>
              <a:t>Random Forest</a:t>
            </a:r>
          </a:p>
        </p:txBody>
      </p:sp>
      <p:pic>
        <p:nvPicPr>
          <p:cNvPr id="6" name="Resim 5">
            <a:extLst>
              <a:ext uri="{FF2B5EF4-FFF2-40B4-BE49-F238E27FC236}">
                <a16:creationId xmlns:a16="http://schemas.microsoft.com/office/drawing/2014/main" id="{7BD48436-2DD1-33ED-C555-640683F493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9573" y="614768"/>
            <a:ext cx="8352853" cy="6243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372650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3DBA62-8E0C-7A1E-7256-F9B73C8935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E077AA-1A5D-1E8E-7453-A9599AE4D6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072" y="0"/>
            <a:ext cx="9694832" cy="1320800"/>
          </a:xfrm>
        </p:spPr>
        <p:txBody>
          <a:bodyPr/>
          <a:lstStyle/>
          <a:p>
            <a:r>
              <a:rPr lang="en-US" dirty="0"/>
              <a:t>Random Forest</a:t>
            </a:r>
          </a:p>
        </p:txBody>
      </p:sp>
      <p:pic>
        <p:nvPicPr>
          <p:cNvPr id="4" name="Resim 3">
            <a:extLst>
              <a:ext uri="{FF2B5EF4-FFF2-40B4-BE49-F238E27FC236}">
                <a16:creationId xmlns:a16="http://schemas.microsoft.com/office/drawing/2014/main" id="{387D3644-46AD-220F-A91C-0D4A55317A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901" y="736003"/>
            <a:ext cx="9115174" cy="6121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706304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004734-9397-2F00-7BCA-C2D3FCBFEF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4AF37B-F2F2-2B60-82C0-91738654EA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072" y="0"/>
            <a:ext cx="9694832" cy="1320800"/>
          </a:xfrm>
        </p:spPr>
        <p:txBody>
          <a:bodyPr/>
          <a:lstStyle/>
          <a:p>
            <a:r>
              <a:rPr lang="en-US" dirty="0"/>
              <a:t>Random Forest</a:t>
            </a:r>
          </a:p>
        </p:txBody>
      </p:sp>
      <p:pic>
        <p:nvPicPr>
          <p:cNvPr id="4" name="Resim 3">
            <a:extLst>
              <a:ext uri="{FF2B5EF4-FFF2-40B4-BE49-F238E27FC236}">
                <a16:creationId xmlns:a16="http://schemas.microsoft.com/office/drawing/2014/main" id="{FF8E910C-630D-44B1-B7D2-40BCB8FF26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1983" y="732997"/>
            <a:ext cx="8941010" cy="6125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297902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A9731B-9C16-528D-8918-385B6C20C8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499F41-2754-C26E-386A-A67586EAEE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072" y="0"/>
            <a:ext cx="9694832" cy="1320800"/>
          </a:xfrm>
        </p:spPr>
        <p:txBody>
          <a:bodyPr/>
          <a:lstStyle/>
          <a:p>
            <a:r>
              <a:rPr lang="en-US" dirty="0"/>
              <a:t>Random Forest</a:t>
            </a:r>
          </a:p>
        </p:txBody>
      </p:sp>
      <p:pic>
        <p:nvPicPr>
          <p:cNvPr id="4" name="Resim 3">
            <a:extLst>
              <a:ext uri="{FF2B5EF4-FFF2-40B4-BE49-F238E27FC236}">
                <a16:creationId xmlns:a16="http://schemas.microsoft.com/office/drawing/2014/main" id="{D57932A9-16F8-FD97-A32B-2575C7D7D0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0112" y="783632"/>
            <a:ext cx="7451775" cy="6074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694294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9F59FB-2519-A6F3-598F-EBA7A2040C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BC4687-1DC2-5653-66C8-D3C1843E9A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072" y="0"/>
            <a:ext cx="9694832" cy="1320800"/>
          </a:xfrm>
        </p:spPr>
        <p:txBody>
          <a:bodyPr/>
          <a:lstStyle/>
          <a:p>
            <a:r>
              <a:rPr lang="en-US" dirty="0"/>
              <a:t>Random Forest</a:t>
            </a:r>
          </a:p>
        </p:txBody>
      </p:sp>
      <p:pic>
        <p:nvPicPr>
          <p:cNvPr id="5" name="Resim 4">
            <a:extLst>
              <a:ext uri="{FF2B5EF4-FFF2-40B4-BE49-F238E27FC236}">
                <a16:creationId xmlns:a16="http://schemas.microsoft.com/office/drawing/2014/main" id="{9C13B56F-ED2A-7C4A-4F57-84C588F40B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7558" y="747738"/>
            <a:ext cx="6721289" cy="6110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125749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2072B1-8738-1A6B-5A35-B9E36D23DC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604BAB-12C6-BE52-AECA-834F68E9D6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072" y="555812"/>
            <a:ext cx="9694832" cy="764988"/>
          </a:xfrm>
        </p:spPr>
        <p:txBody>
          <a:bodyPr/>
          <a:lstStyle/>
          <a:p>
            <a:r>
              <a:rPr lang="en-US" dirty="0"/>
              <a:t>Random Forest</a:t>
            </a:r>
          </a:p>
        </p:txBody>
      </p:sp>
      <p:pic>
        <p:nvPicPr>
          <p:cNvPr id="4" name="Resim 3">
            <a:extLst>
              <a:ext uri="{FF2B5EF4-FFF2-40B4-BE49-F238E27FC236}">
                <a16:creationId xmlns:a16="http://schemas.microsoft.com/office/drawing/2014/main" id="{F2C52F4E-B1E5-9A8F-8A89-3CF0AB43C2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638" y="1980998"/>
            <a:ext cx="10021699" cy="2896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759477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05D5E0-66A6-6602-FAD0-BECBA839C7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21D440-A008-3D20-34BA-5535C9A204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072" y="573740"/>
            <a:ext cx="9694832" cy="747059"/>
          </a:xfrm>
        </p:spPr>
        <p:txBody>
          <a:bodyPr/>
          <a:lstStyle/>
          <a:p>
            <a:r>
              <a:rPr lang="en-US" dirty="0"/>
              <a:t>Random Forest</a:t>
            </a:r>
          </a:p>
        </p:txBody>
      </p:sp>
      <p:pic>
        <p:nvPicPr>
          <p:cNvPr id="4" name="Resim 3">
            <a:extLst>
              <a:ext uri="{FF2B5EF4-FFF2-40B4-BE49-F238E27FC236}">
                <a16:creationId xmlns:a16="http://schemas.microsoft.com/office/drawing/2014/main" id="{FE0860EE-0EB1-B2DC-8038-45BAFDADCD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203" y="1747603"/>
            <a:ext cx="10707594" cy="3362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945722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C0B517-1F5D-F437-554E-EA09CFBDCE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640840-5812-5E19-E5FC-F0F942CBEC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072" y="403412"/>
            <a:ext cx="9694832" cy="917388"/>
          </a:xfrm>
        </p:spPr>
        <p:txBody>
          <a:bodyPr/>
          <a:lstStyle/>
          <a:p>
            <a:r>
              <a:rPr lang="en-US" dirty="0"/>
              <a:t>Random Forest</a:t>
            </a:r>
          </a:p>
        </p:txBody>
      </p:sp>
      <p:pic>
        <p:nvPicPr>
          <p:cNvPr id="4" name="Resim 3">
            <a:extLst>
              <a:ext uri="{FF2B5EF4-FFF2-40B4-BE49-F238E27FC236}">
                <a16:creationId xmlns:a16="http://schemas.microsoft.com/office/drawing/2014/main" id="{35409C81-5C61-0678-711E-758BE45E9A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4862" y="1518971"/>
            <a:ext cx="8602275" cy="3820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071526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A24B4E-354F-F060-2035-D52E6E6F9E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F0CBD4-9F9F-51BA-7FBF-725477B3F9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072" y="394446"/>
            <a:ext cx="9694832" cy="926353"/>
          </a:xfrm>
        </p:spPr>
        <p:txBody>
          <a:bodyPr/>
          <a:lstStyle/>
          <a:p>
            <a:r>
              <a:rPr lang="en-US" dirty="0" err="1"/>
              <a:t>Yapay</a:t>
            </a:r>
            <a:r>
              <a:rPr lang="en-US" dirty="0"/>
              <a:t> </a:t>
            </a:r>
            <a:r>
              <a:rPr lang="en-US" dirty="0" err="1"/>
              <a:t>Sinir</a:t>
            </a:r>
            <a:r>
              <a:rPr lang="en-US" dirty="0"/>
              <a:t> </a:t>
            </a:r>
            <a:r>
              <a:rPr lang="en-US" dirty="0" err="1"/>
              <a:t>Ağları</a:t>
            </a:r>
            <a:endParaRPr lang="en-US" dirty="0"/>
          </a:p>
        </p:txBody>
      </p:sp>
      <p:pic>
        <p:nvPicPr>
          <p:cNvPr id="4" name="Resim 3">
            <a:extLst>
              <a:ext uri="{FF2B5EF4-FFF2-40B4-BE49-F238E27FC236}">
                <a16:creationId xmlns:a16="http://schemas.microsoft.com/office/drawing/2014/main" id="{8C7092C9-BB3F-C753-D52F-5D6762ACC3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08868"/>
            <a:ext cx="12192000" cy="3641534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28FEF2-D63F-284D-2CD0-A77A138E1F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1013012"/>
            <a:ext cx="8596668" cy="914235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ann.py</a:t>
            </a:r>
          </a:p>
          <a:p>
            <a:pPr marL="914400" lvl="2" indent="0">
              <a:lnSpc>
                <a:spcPct val="150000"/>
              </a:lnSpc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607377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34AF5B-FE62-ED72-5F0D-EA3E30C1CB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7B1E30-1DBB-2362-D461-1DE6973FBA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072" y="0"/>
            <a:ext cx="9694832" cy="1320800"/>
          </a:xfrm>
        </p:spPr>
        <p:txBody>
          <a:bodyPr/>
          <a:lstStyle/>
          <a:p>
            <a:r>
              <a:rPr lang="en-US" dirty="0" err="1"/>
              <a:t>Yapay</a:t>
            </a:r>
            <a:r>
              <a:rPr lang="en-US" dirty="0"/>
              <a:t> </a:t>
            </a:r>
            <a:r>
              <a:rPr lang="en-US" dirty="0" err="1"/>
              <a:t>Sinir</a:t>
            </a:r>
            <a:r>
              <a:rPr lang="en-US" dirty="0"/>
              <a:t> </a:t>
            </a:r>
            <a:r>
              <a:rPr lang="en-US" dirty="0" err="1"/>
              <a:t>Ağları</a:t>
            </a:r>
            <a:endParaRPr lang="en-US" dirty="0"/>
          </a:p>
        </p:txBody>
      </p:sp>
      <p:pic>
        <p:nvPicPr>
          <p:cNvPr id="4" name="Resim 3">
            <a:extLst>
              <a:ext uri="{FF2B5EF4-FFF2-40B4-BE49-F238E27FC236}">
                <a16:creationId xmlns:a16="http://schemas.microsoft.com/office/drawing/2014/main" id="{DD31B410-57DB-0876-4F2C-BE80A7E1E9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413" y="785130"/>
            <a:ext cx="10193173" cy="5753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635594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2446E2-FD73-23E5-E897-DA4E0C6A25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225361-4BBA-4DE7-82E4-1DE5A3395D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072" y="0"/>
            <a:ext cx="9694832" cy="1320800"/>
          </a:xfrm>
        </p:spPr>
        <p:txBody>
          <a:bodyPr/>
          <a:lstStyle/>
          <a:p>
            <a:r>
              <a:rPr lang="en-US" dirty="0" err="1"/>
              <a:t>Yapay</a:t>
            </a:r>
            <a:r>
              <a:rPr lang="en-US" dirty="0"/>
              <a:t> </a:t>
            </a:r>
            <a:r>
              <a:rPr lang="en-US" dirty="0" err="1"/>
              <a:t>Sinir</a:t>
            </a:r>
            <a:r>
              <a:rPr lang="en-US" dirty="0"/>
              <a:t> </a:t>
            </a:r>
            <a:r>
              <a:rPr lang="en-US" dirty="0" err="1"/>
              <a:t>Ağları</a:t>
            </a:r>
            <a:endParaRPr lang="en-US" dirty="0"/>
          </a:p>
        </p:txBody>
      </p:sp>
      <p:pic>
        <p:nvPicPr>
          <p:cNvPr id="6" name="Resim 5">
            <a:extLst>
              <a:ext uri="{FF2B5EF4-FFF2-40B4-BE49-F238E27FC236}">
                <a16:creationId xmlns:a16="http://schemas.microsoft.com/office/drawing/2014/main" id="{C94246B3-395C-ECAD-437D-4E9440927A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624" y="694983"/>
            <a:ext cx="7254752" cy="6163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135898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E99192-A6D3-CCD7-2925-2BC446570B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DE5D8B-7C9D-54DB-922B-123FDD90A2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072" y="0"/>
            <a:ext cx="9694832" cy="1320800"/>
          </a:xfrm>
        </p:spPr>
        <p:txBody>
          <a:bodyPr/>
          <a:lstStyle/>
          <a:p>
            <a:r>
              <a:rPr lang="en-US" dirty="0" err="1"/>
              <a:t>Yapay</a:t>
            </a:r>
            <a:r>
              <a:rPr lang="en-US" dirty="0"/>
              <a:t> </a:t>
            </a:r>
            <a:r>
              <a:rPr lang="en-US" dirty="0" err="1"/>
              <a:t>Sinir</a:t>
            </a:r>
            <a:r>
              <a:rPr lang="en-US" dirty="0"/>
              <a:t> </a:t>
            </a:r>
            <a:r>
              <a:rPr lang="en-US" dirty="0" err="1"/>
              <a:t>Ağları</a:t>
            </a:r>
            <a:endParaRPr lang="en-US" dirty="0"/>
          </a:p>
        </p:txBody>
      </p:sp>
      <p:pic>
        <p:nvPicPr>
          <p:cNvPr id="4" name="Resim 3">
            <a:extLst>
              <a:ext uri="{FF2B5EF4-FFF2-40B4-BE49-F238E27FC236}">
                <a16:creationId xmlns:a16="http://schemas.microsoft.com/office/drawing/2014/main" id="{EDDFF6DF-0B9C-BF4A-4033-51C0FC7744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3462" y="596190"/>
            <a:ext cx="7045076" cy="6154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184362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550D2F-95CD-0817-A9CA-61D3DE8660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87CAB-A363-0347-B2DF-F5901D0A3A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072" y="0"/>
            <a:ext cx="9694832" cy="1320800"/>
          </a:xfrm>
        </p:spPr>
        <p:txBody>
          <a:bodyPr/>
          <a:lstStyle/>
          <a:p>
            <a:r>
              <a:rPr lang="en-US" dirty="0" err="1"/>
              <a:t>Yapay</a:t>
            </a:r>
            <a:r>
              <a:rPr lang="en-US" dirty="0"/>
              <a:t> </a:t>
            </a:r>
            <a:r>
              <a:rPr lang="en-US" dirty="0" err="1"/>
              <a:t>Sinir</a:t>
            </a:r>
            <a:r>
              <a:rPr lang="en-US" dirty="0"/>
              <a:t> </a:t>
            </a:r>
            <a:r>
              <a:rPr lang="en-US" dirty="0" err="1"/>
              <a:t>Ağları</a:t>
            </a:r>
            <a:endParaRPr lang="en-US" dirty="0"/>
          </a:p>
        </p:txBody>
      </p:sp>
      <p:pic>
        <p:nvPicPr>
          <p:cNvPr id="4" name="Resim 3">
            <a:extLst>
              <a:ext uri="{FF2B5EF4-FFF2-40B4-BE49-F238E27FC236}">
                <a16:creationId xmlns:a16="http://schemas.microsoft.com/office/drawing/2014/main" id="{3392F15A-1BAE-4BCE-E63C-9929B672AB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1268" y="682231"/>
            <a:ext cx="6389463" cy="6175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91427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30953F-DE70-2B9F-6018-EC0D4F66DE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B36655-AC6A-EC9F-FD1E-DE6D149AA0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072" y="0"/>
            <a:ext cx="9694832" cy="1320800"/>
          </a:xfrm>
        </p:spPr>
        <p:txBody>
          <a:bodyPr/>
          <a:lstStyle/>
          <a:p>
            <a:r>
              <a:rPr lang="en-US" dirty="0" err="1"/>
              <a:t>Yapay</a:t>
            </a:r>
            <a:r>
              <a:rPr lang="en-US" dirty="0"/>
              <a:t> </a:t>
            </a:r>
            <a:r>
              <a:rPr lang="en-US" dirty="0" err="1"/>
              <a:t>Sinir</a:t>
            </a:r>
            <a:r>
              <a:rPr lang="en-US" dirty="0"/>
              <a:t> </a:t>
            </a:r>
            <a:r>
              <a:rPr lang="en-US" dirty="0" err="1"/>
              <a:t>Ağları</a:t>
            </a:r>
            <a:endParaRPr lang="en-US" dirty="0"/>
          </a:p>
        </p:txBody>
      </p:sp>
      <p:pic>
        <p:nvPicPr>
          <p:cNvPr id="4" name="Resim 3">
            <a:extLst>
              <a:ext uri="{FF2B5EF4-FFF2-40B4-BE49-F238E27FC236}">
                <a16:creationId xmlns:a16="http://schemas.microsoft.com/office/drawing/2014/main" id="{32250072-502B-A895-7B46-57ED19440B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3094" y="663177"/>
            <a:ext cx="6565812" cy="6194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269387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2F2007-F646-7180-82CF-A183BAD796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A4A002-7B30-F61A-0557-A7886FFF78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072" y="0"/>
            <a:ext cx="9694832" cy="1320800"/>
          </a:xfrm>
        </p:spPr>
        <p:txBody>
          <a:bodyPr/>
          <a:lstStyle/>
          <a:p>
            <a:r>
              <a:rPr lang="en-US" dirty="0" err="1"/>
              <a:t>Yapay</a:t>
            </a:r>
            <a:r>
              <a:rPr lang="en-US" dirty="0"/>
              <a:t> </a:t>
            </a:r>
            <a:r>
              <a:rPr lang="en-US" dirty="0" err="1"/>
              <a:t>Sinir</a:t>
            </a:r>
            <a:r>
              <a:rPr lang="en-US" dirty="0"/>
              <a:t> </a:t>
            </a:r>
            <a:r>
              <a:rPr lang="en-US" dirty="0" err="1"/>
              <a:t>Ağları</a:t>
            </a:r>
            <a:endParaRPr lang="en-US" dirty="0"/>
          </a:p>
        </p:txBody>
      </p:sp>
      <p:pic>
        <p:nvPicPr>
          <p:cNvPr id="4" name="Resim 3">
            <a:extLst>
              <a:ext uri="{FF2B5EF4-FFF2-40B4-BE49-F238E27FC236}">
                <a16:creationId xmlns:a16="http://schemas.microsoft.com/office/drawing/2014/main" id="{83DB682A-CC20-6F39-32DC-51C87EB457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7244" y="753035"/>
            <a:ext cx="7197511" cy="6104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464278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4924CC-C30F-30C2-E6D8-9D64C148DC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89A8A-7626-31B5-3E19-21CD2A5F59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072" y="510988"/>
            <a:ext cx="9694832" cy="809812"/>
          </a:xfrm>
        </p:spPr>
        <p:txBody>
          <a:bodyPr/>
          <a:lstStyle/>
          <a:p>
            <a:r>
              <a:rPr lang="en-US" dirty="0" err="1"/>
              <a:t>Yapay</a:t>
            </a:r>
            <a:r>
              <a:rPr lang="en-US" dirty="0"/>
              <a:t> </a:t>
            </a:r>
            <a:r>
              <a:rPr lang="en-US" dirty="0" err="1"/>
              <a:t>Sinir</a:t>
            </a:r>
            <a:r>
              <a:rPr lang="en-US" dirty="0"/>
              <a:t> </a:t>
            </a:r>
            <a:r>
              <a:rPr lang="en-US" dirty="0" err="1"/>
              <a:t>Ağları</a:t>
            </a:r>
            <a:endParaRPr lang="en-US" dirty="0"/>
          </a:p>
        </p:txBody>
      </p:sp>
      <p:pic>
        <p:nvPicPr>
          <p:cNvPr id="4" name="Resim 3">
            <a:extLst>
              <a:ext uri="{FF2B5EF4-FFF2-40B4-BE49-F238E27FC236}">
                <a16:creationId xmlns:a16="http://schemas.microsoft.com/office/drawing/2014/main" id="{6EC74D6E-6CA8-4EE0-BAC9-899DC2A703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7730" y="2190577"/>
            <a:ext cx="8516539" cy="2476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279667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47E3AE-1D38-329B-3DD5-833E981793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4DB30F-243E-81F0-2D11-9275C3AE02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072" y="0"/>
            <a:ext cx="9694832" cy="1320800"/>
          </a:xfrm>
        </p:spPr>
        <p:txBody>
          <a:bodyPr/>
          <a:lstStyle/>
          <a:p>
            <a:r>
              <a:rPr lang="en-US" dirty="0" err="1"/>
              <a:t>Yapay</a:t>
            </a:r>
            <a:r>
              <a:rPr lang="en-US" dirty="0"/>
              <a:t> </a:t>
            </a:r>
            <a:r>
              <a:rPr lang="en-US" dirty="0" err="1"/>
              <a:t>Sinir</a:t>
            </a:r>
            <a:r>
              <a:rPr lang="en-US" dirty="0"/>
              <a:t> </a:t>
            </a:r>
            <a:r>
              <a:rPr lang="en-US" dirty="0" err="1"/>
              <a:t>Ağları</a:t>
            </a:r>
            <a:endParaRPr lang="en-US" dirty="0"/>
          </a:p>
        </p:txBody>
      </p:sp>
      <p:pic>
        <p:nvPicPr>
          <p:cNvPr id="4" name="Resim 3">
            <a:extLst>
              <a:ext uri="{FF2B5EF4-FFF2-40B4-BE49-F238E27FC236}">
                <a16:creationId xmlns:a16="http://schemas.microsoft.com/office/drawing/2014/main" id="{7EC3143D-A876-383F-241D-8B2C1AFE4C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4941" y="754597"/>
            <a:ext cx="8002117" cy="5725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814262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F69FEF-D69A-686B-EE82-54BB7EE2C0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0B52D1-4C52-B987-52EC-CB0FEA5767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072" y="259976"/>
            <a:ext cx="9694832" cy="1060824"/>
          </a:xfrm>
        </p:spPr>
        <p:txBody>
          <a:bodyPr/>
          <a:lstStyle/>
          <a:p>
            <a:r>
              <a:rPr lang="en-US" dirty="0" err="1"/>
              <a:t>Yapay</a:t>
            </a:r>
            <a:r>
              <a:rPr lang="en-US" dirty="0"/>
              <a:t> </a:t>
            </a:r>
            <a:r>
              <a:rPr lang="en-US" dirty="0" err="1"/>
              <a:t>Sinir</a:t>
            </a:r>
            <a:r>
              <a:rPr lang="en-US" dirty="0"/>
              <a:t> </a:t>
            </a:r>
            <a:r>
              <a:rPr lang="en-US" dirty="0" err="1"/>
              <a:t>Ağları</a:t>
            </a:r>
            <a:endParaRPr lang="en-US" dirty="0"/>
          </a:p>
        </p:txBody>
      </p:sp>
      <p:pic>
        <p:nvPicPr>
          <p:cNvPr id="4" name="Resim 3">
            <a:extLst>
              <a:ext uri="{FF2B5EF4-FFF2-40B4-BE49-F238E27FC236}">
                <a16:creationId xmlns:a16="http://schemas.microsoft.com/office/drawing/2014/main" id="{194FA57B-5ECF-A56F-79A8-090F160676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6521" y="1154973"/>
            <a:ext cx="6858957" cy="5068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063746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6DEF79-958A-65E9-CC9A-9396A29C62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31970-7153-B86A-018B-27EAF68860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072" y="493058"/>
            <a:ext cx="9694832" cy="827741"/>
          </a:xfrm>
        </p:spPr>
        <p:txBody>
          <a:bodyPr/>
          <a:lstStyle/>
          <a:p>
            <a:r>
              <a:rPr lang="en-US" dirty="0" err="1"/>
              <a:t>Yapay</a:t>
            </a:r>
            <a:r>
              <a:rPr lang="en-US" dirty="0"/>
              <a:t> </a:t>
            </a:r>
            <a:r>
              <a:rPr lang="en-US" dirty="0" err="1"/>
              <a:t>Sinir</a:t>
            </a:r>
            <a:r>
              <a:rPr lang="en-US" dirty="0"/>
              <a:t> </a:t>
            </a:r>
            <a:r>
              <a:rPr lang="en-US" dirty="0" err="1"/>
              <a:t>Ağları</a:t>
            </a:r>
            <a:endParaRPr lang="en-US" dirty="0"/>
          </a:p>
        </p:txBody>
      </p:sp>
      <p:pic>
        <p:nvPicPr>
          <p:cNvPr id="4" name="Resim 3">
            <a:extLst>
              <a:ext uri="{FF2B5EF4-FFF2-40B4-BE49-F238E27FC236}">
                <a16:creationId xmlns:a16="http://schemas.microsoft.com/office/drawing/2014/main" id="{6CD963E9-ADC0-63BD-FE20-9C08DD3884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6968" y="1823813"/>
            <a:ext cx="7078063" cy="3210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467321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2BF0EF-9F35-A24C-B546-E528D6DB89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552041-AE9F-DD0A-E16B-6490CFC44A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072" y="448234"/>
            <a:ext cx="9694832" cy="872565"/>
          </a:xfrm>
        </p:spPr>
        <p:txBody>
          <a:bodyPr/>
          <a:lstStyle/>
          <a:p>
            <a:r>
              <a:rPr lang="en-US" dirty="0" err="1"/>
              <a:t>Sonuçlar</a:t>
            </a:r>
            <a:endParaRPr lang="en-US" dirty="0"/>
          </a:p>
        </p:txBody>
      </p:sp>
      <p:graphicFrame>
        <p:nvGraphicFramePr>
          <p:cNvPr id="5" name="Tablo 4">
            <a:extLst>
              <a:ext uri="{FF2B5EF4-FFF2-40B4-BE49-F238E27FC236}">
                <a16:creationId xmlns:a16="http://schemas.microsoft.com/office/drawing/2014/main" id="{55145DAC-6B26-AD41-725E-B567940E05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561424"/>
              </p:ext>
            </p:extLst>
          </p:nvPr>
        </p:nvGraphicFramePr>
        <p:xfrm>
          <a:off x="1813933" y="1432560"/>
          <a:ext cx="6684608" cy="199644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670795">
                  <a:extLst>
                    <a:ext uri="{9D8B030D-6E8A-4147-A177-3AD203B41FA5}">
                      <a16:colId xmlns:a16="http://schemas.microsoft.com/office/drawing/2014/main" val="389547085"/>
                    </a:ext>
                  </a:extLst>
                </a:gridCol>
                <a:gridCol w="1670795">
                  <a:extLst>
                    <a:ext uri="{9D8B030D-6E8A-4147-A177-3AD203B41FA5}">
                      <a16:colId xmlns:a16="http://schemas.microsoft.com/office/drawing/2014/main" val="2068214416"/>
                    </a:ext>
                  </a:extLst>
                </a:gridCol>
                <a:gridCol w="1671509">
                  <a:extLst>
                    <a:ext uri="{9D8B030D-6E8A-4147-A177-3AD203B41FA5}">
                      <a16:colId xmlns:a16="http://schemas.microsoft.com/office/drawing/2014/main" val="3045222829"/>
                    </a:ext>
                  </a:extLst>
                </a:gridCol>
                <a:gridCol w="1671509">
                  <a:extLst>
                    <a:ext uri="{9D8B030D-6E8A-4147-A177-3AD203B41FA5}">
                      <a16:colId xmlns:a16="http://schemas.microsoft.com/office/drawing/2014/main" val="2315569936"/>
                    </a:ext>
                  </a:extLst>
                </a:gridCol>
              </a:tblGrid>
              <a:tr h="3327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1200"/>
                        </a:spcAft>
                      </a:pPr>
                      <a:r>
                        <a:rPr lang="en-US" sz="1200" kern="100">
                          <a:effectLst/>
                        </a:rPr>
                        <a:t>Bileşen grubu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1200"/>
                        </a:spcAft>
                      </a:pPr>
                      <a:r>
                        <a:rPr lang="en-US" sz="1200" kern="100">
                          <a:effectLst/>
                        </a:rPr>
                        <a:t>R</a:t>
                      </a:r>
                      <a:r>
                        <a:rPr lang="en-US" sz="1200" kern="100" baseline="30000">
                          <a:effectLst/>
                        </a:rPr>
                        <a:t>2</a:t>
                      </a:r>
                      <a:r>
                        <a:rPr lang="en-US" sz="1200" kern="100">
                          <a:effectLst/>
                        </a:rPr>
                        <a:t> değeri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1200"/>
                        </a:spcAft>
                      </a:pPr>
                      <a:r>
                        <a:rPr lang="en-US" sz="1200" kern="100">
                          <a:effectLst/>
                        </a:rPr>
                        <a:t>RMSE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1200"/>
                        </a:spcAft>
                      </a:pPr>
                      <a:r>
                        <a:rPr lang="en-US" sz="1200" kern="100">
                          <a:effectLst/>
                        </a:rPr>
                        <a:t>En önemli parametre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8957328"/>
                  </a:ext>
                </a:extLst>
              </a:tr>
              <a:tr h="3327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1200"/>
                        </a:spcAft>
                      </a:pPr>
                      <a:r>
                        <a:rPr lang="en-US" sz="1200" kern="100">
                          <a:effectLst/>
                        </a:rPr>
                        <a:t>Sıvı ürün verimi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1200"/>
                        </a:spcAft>
                      </a:pPr>
                      <a:r>
                        <a:rPr lang="en-US" sz="1200" kern="100">
                          <a:effectLst/>
                        </a:rPr>
                        <a:t>0,93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1200"/>
                        </a:spcAft>
                      </a:pPr>
                      <a:r>
                        <a:rPr lang="en-US" sz="1200" kern="100">
                          <a:effectLst/>
                        </a:rPr>
                        <a:t>3,52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1200"/>
                        </a:spcAft>
                      </a:pPr>
                      <a:r>
                        <a:rPr lang="en-US" sz="1200" kern="100">
                          <a:effectLst/>
                        </a:rPr>
                        <a:t>Uçucu madde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5575280"/>
                  </a:ext>
                </a:extLst>
              </a:tr>
              <a:tr h="3327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1200"/>
                        </a:spcAft>
                      </a:pPr>
                      <a:r>
                        <a:rPr lang="en-US" sz="1200" kern="100">
                          <a:effectLst/>
                        </a:rPr>
                        <a:t>Aromatikler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1200"/>
                        </a:spcAft>
                      </a:pPr>
                      <a:r>
                        <a:rPr lang="en-US" sz="1200" kern="100">
                          <a:effectLst/>
                        </a:rPr>
                        <a:t>0,83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1200"/>
                        </a:spcAft>
                      </a:pPr>
                      <a:r>
                        <a:rPr lang="en-US" sz="1200" kern="100">
                          <a:effectLst/>
                        </a:rPr>
                        <a:t>8,09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1200"/>
                        </a:spcAft>
                      </a:pPr>
                      <a:r>
                        <a:rPr lang="en-US" sz="1200" kern="100">
                          <a:effectLst/>
                        </a:rPr>
                        <a:t>Azot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01988267"/>
                  </a:ext>
                </a:extLst>
              </a:tr>
              <a:tr h="3327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1200"/>
                        </a:spcAft>
                      </a:pPr>
                      <a:r>
                        <a:rPr lang="en-US" sz="1200" kern="100">
                          <a:effectLst/>
                        </a:rPr>
                        <a:t>Asitler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1200"/>
                        </a:spcAft>
                      </a:pPr>
                      <a:r>
                        <a:rPr lang="en-US" sz="1200" kern="100">
                          <a:effectLst/>
                        </a:rPr>
                        <a:t>0,88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1200"/>
                        </a:spcAft>
                      </a:pPr>
                      <a:r>
                        <a:rPr lang="en-US" sz="1200" kern="100">
                          <a:effectLst/>
                        </a:rPr>
                        <a:t>5,24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1200"/>
                        </a:spcAft>
                      </a:pPr>
                      <a:r>
                        <a:rPr lang="en-US" sz="1200" kern="100">
                          <a:effectLst/>
                        </a:rPr>
                        <a:t>Azot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6417306"/>
                  </a:ext>
                </a:extLst>
              </a:tr>
              <a:tr h="3327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1200"/>
                        </a:spcAft>
                      </a:pPr>
                      <a:r>
                        <a:rPr lang="en-US" sz="1200" kern="100">
                          <a:effectLst/>
                        </a:rPr>
                        <a:t>Aldehit ve ketonlar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1200"/>
                        </a:spcAft>
                      </a:pPr>
                      <a:r>
                        <a:rPr lang="en-US" sz="1200" kern="100" dirty="0">
                          <a:effectLst/>
                        </a:rPr>
                        <a:t>0,81</a:t>
                      </a:r>
                      <a:endParaRPr lang="en-US" sz="12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1200"/>
                        </a:spcAft>
                      </a:pPr>
                      <a:r>
                        <a:rPr lang="en-US" sz="1200" kern="100">
                          <a:effectLst/>
                        </a:rPr>
                        <a:t>1,73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1200"/>
                        </a:spcAft>
                      </a:pPr>
                      <a:r>
                        <a:rPr lang="en-US" sz="1200" kern="100">
                          <a:effectLst/>
                        </a:rPr>
                        <a:t>Gaz akış hızı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31983203"/>
                  </a:ext>
                </a:extLst>
              </a:tr>
              <a:tr h="3327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1200"/>
                        </a:spcAft>
                      </a:pPr>
                      <a:r>
                        <a:rPr lang="en-US" sz="1200" kern="100">
                          <a:effectLst/>
                        </a:rPr>
                        <a:t>Fenoller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1200"/>
                        </a:spcAft>
                      </a:pPr>
                      <a:r>
                        <a:rPr lang="en-US" sz="1200" kern="100">
                          <a:effectLst/>
                        </a:rPr>
                        <a:t>0,56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1200"/>
                        </a:spcAft>
                      </a:pPr>
                      <a:r>
                        <a:rPr lang="en-US" sz="1200" kern="100">
                          <a:effectLst/>
                        </a:rPr>
                        <a:t>7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1200"/>
                        </a:spcAft>
                      </a:pPr>
                      <a:r>
                        <a:rPr lang="en-US" sz="1200" kern="100" dirty="0" err="1">
                          <a:effectLst/>
                        </a:rPr>
                        <a:t>Katalizör</a:t>
                      </a:r>
                      <a:r>
                        <a:rPr lang="en-US" sz="1200" kern="100" dirty="0">
                          <a:effectLst/>
                        </a:rPr>
                        <a:t>/</a:t>
                      </a:r>
                      <a:r>
                        <a:rPr lang="en-US" sz="1200" kern="100" dirty="0" err="1">
                          <a:effectLst/>
                        </a:rPr>
                        <a:t>biyokütle</a:t>
                      </a:r>
                      <a:endParaRPr lang="en-US" sz="1200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44286110"/>
                  </a:ext>
                </a:extLst>
              </a:tr>
            </a:tbl>
          </a:graphicData>
        </a:graphic>
      </p:graphicFrame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174DD09-88DF-59C8-9622-5944816A12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3540760"/>
            <a:ext cx="8596668" cy="320777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 err="1"/>
              <a:t>Diğer</a:t>
            </a:r>
            <a:r>
              <a:rPr lang="en-US" dirty="0"/>
              <a:t> </a:t>
            </a:r>
            <a:r>
              <a:rPr lang="en-US" dirty="0" err="1"/>
              <a:t>bileşenler</a:t>
            </a:r>
            <a:r>
              <a:rPr lang="en-US" dirty="0"/>
              <a:t>:</a:t>
            </a:r>
          </a:p>
          <a:p>
            <a:pPr lvl="1">
              <a:lnSpc>
                <a:spcPct val="150000"/>
              </a:lnSpc>
            </a:pPr>
            <a:r>
              <a:rPr lang="en-US" dirty="0" err="1"/>
              <a:t>Geliştirilebilecek</a:t>
            </a:r>
            <a:r>
              <a:rPr lang="en-US" dirty="0"/>
              <a:t> </a:t>
            </a:r>
            <a:r>
              <a:rPr lang="en-US" dirty="0" err="1"/>
              <a:t>olanlar</a:t>
            </a:r>
            <a:r>
              <a:rPr lang="en-US" dirty="0"/>
              <a:t>:</a:t>
            </a:r>
          </a:p>
          <a:p>
            <a:pPr lvl="2">
              <a:lnSpc>
                <a:spcPct val="150000"/>
              </a:lnSpc>
            </a:pPr>
            <a:r>
              <a:rPr lang="en-US" dirty="0" err="1"/>
              <a:t>Alkoller</a:t>
            </a:r>
            <a:r>
              <a:rPr lang="en-US" dirty="0"/>
              <a:t> (0,17), </a:t>
            </a:r>
            <a:r>
              <a:rPr lang="en-US" dirty="0" err="1"/>
              <a:t>Furanlar</a:t>
            </a:r>
            <a:r>
              <a:rPr lang="en-US" dirty="0"/>
              <a:t> (0.46), </a:t>
            </a:r>
            <a:r>
              <a:rPr lang="en-US" dirty="0" err="1"/>
              <a:t>Fenoller</a:t>
            </a:r>
            <a:r>
              <a:rPr lang="en-US" dirty="0"/>
              <a:t> (0,56)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 </a:t>
            </a:r>
            <a:r>
              <a:rPr lang="en-US" dirty="0" err="1"/>
              <a:t>Başarısız</a:t>
            </a:r>
            <a:r>
              <a:rPr lang="en-US" dirty="0"/>
              <a:t> Kabul </a:t>
            </a:r>
            <a:r>
              <a:rPr lang="en-US" dirty="0" err="1"/>
              <a:t>edilenler</a:t>
            </a:r>
            <a:r>
              <a:rPr lang="en-US" dirty="0"/>
              <a:t>:</a:t>
            </a:r>
          </a:p>
          <a:p>
            <a:pPr lvl="2">
              <a:lnSpc>
                <a:spcPct val="150000"/>
              </a:lnSpc>
            </a:pPr>
            <a:r>
              <a:rPr lang="en-US" dirty="0" err="1"/>
              <a:t>Alifatikler</a:t>
            </a:r>
            <a:r>
              <a:rPr lang="en-US" dirty="0"/>
              <a:t>, </a:t>
            </a:r>
            <a:r>
              <a:rPr lang="en-US" dirty="0" err="1"/>
              <a:t>esterler</a:t>
            </a:r>
            <a:r>
              <a:rPr lang="en-US" dirty="0"/>
              <a:t>, </a:t>
            </a:r>
            <a:r>
              <a:rPr lang="en-US" dirty="0" err="1"/>
              <a:t>oksitler</a:t>
            </a:r>
            <a:r>
              <a:rPr lang="en-US" dirty="0"/>
              <a:t>, </a:t>
            </a:r>
            <a:r>
              <a:rPr lang="en-US" dirty="0" err="1"/>
              <a:t>şekerler</a:t>
            </a:r>
            <a:endParaRPr lang="en-US" dirty="0"/>
          </a:p>
          <a:p>
            <a:pPr marL="914400" lvl="2" indent="0">
              <a:lnSpc>
                <a:spcPct val="150000"/>
              </a:lnSpc>
              <a:buNone/>
            </a:pPr>
            <a:endParaRPr lang="en-US" dirty="0"/>
          </a:p>
          <a:p>
            <a:pPr marL="914400" lvl="2" indent="0">
              <a:lnSpc>
                <a:spcPct val="150000"/>
              </a:lnSpc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440584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1486D3-25CB-FCA2-7CE4-A94A4F4EFF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5AEE29-3A9F-4570-8179-5C3B58F606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072" y="412376"/>
            <a:ext cx="9694832" cy="908424"/>
          </a:xfrm>
        </p:spPr>
        <p:txBody>
          <a:bodyPr/>
          <a:lstStyle/>
          <a:p>
            <a:r>
              <a:rPr lang="en-US" dirty="0" err="1"/>
              <a:t>Sonuçlar</a:t>
            </a:r>
            <a:endParaRPr lang="en-US" dirty="0"/>
          </a:p>
        </p:txBody>
      </p:sp>
      <p:pic>
        <p:nvPicPr>
          <p:cNvPr id="3" name="Resim 2">
            <a:extLst>
              <a:ext uri="{FF2B5EF4-FFF2-40B4-BE49-F238E27FC236}">
                <a16:creationId xmlns:a16="http://schemas.microsoft.com/office/drawing/2014/main" id="{C52AA006-D50E-4C37-0AA4-E7BE25F1507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768" b="6570"/>
          <a:stretch/>
        </p:blipFill>
        <p:spPr bwMode="auto">
          <a:xfrm>
            <a:off x="440404" y="1889441"/>
            <a:ext cx="5105400" cy="307911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4" name="Resim 3">
            <a:extLst>
              <a:ext uri="{FF2B5EF4-FFF2-40B4-BE49-F238E27FC236}">
                <a16:creationId xmlns:a16="http://schemas.microsoft.com/office/drawing/2014/main" id="{A107F80A-5681-397F-8CBF-D8D923F4647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766" b="4964"/>
          <a:stretch/>
        </p:blipFill>
        <p:spPr bwMode="auto">
          <a:xfrm>
            <a:off x="5545804" y="983614"/>
            <a:ext cx="4864100" cy="489077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99295516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52E019-40DD-CD57-9FE9-828038150A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388EFB-F749-F1BA-9224-A66842DAF4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072" y="1"/>
            <a:ext cx="9694832" cy="1320800"/>
          </a:xfrm>
        </p:spPr>
        <p:txBody>
          <a:bodyPr/>
          <a:lstStyle/>
          <a:p>
            <a:r>
              <a:rPr lang="en-US" dirty="0" err="1"/>
              <a:t>Sonuçlar</a:t>
            </a:r>
            <a:endParaRPr lang="en-US" dirty="0"/>
          </a:p>
        </p:txBody>
      </p:sp>
      <p:pic>
        <p:nvPicPr>
          <p:cNvPr id="5" name="Resim 4">
            <a:extLst>
              <a:ext uri="{FF2B5EF4-FFF2-40B4-BE49-F238E27FC236}">
                <a16:creationId xmlns:a16="http://schemas.microsoft.com/office/drawing/2014/main" id="{211B6CA3-BBC2-A7F0-8F80-2FCB913380F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963" b="6995"/>
          <a:stretch/>
        </p:blipFill>
        <p:spPr bwMode="auto">
          <a:xfrm>
            <a:off x="93868" y="575011"/>
            <a:ext cx="5400040" cy="319786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7" name="Resim 6">
            <a:extLst>
              <a:ext uri="{FF2B5EF4-FFF2-40B4-BE49-F238E27FC236}">
                <a16:creationId xmlns:a16="http://schemas.microsoft.com/office/drawing/2014/main" id="{AE3368BC-1404-5AC0-B108-AB797941690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4531" b="6561"/>
          <a:stretch/>
        </p:blipFill>
        <p:spPr bwMode="auto">
          <a:xfrm>
            <a:off x="5631703" y="486512"/>
            <a:ext cx="5158105" cy="308483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8" name="Resim 7">
            <a:extLst>
              <a:ext uri="{FF2B5EF4-FFF2-40B4-BE49-F238E27FC236}">
                <a16:creationId xmlns:a16="http://schemas.microsoft.com/office/drawing/2014/main" id="{6BFF9880-F916-301B-E6D3-C44AF8938D0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6042" r="280" b="7426"/>
          <a:stretch/>
        </p:blipFill>
        <p:spPr bwMode="auto">
          <a:xfrm>
            <a:off x="5631703" y="3645478"/>
            <a:ext cx="5261610" cy="307086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9" name="Resim 8">
            <a:extLst>
              <a:ext uri="{FF2B5EF4-FFF2-40B4-BE49-F238E27FC236}">
                <a16:creationId xmlns:a16="http://schemas.microsoft.com/office/drawing/2014/main" id="{95B192EC-5C38-5772-321D-3D9090139E14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5394" r="429" b="6782"/>
          <a:stretch/>
        </p:blipFill>
        <p:spPr bwMode="auto">
          <a:xfrm>
            <a:off x="-43927" y="3497206"/>
            <a:ext cx="5675630" cy="336740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83250377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6ACBAB-1665-AADA-E023-14D671047A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9202E2-D5BC-7EDB-57A0-6C73067BA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072" y="1"/>
            <a:ext cx="9694832" cy="1320800"/>
          </a:xfrm>
        </p:spPr>
        <p:txBody>
          <a:bodyPr/>
          <a:lstStyle/>
          <a:p>
            <a:r>
              <a:rPr lang="en-US" dirty="0" err="1"/>
              <a:t>Sonuçlar</a:t>
            </a:r>
            <a:endParaRPr lang="en-US" dirty="0"/>
          </a:p>
        </p:txBody>
      </p:sp>
      <p:pic>
        <p:nvPicPr>
          <p:cNvPr id="3" name="Resim 2">
            <a:extLst>
              <a:ext uri="{FF2B5EF4-FFF2-40B4-BE49-F238E27FC236}">
                <a16:creationId xmlns:a16="http://schemas.microsoft.com/office/drawing/2014/main" id="{472C1633-6CBE-873B-B2DF-4A2D4E7D886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596" b="5836"/>
          <a:stretch/>
        </p:blipFill>
        <p:spPr bwMode="auto">
          <a:xfrm>
            <a:off x="6403962" y="0"/>
            <a:ext cx="3697979" cy="3650019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4" name="Resim 3">
            <a:extLst>
              <a:ext uri="{FF2B5EF4-FFF2-40B4-BE49-F238E27FC236}">
                <a16:creationId xmlns:a16="http://schemas.microsoft.com/office/drawing/2014/main" id="{B6855025-B146-0EDE-F1B3-F7D0E98640E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3863" b="5438"/>
          <a:stretch/>
        </p:blipFill>
        <p:spPr bwMode="auto">
          <a:xfrm>
            <a:off x="54606" y="597423"/>
            <a:ext cx="3107099" cy="307086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6" name="Resim 5">
            <a:extLst>
              <a:ext uri="{FF2B5EF4-FFF2-40B4-BE49-F238E27FC236}">
                <a16:creationId xmlns:a16="http://schemas.microsoft.com/office/drawing/2014/main" id="{B8F8C9A8-5487-5EFA-9E23-4878BB86A36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3863" r="870" b="5837"/>
          <a:stretch/>
        </p:blipFill>
        <p:spPr bwMode="auto">
          <a:xfrm>
            <a:off x="2730175" y="3336590"/>
            <a:ext cx="3519806" cy="349431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0" name="Resim 9">
            <a:extLst>
              <a:ext uri="{FF2B5EF4-FFF2-40B4-BE49-F238E27FC236}">
                <a16:creationId xmlns:a16="http://schemas.microsoft.com/office/drawing/2014/main" id="{2B64B4D7-5580-A351-4F47-1FB40C7A9B99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1" t="3996" r="1159" b="5567"/>
          <a:stretch/>
        </p:blipFill>
        <p:spPr bwMode="auto">
          <a:xfrm>
            <a:off x="8494021" y="3240181"/>
            <a:ext cx="3697979" cy="3687128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27173559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E76177-2974-D765-2889-4F32961B2D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743370-E882-B051-29CC-1BB55B5D86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072" y="448234"/>
            <a:ext cx="9694832" cy="872565"/>
          </a:xfrm>
        </p:spPr>
        <p:txBody>
          <a:bodyPr/>
          <a:lstStyle/>
          <a:p>
            <a:r>
              <a:rPr lang="en-US" dirty="0"/>
              <a:t>Bir </a:t>
            </a:r>
            <a:r>
              <a:rPr lang="en-US" dirty="0" err="1"/>
              <a:t>Sonraki</a:t>
            </a:r>
            <a:r>
              <a:rPr lang="en-US" dirty="0"/>
              <a:t> </a:t>
            </a:r>
            <a:r>
              <a:rPr lang="en-US" dirty="0" err="1"/>
              <a:t>Dönemde</a:t>
            </a:r>
            <a:r>
              <a:rPr lang="en-US" dirty="0"/>
              <a:t> </a:t>
            </a:r>
            <a:r>
              <a:rPr lang="en-US" dirty="0" err="1"/>
              <a:t>Yapılacaklar</a:t>
            </a:r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26D92E1-71D0-D234-E875-23938EDD20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712259"/>
            <a:ext cx="8596668" cy="5036271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Model </a:t>
            </a:r>
            <a:r>
              <a:rPr lang="en-US" dirty="0" err="1"/>
              <a:t>performansını</a:t>
            </a:r>
            <a:r>
              <a:rPr lang="en-US" dirty="0"/>
              <a:t> </a:t>
            </a:r>
            <a:r>
              <a:rPr lang="en-US" dirty="0" err="1"/>
              <a:t>arttırmak</a:t>
            </a:r>
            <a:endParaRPr lang="en-US" dirty="0"/>
          </a:p>
          <a:p>
            <a:pPr lvl="1">
              <a:lnSpc>
                <a:spcPct val="150000"/>
              </a:lnSpc>
            </a:pPr>
            <a:r>
              <a:rPr lang="en-US" dirty="0"/>
              <a:t>Veri </a:t>
            </a:r>
            <a:r>
              <a:rPr lang="en-US" dirty="0" err="1"/>
              <a:t>setinin</a:t>
            </a:r>
            <a:r>
              <a:rPr lang="en-US" dirty="0"/>
              <a:t> </a:t>
            </a:r>
            <a:r>
              <a:rPr lang="en-US" dirty="0" err="1"/>
              <a:t>genişletilmesi</a:t>
            </a:r>
            <a:endParaRPr lang="en-US" dirty="0"/>
          </a:p>
          <a:p>
            <a:pPr lvl="1">
              <a:lnSpc>
                <a:spcPct val="150000"/>
              </a:lnSpc>
            </a:pPr>
            <a:r>
              <a:rPr lang="en-US" dirty="0" err="1"/>
              <a:t>Başarısız</a:t>
            </a:r>
            <a:r>
              <a:rPr lang="en-US" dirty="0"/>
              <a:t> </a:t>
            </a:r>
            <a:r>
              <a:rPr lang="en-US" dirty="0" err="1"/>
              <a:t>tahminler</a:t>
            </a:r>
            <a:r>
              <a:rPr lang="en-US" dirty="0"/>
              <a:t> </a:t>
            </a:r>
            <a:r>
              <a:rPr lang="en-US" dirty="0" err="1"/>
              <a:t>yapılan</a:t>
            </a:r>
            <a:r>
              <a:rPr lang="en-US" dirty="0"/>
              <a:t> </a:t>
            </a:r>
            <a:r>
              <a:rPr lang="en-US" dirty="0" err="1"/>
              <a:t>bileşen</a:t>
            </a:r>
            <a:r>
              <a:rPr lang="en-US" dirty="0"/>
              <a:t> </a:t>
            </a:r>
            <a:r>
              <a:rPr lang="en-US" dirty="0" err="1"/>
              <a:t>gruplar</a:t>
            </a:r>
            <a:endParaRPr lang="en-US" dirty="0"/>
          </a:p>
          <a:p>
            <a:pPr lvl="2">
              <a:lnSpc>
                <a:spcPct val="150000"/>
              </a:lnSpc>
            </a:pPr>
            <a:r>
              <a:rPr lang="en-US" dirty="0" err="1"/>
              <a:t>Alternatif</a:t>
            </a:r>
            <a:r>
              <a:rPr lang="en-US" dirty="0"/>
              <a:t> </a:t>
            </a:r>
            <a:r>
              <a:rPr lang="en-US" dirty="0" err="1"/>
              <a:t>yaklaşımlar</a:t>
            </a:r>
            <a:r>
              <a:rPr lang="en-US" dirty="0"/>
              <a:t> </a:t>
            </a:r>
            <a:r>
              <a:rPr lang="en-US" dirty="0" err="1"/>
              <a:t>denenmesi</a:t>
            </a:r>
            <a:endParaRPr lang="en-US" dirty="0"/>
          </a:p>
          <a:p>
            <a:pPr lvl="1">
              <a:lnSpc>
                <a:spcPct val="150000"/>
              </a:lnSpc>
            </a:pPr>
            <a:r>
              <a:rPr lang="en-US" dirty="0" err="1"/>
              <a:t>Hiperparametre</a:t>
            </a:r>
            <a:r>
              <a:rPr lang="en-US" dirty="0"/>
              <a:t> </a:t>
            </a:r>
            <a:r>
              <a:rPr lang="en-US" dirty="0" err="1"/>
              <a:t>optimizasyonu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sz="1800" dirty="0" err="1"/>
              <a:t>Katma</a:t>
            </a:r>
            <a:r>
              <a:rPr lang="en-US" sz="1800" dirty="0"/>
              <a:t> </a:t>
            </a:r>
            <a:r>
              <a:rPr lang="en-US" sz="1800" dirty="0" err="1"/>
              <a:t>değerli</a:t>
            </a:r>
            <a:r>
              <a:rPr lang="en-US" sz="1800" dirty="0"/>
              <a:t> </a:t>
            </a:r>
            <a:r>
              <a:rPr lang="en-US" sz="1800" dirty="0" err="1"/>
              <a:t>ürün</a:t>
            </a:r>
            <a:r>
              <a:rPr lang="en-US" sz="1800" dirty="0"/>
              <a:t> </a:t>
            </a:r>
            <a:r>
              <a:rPr lang="en-US" sz="1800" dirty="0" err="1"/>
              <a:t>seçimi</a:t>
            </a:r>
            <a:r>
              <a:rPr lang="en-US" sz="1800" dirty="0"/>
              <a:t> </a:t>
            </a:r>
            <a:r>
              <a:rPr lang="en-US" sz="1800" dirty="0" err="1"/>
              <a:t>ve</a:t>
            </a:r>
            <a:r>
              <a:rPr lang="en-US" sz="1800" dirty="0"/>
              <a:t> proses </a:t>
            </a:r>
            <a:r>
              <a:rPr lang="en-US" sz="1800" dirty="0" err="1"/>
              <a:t>modellemesi</a:t>
            </a:r>
            <a:endParaRPr lang="en-US" sz="1800" dirty="0"/>
          </a:p>
          <a:p>
            <a:pPr>
              <a:lnSpc>
                <a:spcPct val="150000"/>
              </a:lnSpc>
            </a:pPr>
            <a:endParaRPr lang="en-US" dirty="0"/>
          </a:p>
          <a:p>
            <a:pPr lvl="1">
              <a:lnSpc>
                <a:spcPct val="150000"/>
              </a:lnSpc>
            </a:pPr>
            <a:endParaRPr lang="en-US" dirty="0"/>
          </a:p>
          <a:p>
            <a:pPr lvl="1">
              <a:lnSpc>
                <a:spcPct val="150000"/>
              </a:lnSpc>
            </a:pPr>
            <a:endParaRPr lang="en-US" dirty="0"/>
          </a:p>
          <a:p>
            <a:pPr marL="914400" lvl="2" indent="0">
              <a:lnSpc>
                <a:spcPct val="150000"/>
              </a:lnSpc>
              <a:buNone/>
            </a:pPr>
            <a:endParaRPr lang="en-US" dirty="0"/>
          </a:p>
          <a:p>
            <a:pPr marL="914400" lvl="2" indent="0">
              <a:lnSpc>
                <a:spcPct val="150000"/>
              </a:lnSpc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753017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1827524" y="463189"/>
            <a:ext cx="7920880" cy="4968552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tr-TR" sz="5400" b="1" dirty="0">
                <a:solidFill>
                  <a:schemeClr val="accent2">
                    <a:lumMod val="75000"/>
                  </a:schemeClr>
                </a:solidFill>
                <a:latin typeface="Harrington" pitchFamily="82" charset="0"/>
              </a:rPr>
              <a:t> Vaktiniz </a:t>
            </a:r>
          </a:p>
          <a:p>
            <a:pPr>
              <a:buNone/>
            </a:pPr>
            <a:r>
              <a:rPr lang="tr-TR" sz="5400" b="1" dirty="0">
                <a:solidFill>
                  <a:schemeClr val="accent2">
                    <a:lumMod val="75000"/>
                  </a:schemeClr>
                </a:solidFill>
                <a:latin typeface="Harrington" pitchFamily="82" charset="0"/>
              </a:rPr>
              <a:t>			ve ilginiz </a:t>
            </a:r>
          </a:p>
          <a:p>
            <a:pPr>
              <a:buNone/>
            </a:pPr>
            <a:r>
              <a:rPr lang="tr-TR" sz="5400" b="1" dirty="0">
                <a:solidFill>
                  <a:schemeClr val="accent2">
                    <a:lumMod val="75000"/>
                  </a:schemeClr>
                </a:solidFill>
                <a:latin typeface="Harrington" pitchFamily="82" charset="0"/>
              </a:rPr>
              <a:t>					için</a:t>
            </a:r>
          </a:p>
          <a:p>
            <a:pPr>
              <a:buNone/>
            </a:pPr>
            <a:r>
              <a:rPr lang="tr-TR" sz="5400" b="1" dirty="0">
                <a:solidFill>
                  <a:schemeClr val="accent2">
                    <a:lumMod val="75000"/>
                  </a:schemeClr>
                </a:solidFill>
                <a:latin typeface="Harrington" pitchFamily="82" charset="0"/>
              </a:rPr>
              <a:t>							teşekkürler</a:t>
            </a:r>
          </a:p>
          <a:p>
            <a:pPr>
              <a:buNone/>
            </a:pPr>
            <a:r>
              <a:rPr lang="tr-TR" sz="5400" b="1" dirty="0">
                <a:solidFill>
                  <a:schemeClr val="accent2">
                    <a:lumMod val="75000"/>
                  </a:schemeClr>
                </a:solidFill>
                <a:latin typeface="Harrington" pitchFamily="82" charset="0"/>
              </a:rPr>
              <a:t>                     </a:t>
            </a:r>
            <a:r>
              <a:rPr lang="tr-TR" sz="7200" b="1" dirty="0">
                <a:solidFill>
                  <a:schemeClr val="accent2">
                    <a:lumMod val="75000"/>
                  </a:schemeClr>
                </a:solidFill>
                <a:latin typeface="Harrington" pitchFamily="82" charset="0"/>
              </a:rPr>
              <a:t>…</a:t>
            </a: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2280804" y="5431741"/>
            <a:ext cx="7467600" cy="1223186"/>
          </a:xfrm>
          <a:prstGeom prst="rect">
            <a:avLst/>
          </a:prstGeom>
        </p:spPr>
        <p:txBody>
          <a:bodyPr vert="horz">
            <a:normAutofit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0000"/>
              <a:buFont typeface="Wingdings"/>
              <a:buChar char="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74320" algn="l" rtl="0" eaLnBrk="1" latinLnBrk="0" hangingPunct="1">
              <a:spcBef>
                <a:spcPct val="20000"/>
              </a:spcBef>
              <a:buClr>
                <a:schemeClr val="accent1"/>
              </a:buClr>
              <a:buSzPct val="80000"/>
              <a:buFont typeface="Wingdings 2"/>
              <a:buChar char="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18288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SzPct val="60000"/>
              <a:buFont typeface="Wingdings"/>
              <a:buChar char="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88720" indent="-182880" algn="l" rtl="0" eaLnBrk="1" latinLnBrk="0" hangingPunct="1">
              <a:spcBef>
                <a:spcPct val="20000"/>
              </a:spcBef>
              <a:buClr>
                <a:schemeClr val="accent1">
                  <a:tint val="60000"/>
                </a:schemeClr>
              </a:buClr>
              <a:buSzPct val="60000"/>
              <a:buFont typeface="Wingdings"/>
              <a:buChar char="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63040" indent="-182880" algn="l" rtl="0" eaLnBrk="1" latinLnBrk="0" hangingPunct="1">
              <a:spcBef>
                <a:spcPct val="20000"/>
              </a:spcBef>
              <a:buClr>
                <a:schemeClr val="accent2">
                  <a:tint val="60000"/>
                </a:schemeClr>
              </a:buClr>
              <a:buSzPct val="68000"/>
              <a:buFont typeface="Wingdings 2"/>
              <a:buChar char="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rtl="0" eaLnBrk="1" latinLnBrk="0" hangingPunct="1">
              <a:spcBef>
                <a:spcPct val="20000"/>
              </a:spcBef>
              <a:buClr>
                <a:schemeClr val="accent1"/>
              </a:buClr>
              <a:buChar char="•"/>
              <a:defRPr kumimoji="0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011680" indent="-182880" algn="l" rtl="0" eaLnBrk="1" latinLnBrk="0" hangingPunct="1">
              <a:spcBef>
                <a:spcPct val="20000"/>
              </a:spcBef>
              <a:buClr>
                <a:schemeClr val="accent1">
                  <a:tint val="60000"/>
                </a:schemeClr>
              </a:buClr>
              <a:buSzPct val="60000"/>
              <a:buFont typeface="Wingdings"/>
              <a:buChar char=""/>
              <a:defRPr kumimoji="0"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286000" indent="-182880" algn="l" rtl="0" eaLnBrk="1" latinLnBrk="0" hangingPunct="1">
              <a:spcBef>
                <a:spcPct val="20000"/>
              </a:spcBef>
              <a:buClr>
                <a:schemeClr val="accent2"/>
              </a:buClr>
              <a:buChar char="•"/>
              <a:defRPr kumimoji="0" sz="1400" kern="1200" cap="small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560320" indent="-18288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Char char="•"/>
              <a:defRPr kumimoji="0"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Font typeface="Wingdings"/>
              <a:buNone/>
            </a:pPr>
            <a:r>
              <a:rPr lang="tr-TR" dirty="0"/>
              <a:t>Orhun Uzdiyem</a:t>
            </a:r>
          </a:p>
          <a:p>
            <a:pPr algn="ctr">
              <a:buFont typeface="Wingdings"/>
              <a:buNone/>
            </a:pPr>
            <a:r>
              <a:rPr lang="tr-TR" dirty="0">
                <a:hlinkClick r:id="rId3"/>
              </a:rPr>
              <a:t>orhun.uzdiyem@gmail.com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0045436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721"/>
    </mc:Choice>
    <mc:Fallback xmlns="">
      <p:transition spd="slow" advTm="672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29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911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32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332" tmFilter="0, 0; 0.125,0.2665; 0.25,0.4; 0.375,0.465; 0.5,0.5;  0.625,0.535; 0.75,0.6; 0.875,0.7335; 1,1">
                                          <p:stCondLst>
                                            <p:cond delay="332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66" tmFilter="0, 0; 0.125,0.2665; 0.25,0.4; 0.375,0.465; 0.5,0.5;  0.625,0.535; 0.75,0.6; 0.875,0.7335; 1,1">
                                          <p:stCondLst>
                                            <p:cond delay="662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82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13">
                                          <p:stCondLst>
                                            <p:cond delay="325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83" decel="50000">
                                          <p:stCondLst>
                                            <p:cond delay="338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13">
                                          <p:stCondLst>
                                            <p:cond delay="656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83" decel="50000">
                                          <p:stCondLst>
                                            <p:cond delay="669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13">
                                          <p:stCondLst>
                                            <p:cond delay="821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83" decel="50000">
                                          <p:stCondLst>
                                            <p:cond delay="834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13">
                                          <p:stCondLst>
                                            <p:cond delay="904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83" decel="50000">
                                          <p:stCondLst>
                                            <p:cond delay="917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6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29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911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332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332" tmFilter="0, 0; 0.125,0.2665; 0.25,0.4; 0.375,0.465; 0.5,0.5;  0.625,0.535; 0.75,0.6; 0.875,0.7335; 1,1">
                                          <p:stCondLst>
                                            <p:cond delay="332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66" tmFilter="0, 0; 0.125,0.2665; 0.25,0.4; 0.375,0.465; 0.5,0.5;  0.625,0.535; 0.75,0.6; 0.875,0.7335; 1,1">
                                          <p:stCondLst>
                                            <p:cond delay="662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82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0" dur="13">
                                          <p:stCondLst>
                                            <p:cond delay="325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1" dur="83" decel="50000">
                                          <p:stCondLst>
                                            <p:cond delay="338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2" dur="13">
                                          <p:stCondLst>
                                            <p:cond delay="656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3" dur="83" decel="50000">
                                          <p:stCondLst>
                                            <p:cond delay="669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4" dur="13">
                                          <p:stCondLst>
                                            <p:cond delay="821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5" dur="83" decel="50000">
                                          <p:stCondLst>
                                            <p:cond delay="834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6" dur="13">
                                          <p:stCondLst>
                                            <p:cond delay="904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7" dur="83" decel="50000">
                                          <p:stCondLst>
                                            <p:cond delay="917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2000"/>
                            </p:stCondLst>
                            <p:childTnLst>
                              <p:par>
                                <p:cTn id="39" presetID="26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29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911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332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332" tmFilter="0, 0; 0.125,0.2665; 0.25,0.4; 0.375,0.465; 0.5,0.5;  0.625,0.535; 0.75,0.6; 0.875,0.7335; 1,1">
                                          <p:stCondLst>
                                            <p:cond delay="332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66" tmFilter="0, 0; 0.125,0.2665; 0.25,0.4; 0.375,0.465; 0.5,0.5;  0.625,0.535; 0.75,0.6; 0.875,0.7335; 1,1">
                                          <p:stCondLst>
                                            <p:cond delay="662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82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7" dur="13">
                                          <p:stCondLst>
                                            <p:cond delay="325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8" dur="83" decel="50000">
                                          <p:stCondLst>
                                            <p:cond delay="338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9" dur="13">
                                          <p:stCondLst>
                                            <p:cond delay="656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0" dur="83" decel="50000">
                                          <p:stCondLst>
                                            <p:cond delay="669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1" dur="13">
                                          <p:stCondLst>
                                            <p:cond delay="821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2" dur="83" decel="50000">
                                          <p:stCondLst>
                                            <p:cond delay="834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3" dur="13">
                                          <p:stCondLst>
                                            <p:cond delay="904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4" dur="83" decel="50000">
                                          <p:stCondLst>
                                            <p:cond delay="917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3000"/>
                            </p:stCondLst>
                            <p:childTnLst>
                              <p:par>
                                <p:cTn id="56" presetID="26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29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911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332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332" tmFilter="0, 0; 0.125,0.2665; 0.25,0.4; 0.375,0.465; 0.5,0.5;  0.625,0.535; 0.75,0.6; 0.875,0.7335; 1,1">
                                          <p:stCondLst>
                                            <p:cond delay="332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66" tmFilter="0, 0; 0.125,0.2665; 0.25,0.4; 0.375,0.465; 0.5,0.5;  0.625,0.535; 0.75,0.6; 0.875,0.7335; 1,1">
                                          <p:stCondLst>
                                            <p:cond delay="662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82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4" dur="13">
                                          <p:stCondLst>
                                            <p:cond delay="325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5" dur="83" decel="50000">
                                          <p:stCondLst>
                                            <p:cond delay="338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6" dur="13">
                                          <p:stCondLst>
                                            <p:cond delay="656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67" dur="83" decel="50000">
                                          <p:stCondLst>
                                            <p:cond delay="669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8" dur="13">
                                          <p:stCondLst>
                                            <p:cond delay="821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69" dur="83" decel="50000">
                                          <p:stCondLst>
                                            <p:cond delay="834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0" dur="13">
                                          <p:stCondLst>
                                            <p:cond delay="904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71" dur="83" decel="50000">
                                          <p:stCondLst>
                                            <p:cond delay="917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4000"/>
                            </p:stCondLst>
                            <p:childTnLst>
                              <p:par>
                                <p:cTn id="73" presetID="26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8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8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8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8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8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9295</TotalTime>
  <Words>897</Words>
  <Application>Microsoft Office PowerPoint</Application>
  <PresentationFormat>Geniş ekran</PresentationFormat>
  <Paragraphs>213</Paragraphs>
  <Slides>52</Slides>
  <Notes>0</Notes>
  <HiddenSlides>0</HiddenSlides>
  <MMClips>0</MMClips>
  <ScaleCrop>false</ScaleCrop>
  <HeadingPairs>
    <vt:vector size="8" baseType="variant">
      <vt:variant>
        <vt:lpstr>Kullanılan Yazı Tipleri</vt:lpstr>
      </vt:variant>
      <vt:variant>
        <vt:i4>7</vt:i4>
      </vt:variant>
      <vt:variant>
        <vt:lpstr>Tema</vt:lpstr>
      </vt:variant>
      <vt:variant>
        <vt:i4>1</vt:i4>
      </vt:variant>
      <vt:variant>
        <vt:lpstr>Eklenmiş OLE Hizmet Programları</vt:lpstr>
      </vt:variant>
      <vt:variant>
        <vt:i4>1</vt:i4>
      </vt:variant>
      <vt:variant>
        <vt:lpstr>Slayt Başlıkları</vt:lpstr>
      </vt:variant>
      <vt:variant>
        <vt:i4>52</vt:i4>
      </vt:variant>
    </vt:vector>
  </HeadingPairs>
  <TitlesOfParts>
    <vt:vector size="61" baseType="lpstr">
      <vt:lpstr>Arial</vt:lpstr>
      <vt:lpstr>Calibri</vt:lpstr>
      <vt:lpstr>Harrington</vt:lpstr>
      <vt:lpstr>Times New Roman</vt:lpstr>
      <vt:lpstr>Trebuchet MS</vt:lpstr>
      <vt:lpstr>Wingdings</vt:lpstr>
      <vt:lpstr>Wingdings 3</vt:lpstr>
      <vt:lpstr>Facet</vt:lpstr>
      <vt:lpstr>Visio</vt:lpstr>
      <vt:lpstr>Biyokütleden Elde Edilen Biyoyağ Kompozisyonunun Makine Öğrenmesi ile   Tahmini ve Model Öngörülü Kontrol Tabanlı Süreç Optimizasyonu Tez İzleme Sunumu - 2</vt:lpstr>
      <vt:lpstr>İçerik</vt:lpstr>
      <vt:lpstr>Tezin amacı</vt:lpstr>
      <vt:lpstr>Biyoyağ içeriği tahmini</vt:lpstr>
      <vt:lpstr>Literatür taraması ve veritabanı hazırlanması</vt:lpstr>
      <vt:lpstr>Dönem İçinde Yapılan Çalışmalar</vt:lpstr>
      <vt:lpstr>Python kodlarının yazılması</vt:lpstr>
      <vt:lpstr>Model Geliştirme</vt:lpstr>
      <vt:lpstr>Model Geliştirme</vt:lpstr>
      <vt:lpstr>Model Geliştirme</vt:lpstr>
      <vt:lpstr>Ham veri işlenmesi</vt:lpstr>
      <vt:lpstr>Veritabanından Ham veri alınması</vt:lpstr>
      <vt:lpstr>Veritabanından Ham veri alınması</vt:lpstr>
      <vt:lpstr>Veritabanından Ham veri alınması</vt:lpstr>
      <vt:lpstr>Veritabanından Ham veri alınması</vt:lpstr>
      <vt:lpstr>Feedrate ve Residence Time  verilerinin işlenmesi</vt:lpstr>
      <vt:lpstr>Feedrate ve Residence Time verilerinin işlenmesi</vt:lpstr>
      <vt:lpstr>Ham veri işlenmesi</vt:lpstr>
      <vt:lpstr>Özellik Standartlaştırma</vt:lpstr>
      <vt:lpstr>Özellik Standartlaştırma</vt:lpstr>
      <vt:lpstr>Eksik değer analizi</vt:lpstr>
      <vt:lpstr>Eksik değer analizi</vt:lpstr>
      <vt:lpstr>Ham veri işlenmesi</vt:lpstr>
      <vt:lpstr>Ham veri işlenmesi</vt:lpstr>
      <vt:lpstr>Ham veri işlenmesi</vt:lpstr>
      <vt:lpstr>Random Forest</vt:lpstr>
      <vt:lpstr>Random Forest</vt:lpstr>
      <vt:lpstr>Random Forest</vt:lpstr>
      <vt:lpstr>Random Forest</vt:lpstr>
      <vt:lpstr>Random Forest</vt:lpstr>
      <vt:lpstr>Random Forest</vt:lpstr>
      <vt:lpstr>Random Forest</vt:lpstr>
      <vt:lpstr>Random Forest</vt:lpstr>
      <vt:lpstr>Random Forest</vt:lpstr>
      <vt:lpstr>Random Forest</vt:lpstr>
      <vt:lpstr>Yapay Sinir Ağları</vt:lpstr>
      <vt:lpstr>Yapay Sinir Ağları</vt:lpstr>
      <vt:lpstr>Yapay Sinir Ağları</vt:lpstr>
      <vt:lpstr>Yapay Sinir Ağları</vt:lpstr>
      <vt:lpstr>Yapay Sinir Ağları</vt:lpstr>
      <vt:lpstr>Yapay Sinir Ağları</vt:lpstr>
      <vt:lpstr>Yapay Sinir Ağları</vt:lpstr>
      <vt:lpstr>Yapay Sinir Ağları</vt:lpstr>
      <vt:lpstr>Yapay Sinir Ağları</vt:lpstr>
      <vt:lpstr>Yapay Sinir Ağları</vt:lpstr>
      <vt:lpstr>Yapay Sinir Ağları</vt:lpstr>
      <vt:lpstr>Sonuçlar</vt:lpstr>
      <vt:lpstr>Sonuçlar</vt:lpstr>
      <vt:lpstr>Sonuçlar</vt:lpstr>
      <vt:lpstr>Sonuçlar</vt:lpstr>
      <vt:lpstr>Bir Sonraki Dönemde Yapılacaklar</vt:lpstr>
      <vt:lpstr>PowerPoint Sunusu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orhun uzdiyem</dc:creator>
  <cp:lastModifiedBy>Orhun Uz</cp:lastModifiedBy>
  <cp:revision>69</cp:revision>
  <dcterms:created xsi:type="dcterms:W3CDTF">2023-05-23T10:14:23Z</dcterms:created>
  <dcterms:modified xsi:type="dcterms:W3CDTF">2024-12-24T07:47:16Z</dcterms:modified>
</cp:coreProperties>
</file>