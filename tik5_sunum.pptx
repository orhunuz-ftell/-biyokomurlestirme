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56" r:id="rId2"/>
    <p:sldId id="394" r:id="rId3"/>
    <p:sldId id="395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05" r:id="rId12"/>
    <p:sldId id="406" r:id="rId13"/>
    <p:sldId id="408" r:id="rId14"/>
    <p:sldId id="409" r:id="rId15"/>
    <p:sldId id="410" r:id="rId16"/>
    <p:sldId id="413" r:id="rId17"/>
    <p:sldId id="415" r:id="rId18"/>
    <p:sldId id="416" r:id="rId19"/>
    <p:sldId id="417" r:id="rId20"/>
    <p:sldId id="418" r:id="rId21"/>
    <p:sldId id="419" r:id="rId22"/>
    <p:sldId id="420" r:id="rId23"/>
    <p:sldId id="411" r:id="rId24"/>
    <p:sldId id="412" r:id="rId25"/>
    <p:sldId id="29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hun uzdiyem" initials="ou" lastIdx="1" clrIdx="0">
    <p:extLst>
      <p:ext uri="{19B8F6BF-5375-455C-9EA6-DF929625EA0E}">
        <p15:presenceInfo xmlns:p15="http://schemas.microsoft.com/office/powerpoint/2012/main" userId="7c704e6ad42cbf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06725-A5C6-4D97-BAB5-97495DA97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C1EF-337A-4A14-9C0C-535002AC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5C1EF-337A-4A14-9C0C-535002ACE82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12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- 66: </a:t>
            </a:r>
            <a:r>
              <a:rPr lang="en-US" dirty="0" err="1"/>
              <a:t>aromatikçe</a:t>
            </a:r>
            <a:r>
              <a:rPr lang="en-US" dirty="0"/>
              <a:t> </a:t>
            </a:r>
            <a:r>
              <a:rPr lang="en-US" dirty="0" err="1"/>
              <a:t>zengin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örneği</a:t>
            </a:r>
            <a:r>
              <a:rPr lang="en-US" dirty="0"/>
              <a:t>.</a:t>
            </a:r>
          </a:p>
          <a:p>
            <a:r>
              <a:rPr lang="en-US" dirty="0"/>
              <a:t>  - 70: </a:t>
            </a:r>
            <a:r>
              <a:rPr lang="en-US" dirty="0" err="1"/>
              <a:t>asitçe</a:t>
            </a:r>
            <a:r>
              <a:rPr lang="en-US" dirty="0"/>
              <a:t> </a:t>
            </a:r>
            <a:r>
              <a:rPr lang="en-US" dirty="0" err="1"/>
              <a:t>zengin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örneği</a:t>
            </a:r>
            <a:r>
              <a:rPr lang="en-US" dirty="0"/>
              <a:t>.</a:t>
            </a:r>
          </a:p>
          <a:p>
            <a:r>
              <a:rPr lang="en-US" dirty="0"/>
              <a:t>  - 60: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dengeli</a:t>
            </a:r>
            <a:r>
              <a:rPr lang="en-US" dirty="0"/>
              <a:t> </a:t>
            </a:r>
            <a:r>
              <a:rPr lang="en-US" dirty="0" err="1"/>
              <a:t>kompozisyona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örneği</a:t>
            </a:r>
            <a:r>
              <a:rPr lang="en-US" dirty="0"/>
              <a:t>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5C1EF-337A-4A14-9C0C-535002ACE82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88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6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2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3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5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3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0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51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75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940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82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1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287EC-2D8B-4839-853F-448EC8EF3B82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orhun.uzdiyem@gmail.com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AFEF-9B2B-F339-7BA2-47BF50A9F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682" y="188259"/>
            <a:ext cx="9807388" cy="3306765"/>
          </a:xfrm>
        </p:spPr>
        <p:txBody>
          <a:bodyPr/>
          <a:lstStyle/>
          <a:p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Biyokütleden Elde Edilen </a:t>
            </a:r>
            <a:r>
              <a:rPr lang="tr-TR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Biyoyağ</a:t>
            </a:r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Kompozisyonunun Makine Öğrenmesi ile </a:t>
            </a:r>
            <a:b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Tahmini ve Model Öngörülü Kontrol Tabanlı Süreç Optimizasyonu</a:t>
            </a:r>
            <a:b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Tez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İzleme</a:t>
            </a: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Sunumu</a:t>
            </a: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- 5</a:t>
            </a:r>
            <a:endParaRPr lang="en-US" sz="88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1569F-3488-D383-99CF-A51505706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376" y="4050833"/>
            <a:ext cx="8861627" cy="230514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Hazırlayan</a:t>
            </a:r>
            <a:r>
              <a:rPr lang="en-US" dirty="0"/>
              <a:t>: Orhun Uzdiyem</a:t>
            </a:r>
          </a:p>
          <a:p>
            <a:r>
              <a:rPr lang="en-US" dirty="0" err="1"/>
              <a:t>Komite</a:t>
            </a:r>
            <a:r>
              <a:rPr lang="en-US" dirty="0"/>
              <a:t>: Dr. </a:t>
            </a:r>
            <a:r>
              <a:rPr lang="en-US" dirty="0" err="1"/>
              <a:t>Öğr</a:t>
            </a:r>
            <a:r>
              <a:rPr lang="en-US" dirty="0"/>
              <a:t>. </a:t>
            </a:r>
            <a:r>
              <a:rPr lang="en-US" dirty="0" err="1"/>
              <a:t>Üy</a:t>
            </a:r>
            <a:r>
              <a:rPr lang="en-US" dirty="0"/>
              <a:t>. </a:t>
            </a:r>
            <a:r>
              <a:rPr lang="en-US" dirty="0" err="1"/>
              <a:t>Özben</a:t>
            </a:r>
            <a:r>
              <a:rPr lang="en-US" dirty="0"/>
              <a:t> Kutlu(Tez </a:t>
            </a:r>
            <a:r>
              <a:rPr lang="en-US" dirty="0" err="1"/>
              <a:t>danışmanı</a:t>
            </a:r>
            <a:r>
              <a:rPr lang="en-US" dirty="0"/>
              <a:t>)  </a:t>
            </a:r>
          </a:p>
          <a:p>
            <a:r>
              <a:rPr lang="en-US" dirty="0"/>
              <a:t>Prof. Dr. Harun Kemal Öztürk  </a:t>
            </a:r>
          </a:p>
          <a:p>
            <a:r>
              <a:rPr lang="en-US" dirty="0" err="1"/>
              <a:t>Doç</a:t>
            </a:r>
            <a:r>
              <a:rPr lang="en-US" dirty="0"/>
              <a:t>. Dr. Hasan </a:t>
            </a:r>
            <a:r>
              <a:rPr lang="en-US" dirty="0" err="1"/>
              <a:t>Sarptaş</a:t>
            </a:r>
            <a:endParaRPr lang="en-US" dirty="0"/>
          </a:p>
          <a:p>
            <a:r>
              <a:rPr lang="en-US" dirty="0" err="1"/>
              <a:t>Ege</a:t>
            </a:r>
            <a:r>
              <a:rPr lang="en-US" dirty="0"/>
              <a:t> </a:t>
            </a:r>
            <a:r>
              <a:rPr lang="en-US" dirty="0" err="1"/>
              <a:t>Üniversitesi</a:t>
            </a:r>
            <a:r>
              <a:rPr lang="en-US" dirty="0"/>
              <a:t> </a:t>
            </a:r>
            <a:r>
              <a:rPr lang="en-US" dirty="0" err="1"/>
              <a:t>Güneş</a:t>
            </a:r>
            <a:r>
              <a:rPr lang="en-US" dirty="0"/>
              <a:t> </a:t>
            </a:r>
            <a:r>
              <a:rPr lang="en-US" dirty="0" err="1"/>
              <a:t>Enerjisi</a:t>
            </a:r>
            <a:r>
              <a:rPr lang="en-US" dirty="0"/>
              <a:t> </a:t>
            </a:r>
            <a:r>
              <a:rPr lang="en-US" dirty="0" err="1"/>
              <a:t>Enstitüsü</a:t>
            </a:r>
            <a:r>
              <a:rPr lang="en-US" dirty="0"/>
              <a:t> –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Teknolojisi</a:t>
            </a:r>
            <a:r>
              <a:rPr lang="en-US" dirty="0"/>
              <a:t> </a:t>
            </a:r>
            <a:r>
              <a:rPr lang="en-US" dirty="0" err="1"/>
              <a:t>Anabilimdalı</a:t>
            </a:r>
            <a:endParaRPr lang="en-US" dirty="0"/>
          </a:p>
          <a:p>
            <a:r>
              <a:rPr lang="en-US" dirty="0"/>
              <a:t>Haziran 15, 2025</a:t>
            </a:r>
          </a:p>
        </p:txBody>
      </p:sp>
    </p:spTree>
    <p:extLst>
      <p:ext uri="{BB962C8B-B14F-4D97-AF65-F5344CB8AC3E}">
        <p14:creationId xmlns:p14="http://schemas.microsoft.com/office/powerpoint/2010/main" val="410110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943F8-69E2-AA42-A382-BB3FB7D8C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A4D15-CCE4-0A4A-0E19-E1ECFD5D3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Çalışmanın</a:t>
            </a:r>
            <a:r>
              <a:rPr lang="en-US" dirty="0"/>
              <a:t> Genel </a:t>
            </a:r>
            <a:r>
              <a:rPr lang="en-US" dirty="0" err="1"/>
              <a:t>Çerçevesi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917FB-5E68-4F72-6137-04ED4F16A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biyokütle</a:t>
            </a:r>
            <a:r>
              <a:rPr lang="en-US" dirty="0"/>
              <a:t> </a:t>
            </a:r>
            <a:r>
              <a:rPr lang="en-US" dirty="0" err="1"/>
              <a:t>türüne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koşullarına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değişmektedir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değişkenlik</a:t>
            </a:r>
            <a:r>
              <a:rPr lang="en-US" dirty="0"/>
              <a:t> proses </a:t>
            </a:r>
            <a:r>
              <a:rPr lang="en-US" dirty="0" err="1"/>
              <a:t>tasarımını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kontrolünü</a:t>
            </a:r>
            <a:r>
              <a:rPr lang="en-US" dirty="0"/>
              <a:t> </a:t>
            </a:r>
            <a:r>
              <a:rPr lang="en-US" dirty="0" err="1"/>
              <a:t>zorlaştırmaktadır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karakterizasyonu</a:t>
            </a:r>
            <a:r>
              <a:rPr lang="en-US" dirty="0"/>
              <a:t> </a:t>
            </a:r>
            <a:r>
              <a:rPr lang="en-US" dirty="0" err="1"/>
              <a:t>deneysel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zaman </a:t>
            </a:r>
            <a:r>
              <a:rPr lang="en-US" dirty="0" err="1"/>
              <a:t>alıcı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maliyetlidir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proses </a:t>
            </a:r>
            <a:r>
              <a:rPr lang="en-US" dirty="0" err="1"/>
              <a:t>sırasında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hızlı</a:t>
            </a:r>
            <a:r>
              <a:rPr lang="en-US" dirty="0"/>
              <a:t> </a:t>
            </a:r>
            <a:r>
              <a:rPr lang="en-US" dirty="0" err="1"/>
              <a:t>izlenebilir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çalışmada</a:t>
            </a:r>
            <a:r>
              <a:rPr lang="en-US" dirty="0"/>
              <a:t> </a:t>
            </a:r>
            <a:r>
              <a:rPr lang="en-US" dirty="0" err="1"/>
              <a:t>singazdan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kompozisyonuna</a:t>
            </a:r>
            <a:r>
              <a:rPr lang="en-US" dirty="0"/>
              <a:t> </a:t>
            </a:r>
            <a:r>
              <a:rPr lang="en-US" dirty="0" err="1"/>
              <a:t>giden</a:t>
            </a:r>
            <a:r>
              <a:rPr lang="en-US" dirty="0"/>
              <a:t> </a:t>
            </a:r>
            <a:r>
              <a:rPr lang="en-US" dirty="0" err="1"/>
              <a:t>ters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yaklaşımı</a:t>
            </a:r>
            <a:r>
              <a:rPr lang="en-US" dirty="0"/>
              <a:t> </a:t>
            </a:r>
            <a:r>
              <a:rPr lang="en-US" dirty="0" err="1"/>
              <a:t>kullanılmıştır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518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4F2E1-FDEE-028C-A77C-BDD6DE4B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C119-D260-CB65-0294-0A8E0418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Önceki</a:t>
            </a:r>
            <a:r>
              <a:rPr lang="en-US" dirty="0"/>
              <a:t> </a:t>
            </a:r>
            <a:r>
              <a:rPr lang="en-US" dirty="0" err="1"/>
              <a:t>Dönemlerde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Çalışmalar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8FB4F-599F-6204-82D4-AFAEF59A4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Literatürden</a:t>
            </a:r>
            <a:r>
              <a:rPr lang="en-US" dirty="0"/>
              <a:t> </a:t>
            </a:r>
            <a:r>
              <a:rPr lang="en-US" dirty="0" err="1"/>
              <a:t>biyokütle</a:t>
            </a:r>
            <a:r>
              <a:rPr lang="en-US" dirty="0"/>
              <a:t>, </a:t>
            </a: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koşulları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toplandı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SQL Server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yapısı</a:t>
            </a:r>
            <a:r>
              <a:rPr lang="en-US" dirty="0"/>
              <a:t> </a:t>
            </a:r>
            <a:r>
              <a:rPr lang="en-US" dirty="0" err="1"/>
              <a:t>oluşturuldu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buhar</a:t>
            </a:r>
            <a:r>
              <a:rPr lang="en-US" dirty="0"/>
              <a:t> reforming </a:t>
            </a:r>
            <a:r>
              <a:rPr lang="en-US" dirty="0" err="1"/>
              <a:t>prosesi</a:t>
            </a:r>
            <a:r>
              <a:rPr lang="en-US" dirty="0"/>
              <a:t> Cantera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simüle</a:t>
            </a:r>
            <a:r>
              <a:rPr lang="en-US" dirty="0"/>
              <a:t> </a:t>
            </a:r>
            <a:r>
              <a:rPr lang="en-US" dirty="0" err="1"/>
              <a:t>edildi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30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proses </a:t>
            </a:r>
            <a:r>
              <a:rPr lang="en-US" dirty="0" err="1"/>
              <a:t>koşullarından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seti</a:t>
            </a:r>
            <a:r>
              <a:rPr lang="en-US" dirty="0"/>
              <a:t> </a:t>
            </a:r>
            <a:r>
              <a:rPr lang="en-US" dirty="0" err="1"/>
              <a:t>oluşturuldu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Girdi</a:t>
            </a:r>
            <a:r>
              <a:rPr lang="en-US" dirty="0"/>
              <a:t> </a:t>
            </a:r>
            <a:r>
              <a:rPr lang="en-US" dirty="0" err="1"/>
              <a:t>değişkenleri</a:t>
            </a:r>
            <a:r>
              <a:rPr lang="en-US" dirty="0"/>
              <a:t>: T, P, S/C, H2, CO, CO2, CH4, H2O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Çıktı</a:t>
            </a:r>
            <a:r>
              <a:rPr lang="en-US" dirty="0"/>
              <a:t> </a:t>
            </a:r>
            <a:r>
              <a:rPr lang="en-US" dirty="0" err="1"/>
              <a:t>değişkenleri</a:t>
            </a:r>
            <a:r>
              <a:rPr lang="en-US" dirty="0"/>
              <a:t>: </a:t>
            </a:r>
            <a:r>
              <a:rPr lang="en-US" dirty="0" err="1"/>
              <a:t>aromatikler</a:t>
            </a:r>
            <a:r>
              <a:rPr lang="en-US" dirty="0"/>
              <a:t>, </a:t>
            </a:r>
            <a:r>
              <a:rPr lang="en-US" dirty="0" err="1"/>
              <a:t>asitler</a:t>
            </a:r>
            <a:r>
              <a:rPr lang="en-US" dirty="0"/>
              <a:t>, </a:t>
            </a:r>
            <a:r>
              <a:rPr lang="en-US" dirty="0" err="1"/>
              <a:t>alkoller</a:t>
            </a:r>
            <a:r>
              <a:rPr lang="en-US" dirty="0"/>
              <a:t>, </a:t>
            </a:r>
            <a:r>
              <a:rPr lang="en-US" dirty="0" err="1"/>
              <a:t>furanlar</a:t>
            </a:r>
            <a:r>
              <a:rPr lang="en-US" dirty="0"/>
              <a:t>, </a:t>
            </a:r>
            <a:r>
              <a:rPr lang="en-US" dirty="0" err="1"/>
              <a:t>fenoller</a:t>
            </a:r>
            <a:r>
              <a:rPr lang="en-US" dirty="0"/>
              <a:t>, </a:t>
            </a:r>
            <a:r>
              <a:rPr lang="en-US" dirty="0" err="1"/>
              <a:t>aldehit-ketonlar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Standart</a:t>
            </a:r>
            <a:r>
              <a:rPr lang="en-US" dirty="0"/>
              <a:t> MLP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başarılı</a:t>
            </a:r>
            <a:r>
              <a:rPr lang="en-US" dirty="0"/>
              <a:t> model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belirlendi</a:t>
            </a:r>
            <a:endParaRPr lang="en-US" dirty="0"/>
          </a:p>
          <a:p>
            <a:pPr lvl="1" algn="just">
              <a:lnSpc>
                <a:spcPct val="150000"/>
              </a:lnSpc>
            </a:pPr>
            <a:r>
              <a:rPr lang="en-US" dirty="0" err="1"/>
              <a:t>Ortalama</a:t>
            </a:r>
            <a:r>
              <a:rPr lang="en-US" dirty="0"/>
              <a:t> test R2 = 0.863 </a:t>
            </a:r>
            <a:r>
              <a:rPr lang="en-US" dirty="0" err="1"/>
              <a:t>ve</a:t>
            </a:r>
            <a:r>
              <a:rPr lang="en-US" dirty="0"/>
              <a:t> MAE = %4.03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43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4BE3-1EA9-E214-6C33-631F017EB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8172-AEDF-CC1D-633F-D4985F6FE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Bu </a:t>
            </a:r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çalışma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B2356-E0CF-23B8-90E8-20429144D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Önceki</a:t>
            </a:r>
            <a:r>
              <a:rPr lang="en-US" dirty="0"/>
              <a:t> </a:t>
            </a:r>
            <a:r>
              <a:rPr lang="en-US" dirty="0" err="1"/>
              <a:t>dönemde</a:t>
            </a:r>
            <a:r>
              <a:rPr lang="en-US" dirty="0"/>
              <a:t> </a:t>
            </a:r>
            <a:r>
              <a:rPr lang="en-US" dirty="0" err="1"/>
              <a:t>geliştirilen</a:t>
            </a:r>
            <a:r>
              <a:rPr lang="en-US" dirty="0"/>
              <a:t> </a:t>
            </a:r>
            <a:r>
              <a:rPr lang="en-US" dirty="0" err="1"/>
              <a:t>ters</a:t>
            </a:r>
            <a:r>
              <a:rPr lang="en-US" dirty="0"/>
              <a:t> MLP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dönemin</a:t>
            </a:r>
            <a:r>
              <a:rPr lang="en-US" dirty="0"/>
              <a:t> </a:t>
            </a:r>
            <a:r>
              <a:rPr lang="en-US" dirty="0" err="1"/>
              <a:t>temelini</a:t>
            </a:r>
            <a:r>
              <a:rPr lang="en-US" dirty="0"/>
              <a:t> </a:t>
            </a:r>
            <a:r>
              <a:rPr lang="en-US" dirty="0" err="1"/>
              <a:t>oluşturdu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Model, soft-sensor </a:t>
            </a:r>
            <a:r>
              <a:rPr lang="en-US" dirty="0" err="1"/>
              <a:t>bileşeni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alındı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Amaç,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kompozisyonundan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bileşimini</a:t>
            </a:r>
            <a:r>
              <a:rPr lang="en-US" dirty="0"/>
              <a:t> </a:t>
            </a:r>
            <a:r>
              <a:rPr lang="en-US" dirty="0" err="1"/>
              <a:t>hesaplamalı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etmekti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tahminin</a:t>
            </a:r>
            <a:r>
              <a:rPr lang="en-US" dirty="0"/>
              <a:t>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MÖK-</a:t>
            </a:r>
            <a:r>
              <a:rPr lang="en-US" dirty="0" err="1"/>
              <a:t>benzeri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yapısına</a:t>
            </a:r>
            <a:r>
              <a:rPr lang="en-US" dirty="0"/>
              <a:t> </a:t>
            </a:r>
            <a:r>
              <a:rPr lang="en-US" dirty="0" err="1"/>
              <a:t>aktarılması</a:t>
            </a:r>
            <a:r>
              <a:rPr lang="en-US" dirty="0"/>
              <a:t> </a:t>
            </a:r>
            <a:r>
              <a:rPr lang="en-US" dirty="0" err="1"/>
              <a:t>hedeflendi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T, P </a:t>
            </a:r>
            <a:r>
              <a:rPr lang="en-US" dirty="0" err="1"/>
              <a:t>ve</a:t>
            </a:r>
            <a:r>
              <a:rPr lang="en-US" dirty="0"/>
              <a:t> S/C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değişkenleri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seçildi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96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13601-1676-4CFA-6A37-E532B83A0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AECD-9E12-6C1C-79E5-99613B370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Bu </a:t>
            </a:r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çalışma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20D4D-D9B2-69CF-5AAD-84DA4875B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Ters</a:t>
            </a:r>
            <a:r>
              <a:rPr lang="en-US" dirty="0"/>
              <a:t> ML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arayüzü</a:t>
            </a:r>
            <a:r>
              <a:rPr lang="en-US" dirty="0"/>
              <a:t> </a:t>
            </a:r>
            <a:r>
              <a:rPr lang="en-US" dirty="0" err="1"/>
              <a:t>oluşturuldu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İleri</a:t>
            </a:r>
            <a:r>
              <a:rPr lang="en-US" dirty="0"/>
              <a:t> </a:t>
            </a:r>
            <a:r>
              <a:rPr lang="en-US" dirty="0" err="1"/>
              <a:t>vekil</a:t>
            </a:r>
            <a:r>
              <a:rPr lang="en-US" dirty="0"/>
              <a:t> model </a:t>
            </a:r>
            <a:r>
              <a:rPr lang="en-US" dirty="0" err="1"/>
              <a:t>geliştirildi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H2/CO </a:t>
            </a:r>
            <a:r>
              <a:rPr lang="en-US" dirty="0" err="1"/>
              <a:t>hedefli</a:t>
            </a:r>
            <a:r>
              <a:rPr lang="en-US" dirty="0"/>
              <a:t>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</a:t>
            </a:r>
            <a:r>
              <a:rPr lang="en-US" dirty="0" err="1"/>
              <a:t>tanımlandı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Statik </a:t>
            </a:r>
            <a:r>
              <a:rPr lang="en-US" dirty="0" err="1"/>
              <a:t>optimizasyon</a:t>
            </a:r>
            <a:r>
              <a:rPr lang="en-US" dirty="0"/>
              <a:t> case-study </a:t>
            </a:r>
            <a:r>
              <a:rPr lang="en-US" dirty="0" err="1"/>
              <a:t>çalışmaları</a:t>
            </a:r>
            <a:r>
              <a:rPr lang="en-US" dirty="0"/>
              <a:t> </a:t>
            </a:r>
            <a:r>
              <a:rPr lang="en-US" dirty="0" err="1"/>
              <a:t>yürütüldü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MÖK-</a:t>
            </a:r>
            <a:r>
              <a:rPr lang="en-US" dirty="0" err="1"/>
              <a:t>benzeri</a:t>
            </a:r>
            <a:r>
              <a:rPr lang="en-US" dirty="0"/>
              <a:t> </a:t>
            </a:r>
            <a:r>
              <a:rPr lang="en-US" dirty="0" err="1"/>
              <a:t>kapalı</a:t>
            </a:r>
            <a:r>
              <a:rPr lang="en-US" dirty="0"/>
              <a:t> </a:t>
            </a:r>
            <a:r>
              <a:rPr lang="en-US" dirty="0" err="1"/>
              <a:t>çevrim</a:t>
            </a:r>
            <a:r>
              <a:rPr lang="en-US" dirty="0"/>
              <a:t> </a:t>
            </a:r>
            <a:r>
              <a:rPr lang="en-US" dirty="0" err="1"/>
              <a:t>senaryo</a:t>
            </a:r>
            <a:r>
              <a:rPr lang="en-US" dirty="0"/>
              <a:t> </a:t>
            </a:r>
            <a:r>
              <a:rPr lang="en-US" dirty="0" err="1"/>
              <a:t>oluşturuldu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Bozucu</a:t>
            </a:r>
            <a:r>
              <a:rPr lang="en-US" dirty="0"/>
              <a:t> </a:t>
            </a:r>
            <a:r>
              <a:rPr lang="en-US" dirty="0" err="1"/>
              <a:t>etki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davranışı</a:t>
            </a:r>
            <a:r>
              <a:rPr lang="en-US" dirty="0"/>
              <a:t> </a:t>
            </a:r>
            <a:r>
              <a:rPr lang="en-US" dirty="0" err="1"/>
              <a:t>incelendi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170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FB6EC-6D9C-A073-E5E7-96EB823B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D38F-E565-0AC0-805E-4BC1A2513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Ters</a:t>
            </a:r>
            <a:r>
              <a:rPr lang="en-US" dirty="0"/>
              <a:t> ML </a:t>
            </a:r>
            <a:r>
              <a:rPr lang="en-US" dirty="0" err="1"/>
              <a:t>Modelinin</a:t>
            </a:r>
            <a:r>
              <a:rPr lang="en-US" dirty="0"/>
              <a:t> Soft-Sensor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Kullanılması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466A3-2D5F-0DB1-AF10-0A1782445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1906"/>
            <a:ext cx="8596668" cy="49466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Soft-sensor,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ölçülmesi</a:t>
            </a:r>
            <a:r>
              <a:rPr lang="en-US" dirty="0"/>
              <a:t> </a:t>
            </a:r>
            <a:r>
              <a:rPr lang="en-US" dirty="0" err="1"/>
              <a:t>zor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değişkenin</a:t>
            </a:r>
            <a:r>
              <a:rPr lang="en-US" dirty="0"/>
              <a:t> </a:t>
            </a:r>
            <a:r>
              <a:rPr lang="en-US" dirty="0" err="1"/>
              <a:t>ölçülebilir</a:t>
            </a:r>
            <a:r>
              <a:rPr lang="en-US" dirty="0"/>
              <a:t> </a:t>
            </a:r>
            <a:r>
              <a:rPr lang="en-US" dirty="0" err="1"/>
              <a:t>değişkenlerden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edilmesidir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çalışmada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değişken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kompozisyonudur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Model </a:t>
            </a:r>
            <a:r>
              <a:rPr lang="en-US" dirty="0" err="1"/>
              <a:t>girdileri</a:t>
            </a:r>
            <a:r>
              <a:rPr lang="en-US" dirty="0"/>
              <a:t> proses </a:t>
            </a:r>
            <a:r>
              <a:rPr lang="en-US" dirty="0" err="1"/>
              <a:t>koşulları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kompozisyonudur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Model </a:t>
            </a:r>
            <a:r>
              <a:rPr lang="en-US" dirty="0" err="1"/>
              <a:t>çıktısı</a:t>
            </a:r>
            <a:r>
              <a:rPr lang="en-US" dirty="0"/>
              <a:t> </a:t>
            </a:r>
            <a:r>
              <a:rPr lang="en-US" dirty="0" err="1"/>
              <a:t>altı</a:t>
            </a:r>
            <a:r>
              <a:rPr lang="en-US" dirty="0"/>
              <a:t> </a:t>
            </a:r>
            <a:r>
              <a:rPr lang="en-US" dirty="0" err="1"/>
              <a:t>bileşenli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kompozisyonudur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kompozisyon</a:t>
            </a:r>
            <a:r>
              <a:rPr lang="en-US" dirty="0"/>
              <a:t>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bloğuna</a:t>
            </a:r>
            <a:r>
              <a:rPr lang="en-US" dirty="0"/>
              <a:t> </a:t>
            </a:r>
            <a:r>
              <a:rPr lang="en-US" dirty="0" err="1"/>
              <a:t>aktarılmaktadır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169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E9B1-6AAD-4589-DCA3-8E11AB132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FDC4-69A3-6921-03D0-7E7BA3FB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Soft-Sensor </a:t>
            </a:r>
            <a:r>
              <a:rPr lang="en-US" dirty="0" err="1"/>
              <a:t>Giriş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Çıkışları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A7E1D-1A41-6D64-7A5F-931E0D895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Proses </a:t>
            </a:r>
            <a:r>
              <a:rPr lang="en-US" dirty="0" err="1"/>
              <a:t>koşulları</a:t>
            </a:r>
            <a:r>
              <a:rPr lang="en-US" dirty="0"/>
              <a:t>: reformer </a:t>
            </a:r>
            <a:r>
              <a:rPr lang="en-US" dirty="0" err="1"/>
              <a:t>sıcaklığı</a:t>
            </a:r>
            <a:r>
              <a:rPr lang="en-US" dirty="0"/>
              <a:t>, </a:t>
            </a:r>
            <a:r>
              <a:rPr lang="en-US" dirty="0" err="1"/>
              <a:t>basınç</a:t>
            </a:r>
            <a:r>
              <a:rPr lang="en-US" dirty="0"/>
              <a:t>, </a:t>
            </a:r>
            <a:r>
              <a:rPr lang="en-US" dirty="0" err="1"/>
              <a:t>buhar</a:t>
            </a:r>
            <a:r>
              <a:rPr lang="en-US" dirty="0"/>
              <a:t>/</a:t>
            </a:r>
            <a:r>
              <a:rPr lang="en-US" dirty="0" err="1"/>
              <a:t>karbon</a:t>
            </a:r>
            <a:r>
              <a:rPr lang="en-US" dirty="0"/>
              <a:t> </a:t>
            </a:r>
            <a:r>
              <a:rPr lang="en-US" dirty="0" err="1"/>
              <a:t>oranı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bileşenleri</a:t>
            </a:r>
            <a:r>
              <a:rPr lang="en-US" dirty="0"/>
              <a:t>: H2, CO, CO2, CH4, H2O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bileşenleri</a:t>
            </a:r>
            <a:r>
              <a:rPr lang="en-US" dirty="0"/>
              <a:t>: </a:t>
            </a:r>
            <a:r>
              <a:rPr lang="en-US" dirty="0" err="1"/>
              <a:t>aromatikler</a:t>
            </a:r>
            <a:r>
              <a:rPr lang="en-US" dirty="0"/>
              <a:t>, </a:t>
            </a:r>
            <a:r>
              <a:rPr lang="en-US" dirty="0" err="1"/>
              <a:t>asitler</a:t>
            </a:r>
            <a:r>
              <a:rPr lang="en-US" dirty="0"/>
              <a:t>, </a:t>
            </a:r>
            <a:r>
              <a:rPr lang="en-US" dirty="0" err="1"/>
              <a:t>alkoller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bileşenleri</a:t>
            </a:r>
            <a:r>
              <a:rPr lang="en-US" dirty="0"/>
              <a:t>: </a:t>
            </a:r>
            <a:r>
              <a:rPr lang="en-US" dirty="0" err="1"/>
              <a:t>furanlar</a:t>
            </a:r>
            <a:r>
              <a:rPr lang="en-US" dirty="0"/>
              <a:t>, </a:t>
            </a:r>
            <a:r>
              <a:rPr lang="en-US" dirty="0" err="1"/>
              <a:t>fenoller</a:t>
            </a:r>
            <a:r>
              <a:rPr lang="en-US" dirty="0"/>
              <a:t>, </a:t>
            </a:r>
            <a:r>
              <a:rPr lang="en-US" dirty="0" err="1"/>
              <a:t>aldehit-ketonlar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Model </a:t>
            </a:r>
            <a:r>
              <a:rPr lang="en-US" dirty="0" err="1"/>
              <a:t>çıktıları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anlamlılık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sınırlandırılıp</a:t>
            </a:r>
            <a:r>
              <a:rPr lang="en-US" dirty="0"/>
              <a:t> normalize </a:t>
            </a:r>
            <a:r>
              <a:rPr lang="en-US" dirty="0" err="1"/>
              <a:t>edilmektedir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308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4BDA8-C1C2-DD6E-270B-36225270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BAE5-9629-5554-F81E-2BCCDDB32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İleri</a:t>
            </a:r>
            <a:r>
              <a:rPr lang="en-US" dirty="0"/>
              <a:t> </a:t>
            </a:r>
            <a:r>
              <a:rPr lang="en-US" dirty="0" err="1"/>
              <a:t>Vekil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Geliştirilmesi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2B157-8A3B-B897-03A7-B812F5E2E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aday</a:t>
            </a:r>
            <a:r>
              <a:rPr lang="en-US" dirty="0"/>
              <a:t> proses </a:t>
            </a:r>
            <a:r>
              <a:rPr lang="en-US" dirty="0" err="1"/>
              <a:t>koşullarının</a:t>
            </a:r>
            <a:r>
              <a:rPr lang="en-US" dirty="0"/>
              <a:t> </a:t>
            </a:r>
            <a:r>
              <a:rPr lang="en-US" dirty="0" err="1"/>
              <a:t>hızlı</a:t>
            </a:r>
            <a:r>
              <a:rPr lang="en-US" dirty="0"/>
              <a:t> </a:t>
            </a:r>
            <a:r>
              <a:rPr lang="en-US" dirty="0" err="1"/>
              <a:t>değerlendirilmesi</a:t>
            </a:r>
            <a:r>
              <a:rPr lang="en-US" dirty="0"/>
              <a:t> </a:t>
            </a:r>
            <a:r>
              <a:rPr lang="en-US" dirty="0" err="1"/>
              <a:t>gereklidir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Her </a:t>
            </a:r>
            <a:r>
              <a:rPr lang="en-US" dirty="0" err="1"/>
              <a:t>aday</a:t>
            </a:r>
            <a:r>
              <a:rPr lang="en-US" dirty="0"/>
              <a:t> </a:t>
            </a:r>
            <a:r>
              <a:rPr lang="en-US" dirty="0" err="1"/>
              <a:t>koşulda</a:t>
            </a:r>
            <a:r>
              <a:rPr lang="en-US" dirty="0"/>
              <a:t> Cantera </a:t>
            </a:r>
            <a:r>
              <a:rPr lang="en-US" dirty="0" err="1"/>
              <a:t>simülasyonu</a:t>
            </a:r>
            <a:r>
              <a:rPr lang="en-US" dirty="0"/>
              <a:t> </a:t>
            </a:r>
            <a:r>
              <a:rPr lang="en-US" dirty="0" err="1"/>
              <a:t>çalıştırmak</a:t>
            </a:r>
            <a:r>
              <a:rPr lang="en-US" dirty="0"/>
              <a:t> </a:t>
            </a:r>
            <a:r>
              <a:rPr lang="en-US" dirty="0" err="1"/>
              <a:t>pratik</a:t>
            </a:r>
            <a:r>
              <a:rPr lang="en-US" dirty="0"/>
              <a:t> </a:t>
            </a:r>
            <a:r>
              <a:rPr lang="en-US" dirty="0" err="1"/>
              <a:t>değildir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nedenle</a:t>
            </a:r>
            <a:r>
              <a:rPr lang="en-US" dirty="0"/>
              <a:t> </a:t>
            </a:r>
            <a:r>
              <a:rPr lang="en-US" dirty="0" err="1"/>
              <a:t>ileri</a:t>
            </a:r>
            <a:r>
              <a:rPr lang="en-US" dirty="0"/>
              <a:t> </a:t>
            </a:r>
            <a:r>
              <a:rPr lang="en-US" dirty="0" err="1"/>
              <a:t>vekil</a:t>
            </a:r>
            <a:r>
              <a:rPr lang="en-US" dirty="0"/>
              <a:t> model </a:t>
            </a:r>
            <a:r>
              <a:rPr lang="en-US" dirty="0" err="1"/>
              <a:t>geliştirilmiştir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Girdi</a:t>
            </a:r>
            <a:r>
              <a:rPr lang="en-US" dirty="0"/>
              <a:t>: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, T, P, S/C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Çıktı</a:t>
            </a:r>
            <a:r>
              <a:rPr lang="en-US" dirty="0"/>
              <a:t>: H2, CO, CO2, CH4, H2O </a:t>
            </a:r>
            <a:r>
              <a:rPr lang="en-US" dirty="0" err="1"/>
              <a:t>ve</a:t>
            </a:r>
            <a:r>
              <a:rPr lang="en-US" dirty="0"/>
              <a:t> H2/CO </a:t>
            </a:r>
            <a:r>
              <a:rPr lang="en-US" dirty="0" err="1"/>
              <a:t>oranı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558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6CB85-88AA-33F6-D407-3B01DCD64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19EA-D004-42A6-52AE-37EA9520B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İleri</a:t>
            </a:r>
            <a:r>
              <a:rPr lang="en-US" dirty="0"/>
              <a:t> </a:t>
            </a:r>
            <a:r>
              <a:rPr lang="en-US" dirty="0" err="1"/>
              <a:t>Vekil</a:t>
            </a:r>
            <a:r>
              <a:rPr lang="en-US" dirty="0"/>
              <a:t> Model </a:t>
            </a:r>
            <a:r>
              <a:rPr lang="en-US" dirty="0" err="1"/>
              <a:t>Performansı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2CFF5-A422-778D-2A86-207707D89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Model Cantera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temiz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seti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eğitildi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çıkışlı</a:t>
            </a:r>
            <a:r>
              <a:rPr lang="en-US" dirty="0"/>
              <a:t> </a:t>
            </a:r>
            <a:r>
              <a:rPr lang="en-US" dirty="0" err="1"/>
              <a:t>regresyon</a:t>
            </a:r>
            <a:r>
              <a:rPr lang="en-US" dirty="0"/>
              <a:t> </a:t>
            </a:r>
            <a:r>
              <a:rPr lang="en-US" dirty="0" err="1"/>
              <a:t>yaklaşımı</a:t>
            </a:r>
            <a:r>
              <a:rPr lang="en-US" dirty="0"/>
              <a:t> </a:t>
            </a:r>
            <a:r>
              <a:rPr lang="en-US" dirty="0" err="1"/>
              <a:t>kullanıldı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 scikit-learn </a:t>
            </a:r>
            <a:r>
              <a:rPr lang="en-US" dirty="0" err="1"/>
              <a:t>ExtraTreesRegressor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Ortalama</a:t>
            </a:r>
            <a:r>
              <a:rPr lang="en-US" dirty="0"/>
              <a:t> R2 = 0.996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Ortalama</a:t>
            </a:r>
            <a:r>
              <a:rPr lang="en-US" dirty="0"/>
              <a:t> RMSE = 0.268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Ortalama</a:t>
            </a:r>
            <a:r>
              <a:rPr lang="en-US" dirty="0"/>
              <a:t> MAE = 0.125</a:t>
            </a:r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sonuç</a:t>
            </a:r>
            <a:r>
              <a:rPr lang="en-US" dirty="0"/>
              <a:t> Cantera </a:t>
            </a:r>
            <a:r>
              <a:rPr lang="en-US" dirty="0" err="1"/>
              <a:t>simülasyon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uzayının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doğrulukla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edildiğini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06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D996D-A8F7-FF6D-DE52-8B9873950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71F9-FAB0-927D-882B-43A1088A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Problemi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5F277-6A12-6193-13D3-FDA8A35C1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10501654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Amaç,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reformer </a:t>
            </a:r>
            <a:r>
              <a:rPr lang="en-US" dirty="0" err="1"/>
              <a:t>çalışma</a:t>
            </a:r>
            <a:r>
              <a:rPr lang="en-US" dirty="0"/>
              <a:t> </a:t>
            </a:r>
            <a:r>
              <a:rPr lang="en-US" dirty="0" err="1"/>
              <a:t>koşullarını</a:t>
            </a:r>
            <a:r>
              <a:rPr lang="en-US" dirty="0"/>
              <a:t> (T, P, S/C) </a:t>
            </a:r>
            <a:r>
              <a:rPr lang="en-US" dirty="0" err="1"/>
              <a:t>öyle</a:t>
            </a:r>
            <a:r>
              <a:rPr lang="en-US" dirty="0"/>
              <a:t> </a:t>
            </a:r>
            <a:r>
              <a:rPr lang="en-US" dirty="0" err="1"/>
              <a:t>belirlemektir</a:t>
            </a:r>
            <a:r>
              <a:rPr lang="en-US" dirty="0"/>
              <a:t> ki H2/CO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hedefe</a:t>
            </a:r>
            <a:r>
              <a:rPr lang="en-US" dirty="0"/>
              <a:t> </a:t>
            </a:r>
            <a:r>
              <a:rPr lang="en-US" dirty="0" err="1"/>
              <a:t>yaklaşırken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H2 </a:t>
            </a:r>
            <a:r>
              <a:rPr lang="en-US" dirty="0" err="1"/>
              <a:t>verimi</a:t>
            </a:r>
            <a:r>
              <a:rPr lang="en-US" dirty="0"/>
              <a:t>, </a:t>
            </a:r>
            <a:r>
              <a:rPr lang="en-US" dirty="0" err="1"/>
              <a:t>metan</a:t>
            </a:r>
            <a:r>
              <a:rPr lang="en-US" dirty="0"/>
              <a:t> </a:t>
            </a:r>
            <a:r>
              <a:rPr lang="en-US" dirty="0" err="1"/>
              <a:t>kayması</a:t>
            </a:r>
            <a:r>
              <a:rPr lang="en-US" dirty="0"/>
              <a:t>, CO₂,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maliyeti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koklaşma</a:t>
            </a:r>
            <a:r>
              <a:rPr lang="en-US" dirty="0"/>
              <a:t> </a:t>
            </a:r>
            <a:r>
              <a:rPr lang="en-US" dirty="0" err="1"/>
              <a:t>riski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iyi </a:t>
            </a:r>
            <a:r>
              <a:rPr lang="en-US" dirty="0" err="1"/>
              <a:t>denge</a:t>
            </a:r>
            <a:r>
              <a:rPr lang="en-US" dirty="0"/>
              <a:t> </a:t>
            </a:r>
            <a:r>
              <a:rPr lang="en-US" dirty="0" err="1"/>
              <a:t>kurulsun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Karar </a:t>
            </a:r>
            <a:r>
              <a:rPr lang="en-US" dirty="0" err="1"/>
              <a:t>değişkenleri</a:t>
            </a:r>
            <a:r>
              <a:rPr lang="en-US" dirty="0"/>
              <a:t>: T, P </a:t>
            </a:r>
            <a:r>
              <a:rPr lang="en-US" dirty="0" err="1"/>
              <a:t>ve</a:t>
            </a:r>
            <a:r>
              <a:rPr lang="en-US" dirty="0"/>
              <a:t> S/C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Sıcaklık</a:t>
            </a:r>
            <a:r>
              <a:rPr lang="en-US" dirty="0"/>
              <a:t> </a:t>
            </a:r>
            <a:r>
              <a:rPr lang="en-US" dirty="0" err="1"/>
              <a:t>aralığı</a:t>
            </a:r>
            <a:r>
              <a:rPr lang="en-US" dirty="0"/>
              <a:t>: 650-850 °C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Basınç</a:t>
            </a:r>
            <a:r>
              <a:rPr lang="en-US" dirty="0"/>
              <a:t> </a:t>
            </a:r>
            <a:r>
              <a:rPr lang="en-US" dirty="0" err="1"/>
              <a:t>aralığı</a:t>
            </a:r>
            <a:r>
              <a:rPr lang="en-US" dirty="0"/>
              <a:t>: 5-30 bar</a:t>
            </a:r>
          </a:p>
          <a:p>
            <a:pPr>
              <a:lnSpc>
                <a:spcPct val="150000"/>
              </a:lnSpc>
            </a:pPr>
            <a:r>
              <a:rPr lang="en-US" dirty="0"/>
              <a:t>S/C </a:t>
            </a:r>
            <a:r>
              <a:rPr lang="en-US" dirty="0" err="1"/>
              <a:t>aralığı</a:t>
            </a:r>
            <a:r>
              <a:rPr lang="en-US" dirty="0"/>
              <a:t>: 2-6</a:t>
            </a:r>
          </a:p>
        </p:txBody>
      </p:sp>
    </p:spTree>
    <p:extLst>
      <p:ext uri="{BB962C8B-B14F-4D97-AF65-F5344CB8AC3E}">
        <p14:creationId xmlns:p14="http://schemas.microsoft.com/office/powerpoint/2010/main" val="255538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164BF-D88E-6E8F-7C65-7C533C38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6EC7D-14A7-5B62-AE7B-DB79D269D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Statik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Senaryoları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A4F8B-7237-70D7-043F-0849322F9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tipi </a:t>
            </a:r>
            <a:r>
              <a:rPr lang="en-US" dirty="0" err="1"/>
              <a:t>incelendi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Aromatik</a:t>
            </a:r>
            <a:r>
              <a:rPr lang="en-US" dirty="0"/>
              <a:t> </a:t>
            </a:r>
            <a:r>
              <a:rPr lang="en-US" dirty="0" err="1"/>
              <a:t>bakımından</a:t>
            </a:r>
            <a:r>
              <a:rPr lang="en-US" dirty="0"/>
              <a:t> </a:t>
            </a:r>
            <a:r>
              <a:rPr lang="en-US" dirty="0" err="1"/>
              <a:t>zengin</a:t>
            </a:r>
            <a:r>
              <a:rPr lang="en-US" dirty="0"/>
              <a:t> </a:t>
            </a:r>
            <a:r>
              <a:rPr lang="en-US" dirty="0" err="1"/>
              <a:t>biyoyağ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Asit </a:t>
            </a:r>
            <a:r>
              <a:rPr lang="en-US" dirty="0" err="1"/>
              <a:t>bakımından</a:t>
            </a:r>
            <a:r>
              <a:rPr lang="en-US" dirty="0"/>
              <a:t> </a:t>
            </a:r>
            <a:r>
              <a:rPr lang="en-US" dirty="0" err="1"/>
              <a:t>zengin</a:t>
            </a:r>
            <a:r>
              <a:rPr lang="en-US" dirty="0"/>
              <a:t> </a:t>
            </a:r>
            <a:r>
              <a:rPr lang="en-US" dirty="0" err="1"/>
              <a:t>biyoyağ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Dengeli</a:t>
            </a:r>
            <a:r>
              <a:rPr lang="en-US" dirty="0"/>
              <a:t> </a:t>
            </a:r>
            <a:r>
              <a:rPr lang="en-US" dirty="0" err="1"/>
              <a:t>kompozisyona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biyoyağ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Hedef</a:t>
            </a:r>
            <a:r>
              <a:rPr lang="en-US" dirty="0"/>
              <a:t> H2/CO </a:t>
            </a:r>
            <a:r>
              <a:rPr lang="en-US" dirty="0" err="1"/>
              <a:t>değeri</a:t>
            </a:r>
            <a:r>
              <a:rPr lang="en-US" dirty="0"/>
              <a:t>: 2.0</a:t>
            </a:r>
          </a:p>
        </p:txBody>
      </p:sp>
    </p:spTree>
    <p:extLst>
      <p:ext uri="{BB962C8B-B14F-4D97-AF65-F5344CB8AC3E}">
        <p14:creationId xmlns:p14="http://schemas.microsoft.com/office/powerpoint/2010/main" val="1423539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F6473-A7B5-F59A-CFB9-6FFA1DA79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C067-BAEE-ADD4-5B76-21E41ACDC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Statik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Sonuçları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47459-68FE-0C09-61F4-23BF03E62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sonrası</a:t>
            </a:r>
            <a:r>
              <a:rPr lang="en-US" dirty="0"/>
              <a:t> H2/CO </a:t>
            </a:r>
            <a:r>
              <a:rPr lang="en-US" dirty="0" err="1"/>
              <a:t>oranları</a:t>
            </a:r>
            <a:r>
              <a:rPr lang="en-US" dirty="0"/>
              <a:t> </a:t>
            </a:r>
            <a:r>
              <a:rPr lang="en-US" dirty="0" err="1"/>
              <a:t>yaklaşık</a:t>
            </a:r>
            <a:r>
              <a:rPr lang="en-US" dirty="0"/>
              <a:t> 2.67–3.17 </a:t>
            </a:r>
            <a:r>
              <a:rPr lang="en-US" dirty="0" err="1"/>
              <a:t>aralığına</a:t>
            </a:r>
            <a:r>
              <a:rPr lang="en-US" dirty="0"/>
              <a:t> </a:t>
            </a:r>
            <a:r>
              <a:rPr lang="en-US" dirty="0" err="1"/>
              <a:t>düşmüştür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Çok-amaçlı</a:t>
            </a:r>
            <a:r>
              <a:rPr lang="en-US" dirty="0"/>
              <a:t> </a:t>
            </a:r>
            <a:r>
              <a:rPr lang="en-US" dirty="0" err="1"/>
              <a:t>optimizasyon</a:t>
            </a:r>
            <a:r>
              <a:rPr lang="en-US" dirty="0"/>
              <a:t>, H2/</a:t>
            </a:r>
            <a:r>
              <a:rPr lang="en-US" dirty="0" err="1"/>
              <a:t>CO'yu</a:t>
            </a:r>
            <a:r>
              <a:rPr lang="en-US" dirty="0"/>
              <a:t> </a:t>
            </a:r>
            <a:r>
              <a:rPr lang="en-US" dirty="0" err="1"/>
              <a:t>hedefe</a:t>
            </a:r>
            <a:r>
              <a:rPr lang="en-US" dirty="0"/>
              <a:t> (2.5) tam </a:t>
            </a:r>
            <a:r>
              <a:rPr lang="en-US" dirty="0" err="1"/>
              <a:t>oturtmak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, </a:t>
            </a:r>
            <a:r>
              <a:rPr lang="en-US" dirty="0" err="1"/>
              <a:t>oran</a:t>
            </a:r>
            <a:r>
              <a:rPr lang="en-US" dirty="0"/>
              <a:t> </a:t>
            </a:r>
            <a:r>
              <a:rPr lang="en-US" dirty="0" err="1"/>
              <a:t>doğruluğundan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koklaşma</a:t>
            </a:r>
            <a:r>
              <a:rPr lang="en-US" dirty="0"/>
              <a:t> </a:t>
            </a:r>
            <a:r>
              <a:rPr lang="en-US" dirty="0" err="1"/>
              <a:t>lehine</a:t>
            </a:r>
            <a:r>
              <a:rPr lang="en-US" dirty="0"/>
              <a:t> </a:t>
            </a:r>
            <a:r>
              <a:rPr lang="en-US" dirty="0" err="1"/>
              <a:t>taviz</a:t>
            </a:r>
            <a:r>
              <a:rPr lang="en-US" dirty="0"/>
              <a:t> </a:t>
            </a:r>
            <a:r>
              <a:rPr lang="en-US" dirty="0" err="1"/>
              <a:t>vererek</a:t>
            </a:r>
            <a:r>
              <a:rPr lang="en-US" dirty="0"/>
              <a:t> </a:t>
            </a:r>
            <a:r>
              <a:rPr lang="en-US" dirty="0" err="1"/>
              <a:t>hedeften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miktar</a:t>
            </a:r>
            <a:r>
              <a:rPr lang="en-US" dirty="0"/>
              <a:t> </a:t>
            </a:r>
            <a:r>
              <a:rPr lang="en-US" dirty="0" err="1"/>
              <a:t>uzakta</a:t>
            </a:r>
            <a:r>
              <a:rPr lang="en-US" dirty="0"/>
              <a:t> </a:t>
            </a:r>
            <a:r>
              <a:rPr lang="en-US" dirty="0" err="1"/>
              <a:t>dengelemiştir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Optimum </a:t>
            </a:r>
            <a:r>
              <a:rPr lang="en-US" dirty="0" err="1"/>
              <a:t>noktalar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Optimizasyon</a:t>
            </a:r>
            <a:r>
              <a:rPr lang="en-US" dirty="0"/>
              <a:t> T = 850 °C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sınırını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seçmemiş</a:t>
            </a:r>
            <a:r>
              <a:rPr lang="en-US" dirty="0"/>
              <a:t>, </a:t>
            </a:r>
            <a:r>
              <a:rPr lang="en-US" dirty="0" err="1"/>
              <a:t>sıcaklığı</a:t>
            </a:r>
            <a:r>
              <a:rPr lang="en-US" dirty="0"/>
              <a:t> </a:t>
            </a:r>
            <a:r>
              <a:rPr lang="en-US" dirty="0" err="1"/>
              <a:t>çoğunlukla</a:t>
            </a:r>
            <a:r>
              <a:rPr lang="en-US" dirty="0"/>
              <a:t> 775 °C (</a:t>
            </a:r>
            <a:r>
              <a:rPr lang="en-US" dirty="0" err="1"/>
              <a:t>kimi</a:t>
            </a:r>
            <a:r>
              <a:rPr lang="en-US" dirty="0"/>
              <a:t> </a:t>
            </a:r>
            <a:r>
              <a:rPr lang="en-US" dirty="0" err="1"/>
              <a:t>durumda</a:t>
            </a:r>
            <a:r>
              <a:rPr lang="en-US" dirty="0"/>
              <a:t> 800 °C)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değerine</a:t>
            </a:r>
            <a:r>
              <a:rPr lang="en-US" dirty="0"/>
              <a:t> </a:t>
            </a:r>
            <a:r>
              <a:rPr lang="en-US" dirty="0" err="1"/>
              <a:t>çekmiştir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Basınç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durumlarda</a:t>
            </a:r>
            <a:r>
              <a:rPr lang="en-US" dirty="0"/>
              <a:t> 5 bar alt </a:t>
            </a:r>
            <a:r>
              <a:rPr lang="en-US" dirty="0" err="1"/>
              <a:t>sınırına</a:t>
            </a:r>
            <a:r>
              <a:rPr lang="en-US" dirty="0"/>
              <a:t> </a:t>
            </a:r>
            <a:r>
              <a:rPr lang="en-US" dirty="0" err="1"/>
              <a:t>gitmiştir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S/C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durumlarda</a:t>
            </a:r>
            <a:r>
              <a:rPr lang="en-US" dirty="0"/>
              <a:t> 2 alt </a:t>
            </a:r>
            <a:r>
              <a:rPr lang="en-US" dirty="0" err="1"/>
              <a:t>sınırına</a:t>
            </a:r>
            <a:r>
              <a:rPr lang="en-US" dirty="0"/>
              <a:t> </a:t>
            </a:r>
            <a:r>
              <a:rPr lang="en-US" dirty="0" err="1"/>
              <a:t>gitmiştir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7826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0B5FE-2800-EC6E-764C-12C98645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2A4F-7213-474E-DD46-E80DC86C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MÖK-</a:t>
            </a:r>
            <a:r>
              <a:rPr lang="en-US" dirty="0" err="1"/>
              <a:t>Benzeri</a:t>
            </a:r>
            <a:r>
              <a:rPr lang="en-US" dirty="0"/>
              <a:t> </a:t>
            </a:r>
            <a:r>
              <a:rPr lang="en-US" dirty="0" err="1"/>
              <a:t>Kapalı</a:t>
            </a:r>
            <a:r>
              <a:rPr lang="en-US" dirty="0"/>
              <a:t> </a:t>
            </a:r>
            <a:r>
              <a:rPr lang="en-US" dirty="0" err="1"/>
              <a:t>Çevrim</a:t>
            </a:r>
            <a:r>
              <a:rPr lang="en-US" dirty="0"/>
              <a:t> </a:t>
            </a:r>
            <a:r>
              <a:rPr lang="en-US" dirty="0" err="1"/>
              <a:t>Senaryo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F14F4-3A46-170F-9A6A-03EC04322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Statik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sonrası</a:t>
            </a:r>
            <a:r>
              <a:rPr lang="en-US" dirty="0"/>
              <a:t> zaman </a:t>
            </a:r>
            <a:r>
              <a:rPr lang="en-US" dirty="0" err="1"/>
              <a:t>adımlı</a:t>
            </a:r>
            <a:r>
              <a:rPr lang="en-US" dirty="0"/>
              <a:t> </a:t>
            </a:r>
            <a:r>
              <a:rPr lang="en-US" dirty="0" err="1"/>
              <a:t>kapalı</a:t>
            </a:r>
            <a:r>
              <a:rPr lang="en-US" dirty="0"/>
              <a:t> </a:t>
            </a:r>
            <a:r>
              <a:rPr lang="en-US" dirty="0" err="1"/>
              <a:t>çevrim</a:t>
            </a:r>
            <a:r>
              <a:rPr lang="en-US" dirty="0"/>
              <a:t> </a:t>
            </a:r>
            <a:r>
              <a:rPr lang="en-US" dirty="0" err="1"/>
              <a:t>senaryo</a:t>
            </a:r>
            <a:r>
              <a:rPr lang="en-US" dirty="0"/>
              <a:t> </a:t>
            </a:r>
            <a:r>
              <a:rPr lang="en-US" dirty="0" err="1"/>
              <a:t>oluşturuldu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Her </a:t>
            </a:r>
            <a:r>
              <a:rPr lang="en-US" dirty="0" err="1"/>
              <a:t>adımda</a:t>
            </a:r>
            <a:r>
              <a:rPr lang="en-US" dirty="0"/>
              <a:t> </a:t>
            </a:r>
            <a:r>
              <a:rPr lang="en-US" dirty="0" err="1"/>
              <a:t>singaz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ölçüm</a:t>
            </a:r>
            <a:r>
              <a:rPr lang="en-US" dirty="0"/>
              <a:t>/</a:t>
            </a:r>
            <a:r>
              <a:rPr lang="en-US" dirty="0" err="1"/>
              <a:t>simülasyon</a:t>
            </a:r>
            <a:r>
              <a:rPr lang="en-US" dirty="0"/>
              <a:t> </a:t>
            </a:r>
            <a:r>
              <a:rPr lang="en-US" dirty="0" err="1"/>
              <a:t>bilgisi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alındı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Soft-sensor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edildi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İleri</a:t>
            </a:r>
            <a:r>
              <a:rPr lang="en-US" dirty="0"/>
              <a:t> </a:t>
            </a:r>
            <a:r>
              <a:rPr lang="en-US" dirty="0" err="1"/>
              <a:t>vekil</a:t>
            </a:r>
            <a:r>
              <a:rPr lang="en-US" dirty="0"/>
              <a:t> model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aday</a:t>
            </a:r>
            <a:r>
              <a:rPr lang="en-US" dirty="0"/>
              <a:t> T, P </a:t>
            </a:r>
            <a:r>
              <a:rPr lang="en-US" dirty="0" err="1"/>
              <a:t>ve</a:t>
            </a:r>
            <a:r>
              <a:rPr lang="en-US" dirty="0"/>
              <a:t> S/C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değerlendirildi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Bir </a:t>
            </a:r>
            <a:r>
              <a:rPr lang="en-US" dirty="0" err="1"/>
              <a:t>sonraki</a:t>
            </a:r>
            <a:r>
              <a:rPr lang="en-US" dirty="0"/>
              <a:t>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hareketi</a:t>
            </a:r>
            <a:r>
              <a:rPr lang="en-US" dirty="0"/>
              <a:t> </a:t>
            </a:r>
            <a:r>
              <a:rPr lang="en-US" dirty="0" err="1"/>
              <a:t>seçildi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92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1198-53FC-8A6F-91D6-07632A61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EE49-6619-B1E5-0507-ADF6668E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MÖK </a:t>
            </a:r>
            <a:r>
              <a:rPr lang="en-US" dirty="0" err="1"/>
              <a:t>Senaryosunda</a:t>
            </a:r>
            <a:r>
              <a:rPr lang="en-US" dirty="0"/>
              <a:t> </a:t>
            </a:r>
            <a:r>
              <a:rPr lang="en-US" dirty="0" err="1"/>
              <a:t>Başlangıç</a:t>
            </a:r>
            <a:r>
              <a:rPr lang="en-US" dirty="0"/>
              <a:t> </a:t>
            </a:r>
            <a:r>
              <a:rPr lang="en-US" dirty="0" err="1"/>
              <a:t>Koşulları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6CD2F-A442-97F1-CF50-E933CEE57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Başlangıç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tipi: </a:t>
            </a:r>
            <a:r>
              <a:rPr lang="en-US" dirty="0" err="1"/>
              <a:t>dengeli</a:t>
            </a:r>
            <a:r>
              <a:rPr lang="en-US" dirty="0"/>
              <a:t> </a:t>
            </a:r>
            <a:r>
              <a:rPr lang="en-US" dirty="0" err="1"/>
              <a:t>kompozisyon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Başlangıç</a:t>
            </a:r>
            <a:r>
              <a:rPr lang="en-US" dirty="0"/>
              <a:t> </a:t>
            </a:r>
            <a:r>
              <a:rPr lang="en-US" dirty="0" err="1"/>
              <a:t>BiooilID</a:t>
            </a:r>
            <a:r>
              <a:rPr lang="en-US" dirty="0"/>
              <a:t>: 60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Başlangıç</a:t>
            </a:r>
            <a:r>
              <a:rPr lang="en-US" dirty="0"/>
              <a:t> </a:t>
            </a:r>
            <a:r>
              <a:rPr lang="en-US" dirty="0" err="1"/>
              <a:t>sıcaklığı</a:t>
            </a:r>
            <a:r>
              <a:rPr lang="en-US" dirty="0"/>
              <a:t>: 850 °C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Başlangıç</a:t>
            </a:r>
            <a:r>
              <a:rPr lang="en-US" dirty="0"/>
              <a:t> </a:t>
            </a:r>
            <a:r>
              <a:rPr lang="en-US" dirty="0" err="1"/>
              <a:t>basıncı</a:t>
            </a:r>
            <a:r>
              <a:rPr lang="en-US" dirty="0"/>
              <a:t>: 5 bar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Başlangıç</a:t>
            </a:r>
            <a:r>
              <a:rPr lang="en-US" dirty="0"/>
              <a:t> S/C </a:t>
            </a:r>
            <a:r>
              <a:rPr lang="en-US" dirty="0" err="1"/>
              <a:t>oranı</a:t>
            </a:r>
            <a:r>
              <a:rPr lang="en-US" dirty="0"/>
              <a:t>: 2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Simülasyon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: 10 zaman </a:t>
            </a:r>
            <a:r>
              <a:rPr lang="en-US" dirty="0" err="1"/>
              <a:t>adımı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Bozucu</a:t>
            </a:r>
            <a:r>
              <a:rPr lang="en-US" dirty="0"/>
              <a:t> </a:t>
            </a:r>
            <a:r>
              <a:rPr lang="en-US" dirty="0" err="1"/>
              <a:t>etki</a:t>
            </a:r>
            <a:r>
              <a:rPr lang="en-US" dirty="0"/>
              <a:t>: 5. zaman </a:t>
            </a:r>
            <a:r>
              <a:rPr lang="en-US" dirty="0" err="1"/>
              <a:t>adımı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066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37B17-3943-B9C3-C97F-E8E85096C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EF58-3093-786C-1216-B2DC3095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Bozucu</a:t>
            </a:r>
            <a:r>
              <a:rPr lang="en-US" dirty="0"/>
              <a:t> </a:t>
            </a:r>
            <a:r>
              <a:rPr lang="en-US" dirty="0" err="1"/>
              <a:t>Etki</a:t>
            </a:r>
            <a:r>
              <a:rPr lang="en-US" dirty="0"/>
              <a:t> </a:t>
            </a:r>
            <a:r>
              <a:rPr lang="en-US" dirty="0" err="1"/>
              <a:t>Senaryosu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30DB0-E98F-9812-F467-80FEF4B40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Beşinci</a:t>
            </a:r>
            <a:r>
              <a:rPr lang="en-US" dirty="0"/>
              <a:t> zaman </a:t>
            </a:r>
            <a:r>
              <a:rPr lang="en-US" dirty="0" err="1"/>
              <a:t>adımında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kompozisyonu</a:t>
            </a:r>
            <a:r>
              <a:rPr lang="en-US" dirty="0"/>
              <a:t> </a:t>
            </a:r>
            <a:r>
              <a:rPr lang="en-US" dirty="0" err="1"/>
              <a:t>değiştirilmiştir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Asit </a:t>
            </a:r>
            <a:r>
              <a:rPr lang="en-US" dirty="0" err="1"/>
              <a:t>içeriği</a:t>
            </a:r>
            <a:r>
              <a:rPr lang="en-US" dirty="0"/>
              <a:t> </a:t>
            </a:r>
            <a:r>
              <a:rPr lang="en-US" dirty="0" err="1"/>
              <a:t>artırılmıştır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Aromatik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fenolik</a:t>
            </a:r>
            <a:r>
              <a:rPr lang="en-US" dirty="0"/>
              <a:t> </a:t>
            </a:r>
            <a:r>
              <a:rPr lang="en-US" dirty="0" err="1"/>
              <a:t>bileşenler</a:t>
            </a:r>
            <a:r>
              <a:rPr lang="en-US" dirty="0"/>
              <a:t> </a:t>
            </a:r>
            <a:r>
              <a:rPr lang="en-US" dirty="0" err="1"/>
              <a:t>azaltılmıştır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Amaç, </a:t>
            </a:r>
            <a:r>
              <a:rPr lang="en-US" dirty="0" err="1"/>
              <a:t>kompozisyon</a:t>
            </a:r>
            <a:r>
              <a:rPr lang="en-US" dirty="0"/>
              <a:t> </a:t>
            </a:r>
            <a:r>
              <a:rPr lang="en-US" dirty="0" err="1"/>
              <a:t>değişimine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davranışını</a:t>
            </a:r>
            <a:r>
              <a:rPr lang="en-US" dirty="0"/>
              <a:t> </a:t>
            </a:r>
            <a:r>
              <a:rPr lang="en-US" dirty="0" err="1"/>
              <a:t>gözlemlemektir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451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C050B-C052-3F03-64BF-6A777C06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1F904-F512-E297-324D-5F748F37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Genel </a:t>
            </a:r>
            <a:r>
              <a:rPr lang="en-US" dirty="0" err="1"/>
              <a:t>Akış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C0AC4-D03D-1F0C-8C65-28CB11405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for each scenario in [</a:t>
            </a:r>
            <a:r>
              <a:rPr lang="en-US" dirty="0" err="1"/>
              <a:t>static_cases</a:t>
            </a:r>
            <a:r>
              <a:rPr lang="en-US" dirty="0"/>
              <a:t>, </a:t>
            </a:r>
            <a:r>
              <a:rPr lang="en-US" dirty="0" err="1"/>
              <a:t>mpc_case</a:t>
            </a:r>
            <a:r>
              <a:rPr lang="en-US" dirty="0"/>
              <a:t>]:   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yükle</a:t>
            </a:r>
            <a:r>
              <a:rPr lang="en-US" dirty="0"/>
              <a:t> </a:t>
            </a:r>
            <a:r>
              <a:rPr lang="en-US" dirty="0" err="1"/>
              <a:t>ölçüm</a:t>
            </a:r>
            <a:r>
              <a:rPr lang="en-US" dirty="0"/>
              <a:t>/proses </a:t>
            </a:r>
            <a:r>
              <a:rPr lang="en-US" dirty="0" err="1"/>
              <a:t>verisi</a:t>
            </a:r>
            <a:r>
              <a:rPr lang="en-US" dirty="0"/>
              <a:t>   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biooil_est</a:t>
            </a:r>
            <a:r>
              <a:rPr lang="en-US" dirty="0"/>
              <a:t> = </a:t>
            </a:r>
            <a:r>
              <a:rPr lang="en-US" dirty="0" err="1"/>
              <a:t>reverse_ml.predict</a:t>
            </a:r>
            <a:r>
              <a:rPr lang="en-US" dirty="0"/>
              <a:t>(T,P,S/C,H2,CO,CO2,CH4,H2O)   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x = </a:t>
            </a:r>
            <a:r>
              <a:rPr lang="en-US" dirty="0" err="1"/>
              <a:t>filter_and_normalize</a:t>
            </a:r>
            <a:r>
              <a:rPr lang="en-US" dirty="0"/>
              <a:t>(</a:t>
            </a:r>
            <a:r>
              <a:rPr lang="en-US" dirty="0" err="1"/>
              <a:t>biooil_est</a:t>
            </a:r>
            <a:r>
              <a:rPr lang="en-US" dirty="0"/>
              <a:t>)   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çöz</a:t>
            </a:r>
            <a:r>
              <a:rPr lang="en-US" dirty="0"/>
              <a:t> = </a:t>
            </a:r>
            <a:r>
              <a:rPr lang="en-US" dirty="0" err="1"/>
              <a:t>solve_optimization</a:t>
            </a:r>
            <a:r>
              <a:rPr lang="en-US" dirty="0"/>
              <a:t>(x, T,P,S/C bounds)   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kaydet</a:t>
            </a:r>
            <a:r>
              <a:rPr lang="en-US" dirty="0"/>
              <a:t>(</a:t>
            </a:r>
            <a:r>
              <a:rPr lang="en-US" dirty="0" err="1"/>
              <a:t>çöz</a:t>
            </a:r>
            <a:r>
              <a:rPr lang="en-US" dirty="0"/>
              <a:t>, </a:t>
            </a:r>
            <a:r>
              <a:rPr lang="en-US" dirty="0" err="1"/>
              <a:t>metrikler</a:t>
            </a:r>
            <a:r>
              <a:rPr lang="en-US" dirty="0"/>
              <a:t>, </a:t>
            </a:r>
            <a:r>
              <a:rPr lang="en-US" dirty="0" err="1"/>
              <a:t>senaryo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5375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9EEFF-C3D5-EEBD-3162-B431157B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C3AF6-A58C-52BF-522E-E5C60434F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Ters</a:t>
            </a:r>
            <a:r>
              <a:rPr lang="en-US" dirty="0"/>
              <a:t> ML Soft-Sensor </a:t>
            </a:r>
            <a:r>
              <a:rPr lang="en-US" dirty="0" err="1"/>
              <a:t>Bloğu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1FBB5-C2CA-2E14-CD11-2AD594CF2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def </a:t>
            </a:r>
            <a:r>
              <a:rPr lang="en-US" dirty="0" err="1"/>
              <a:t>reverse_predict</a:t>
            </a:r>
            <a:r>
              <a:rPr lang="en-US" dirty="0"/>
              <a:t>(T,P,S/C,H2,CO,CO2,CH4,H2O):   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x &lt;- vectorize(</a:t>
            </a:r>
            <a:r>
              <a:rPr lang="en-US" dirty="0" err="1"/>
              <a:t>y_proc</a:t>
            </a:r>
            <a:r>
              <a:rPr lang="en-US" dirty="0"/>
              <a:t>, order=</a:t>
            </a:r>
            <a:r>
              <a:rPr lang="en-US" dirty="0" err="1"/>
              <a:t>feature_order</a:t>
            </a:r>
            <a:r>
              <a:rPr lang="en-US" dirty="0"/>
              <a:t>)   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y_est</a:t>
            </a:r>
            <a:r>
              <a:rPr lang="en-US" dirty="0"/>
              <a:t> &lt;- </a:t>
            </a:r>
            <a:r>
              <a:rPr lang="en-US" dirty="0" err="1"/>
              <a:t>model_rev.predict</a:t>
            </a:r>
            <a:r>
              <a:rPr lang="en-US" dirty="0"/>
              <a:t>(x)   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return </a:t>
            </a:r>
            <a:r>
              <a:rPr lang="en-US" dirty="0" err="1"/>
              <a:t>clip_components</a:t>
            </a:r>
            <a:r>
              <a:rPr lang="en-US" dirty="0"/>
              <a:t>(</a:t>
            </a:r>
            <a:r>
              <a:rPr lang="en-US" dirty="0" err="1"/>
              <a:t>y_est</a:t>
            </a:r>
            <a:r>
              <a:rPr lang="en-US" dirty="0"/>
              <a:t>, </a:t>
            </a:r>
            <a:r>
              <a:rPr lang="en-US" dirty="0" err="1"/>
              <a:t>biooil_lower</a:t>
            </a:r>
            <a:r>
              <a:rPr lang="en-US" dirty="0"/>
              <a:t>, </a:t>
            </a:r>
            <a:r>
              <a:rPr lang="en-US" dirty="0" err="1"/>
              <a:t>biooil_upper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biooil_est</a:t>
            </a:r>
            <a:r>
              <a:rPr lang="en-US" dirty="0"/>
              <a:t> &lt;- </a:t>
            </a:r>
            <a:r>
              <a:rPr lang="en-US" dirty="0" err="1"/>
              <a:t>reverse_predict</a:t>
            </a:r>
            <a:r>
              <a:rPr lang="en-US" dirty="0"/>
              <a:t>(...)</a:t>
            </a:r>
          </a:p>
        </p:txBody>
      </p:sp>
    </p:spTree>
    <p:extLst>
      <p:ext uri="{BB962C8B-B14F-4D97-AF65-F5344CB8AC3E}">
        <p14:creationId xmlns:p14="http://schemas.microsoft.com/office/powerpoint/2010/main" val="3576582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5C59E-DE5E-149D-16BF-658F974C4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6574-E26D-6677-B10C-46A11C63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Filtre</a:t>
            </a:r>
            <a:r>
              <a:rPr lang="en-US" dirty="0"/>
              <a:t> + </a:t>
            </a:r>
            <a:r>
              <a:rPr lang="en-US" dirty="0" err="1"/>
              <a:t>Normalizasyon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4945B-5512-768C-2715-DAECBEBBB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76399"/>
            <a:ext cx="9927913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biooil_est</a:t>
            </a:r>
            <a:r>
              <a:rPr lang="en-US" dirty="0"/>
              <a:t> = clip(</a:t>
            </a:r>
            <a:r>
              <a:rPr lang="en-US" dirty="0" err="1"/>
              <a:t>biooil_est</a:t>
            </a:r>
            <a:r>
              <a:rPr lang="en-US" dirty="0"/>
              <a:t>, min=0, max=100)          # </a:t>
            </a:r>
            <a:r>
              <a:rPr lang="en-US" dirty="0" err="1"/>
              <a:t>kütle</a:t>
            </a:r>
            <a:r>
              <a:rPr lang="en-US" dirty="0"/>
              <a:t> </a:t>
            </a:r>
            <a:r>
              <a:rPr lang="en-US" dirty="0" err="1"/>
              <a:t>yüzdesi</a:t>
            </a:r>
            <a:r>
              <a:rPr lang="en-US" dirty="0"/>
              <a:t> </a:t>
            </a:r>
            <a:r>
              <a:rPr lang="en-US" dirty="0" err="1"/>
              <a:t>sınırı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biooil_sum</a:t>
            </a:r>
            <a:r>
              <a:rPr lang="en-US" dirty="0"/>
              <a:t> = sum(</a:t>
            </a:r>
            <a:r>
              <a:rPr lang="en-US" dirty="0" err="1"/>
              <a:t>biooil_hat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biooil_est</a:t>
            </a:r>
            <a:r>
              <a:rPr lang="en-US" dirty="0"/>
              <a:t> = </a:t>
            </a:r>
            <a:r>
              <a:rPr lang="en-US" dirty="0" err="1"/>
              <a:t>biooil_est</a:t>
            </a:r>
            <a:r>
              <a:rPr lang="en-US" dirty="0"/>
              <a:t> / </a:t>
            </a:r>
            <a:r>
              <a:rPr lang="en-US" dirty="0" err="1"/>
              <a:t>biooil_sum</a:t>
            </a:r>
            <a:r>
              <a:rPr lang="en-US" dirty="0"/>
              <a:t> * 100               # </a:t>
            </a:r>
            <a:r>
              <a:rPr lang="en-US" dirty="0" err="1"/>
              <a:t>kütle</a:t>
            </a:r>
            <a:r>
              <a:rPr lang="en-US" dirty="0"/>
              <a:t> </a:t>
            </a:r>
            <a:r>
              <a:rPr lang="en-US" dirty="0" err="1"/>
              <a:t>dengesi</a:t>
            </a:r>
            <a:r>
              <a:rPr lang="en-US" dirty="0"/>
              <a:t> </a:t>
            </a:r>
            <a:r>
              <a:rPr lang="en-US" dirty="0" err="1"/>
              <a:t>düzeltmesi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biooil_norm</a:t>
            </a:r>
            <a:r>
              <a:rPr lang="en-US" dirty="0"/>
              <a:t> = (</a:t>
            </a:r>
            <a:r>
              <a:rPr lang="en-US" dirty="0" err="1"/>
              <a:t>biooil_est</a:t>
            </a:r>
            <a:r>
              <a:rPr lang="en-US" dirty="0"/>
              <a:t> - mu) / sigma                  #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girdisi</a:t>
            </a:r>
            <a:r>
              <a:rPr lang="en-US" dirty="0"/>
              <a:t> </a:t>
            </a:r>
            <a:r>
              <a:rPr lang="en-US" dirty="0" err="1"/>
              <a:t>ölçekleme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170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F81C-5A73-79CB-C83C-9C423F415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503E1-29F1-58C6-48DD-207E4DDD8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İleri</a:t>
            </a:r>
            <a:r>
              <a:rPr lang="en-US" dirty="0"/>
              <a:t> </a:t>
            </a:r>
            <a:r>
              <a:rPr lang="en-US" dirty="0" err="1"/>
              <a:t>Vekil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9B99E-1F8B-D40E-8EE5-C2247AB9F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76399"/>
            <a:ext cx="10761631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def </a:t>
            </a:r>
            <a:r>
              <a:rPr lang="en-US" dirty="0" err="1"/>
              <a:t>forward_surrogate</a:t>
            </a:r>
            <a:r>
              <a:rPr lang="en-US" dirty="0"/>
              <a:t>(</a:t>
            </a:r>
            <a:r>
              <a:rPr lang="en-US" dirty="0" err="1"/>
              <a:t>u_T,u_P,u_SC,biooil_norm</a:t>
            </a:r>
            <a:r>
              <a:rPr lang="en-US" dirty="0"/>
              <a:t>):   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x_adv</a:t>
            </a:r>
            <a:r>
              <a:rPr lang="en-US" dirty="0"/>
              <a:t> &lt;- </a:t>
            </a:r>
            <a:r>
              <a:rPr lang="en-US" dirty="0" err="1"/>
              <a:t>concat</a:t>
            </a:r>
            <a:r>
              <a:rPr lang="en-US" dirty="0"/>
              <a:t>(</a:t>
            </a:r>
            <a:r>
              <a:rPr lang="en-US" dirty="0" err="1"/>
              <a:t>u_T,u_P,u_SC,biooil_norm</a:t>
            </a:r>
            <a:r>
              <a:rPr lang="en-US" dirty="0"/>
              <a:t>)   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y_sim</a:t>
            </a:r>
            <a:r>
              <a:rPr lang="en-US" dirty="0"/>
              <a:t> &lt;- </a:t>
            </a:r>
            <a:r>
              <a:rPr lang="en-US" dirty="0" err="1"/>
              <a:t>model_adv.predict</a:t>
            </a:r>
            <a:r>
              <a:rPr lang="en-US" dirty="0"/>
              <a:t>(</a:t>
            </a:r>
            <a:r>
              <a:rPr lang="en-US" dirty="0" err="1"/>
              <a:t>x_adv</a:t>
            </a:r>
            <a:r>
              <a:rPr lang="en-US" dirty="0"/>
              <a:t>)   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return </a:t>
            </a:r>
            <a:r>
              <a:rPr lang="en-US" dirty="0" err="1"/>
              <a:t>dict</a:t>
            </a:r>
            <a:r>
              <a:rPr lang="en-US" dirty="0"/>
              <a:t>(H2=</a:t>
            </a:r>
            <a:r>
              <a:rPr lang="en-US" dirty="0" err="1"/>
              <a:t>y_sim</a:t>
            </a:r>
            <a:r>
              <a:rPr lang="en-US" dirty="0"/>
              <a:t>[0], CO=</a:t>
            </a:r>
            <a:r>
              <a:rPr lang="en-US" dirty="0" err="1"/>
              <a:t>y_sim</a:t>
            </a:r>
            <a:r>
              <a:rPr lang="en-US" dirty="0"/>
              <a:t>[1], CO2=</a:t>
            </a:r>
            <a:r>
              <a:rPr lang="en-US" dirty="0" err="1"/>
              <a:t>y_sim</a:t>
            </a:r>
            <a:r>
              <a:rPr lang="en-US" dirty="0"/>
              <a:t>[2], CH4=</a:t>
            </a:r>
            <a:r>
              <a:rPr lang="en-US" dirty="0" err="1"/>
              <a:t>y_sim</a:t>
            </a:r>
            <a:r>
              <a:rPr lang="en-US" dirty="0"/>
              <a:t>[3], H2O=</a:t>
            </a:r>
            <a:r>
              <a:rPr lang="en-US" dirty="0" err="1"/>
              <a:t>y_sim</a:t>
            </a:r>
            <a:r>
              <a:rPr lang="en-US" dirty="0"/>
              <a:t>[4], H2CO=</a:t>
            </a:r>
            <a:r>
              <a:rPr lang="en-US" dirty="0" err="1"/>
              <a:t>y_sim</a:t>
            </a:r>
            <a:r>
              <a:rPr lang="en-US" dirty="0"/>
              <a:t>[5])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y_est</a:t>
            </a:r>
            <a:r>
              <a:rPr lang="en-US" dirty="0"/>
              <a:t> = </a:t>
            </a:r>
            <a:r>
              <a:rPr lang="en-US" dirty="0" err="1"/>
              <a:t>forward_surrogate</a:t>
            </a:r>
            <a:r>
              <a:rPr lang="en-US" dirty="0"/>
              <a:t>(...)</a:t>
            </a:r>
          </a:p>
        </p:txBody>
      </p:sp>
    </p:spTree>
    <p:extLst>
      <p:ext uri="{BB962C8B-B14F-4D97-AF65-F5344CB8AC3E}">
        <p14:creationId xmlns:p14="http://schemas.microsoft.com/office/powerpoint/2010/main" val="336325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F67A1-F026-B830-0D37-B8CD9AF60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BD770-4B6D-C2DC-D4DF-86DAA83AE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Çözücü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5E99F-AD93-2100-1E36-B9C3AF518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76399"/>
            <a:ext cx="11075395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J = 4.0·(H2/CO </a:t>
            </a:r>
            <a:r>
              <a:rPr lang="en-US" dirty="0" err="1"/>
              <a:t>sapma</a:t>
            </a:r>
            <a:r>
              <a:rPr lang="en-US" dirty="0"/>
              <a:t>)² + 3.0·(H2 </a:t>
            </a:r>
            <a:r>
              <a:rPr lang="en-US" dirty="0" err="1"/>
              <a:t>açığı</a:t>
            </a:r>
            <a:r>
              <a:rPr lang="en-US" dirty="0"/>
              <a:t>) + 2.0·(CH4) + 1.0·(CO2) + 1.5·(</a:t>
            </a:r>
            <a:r>
              <a:rPr lang="en-US" dirty="0" err="1"/>
              <a:t>enerji</a:t>
            </a:r>
            <a:r>
              <a:rPr lang="en-US" dirty="0"/>
              <a:t>) + 1.5·(</a:t>
            </a:r>
            <a:r>
              <a:rPr lang="en-US" dirty="0" err="1"/>
              <a:t>koklaşma</a:t>
            </a:r>
            <a:r>
              <a:rPr lang="en-US" dirty="0"/>
              <a:t> </a:t>
            </a:r>
            <a:r>
              <a:rPr lang="en-US" dirty="0" err="1"/>
              <a:t>riski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konstraints</a:t>
            </a:r>
            <a:r>
              <a:rPr lang="en-US" dirty="0"/>
              <a:t>: 650&lt;=T&lt;=850, 5&lt;=P&lt;=30, 2&lt;=S/C&lt;=6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u_opt</a:t>
            </a:r>
            <a:r>
              <a:rPr lang="en-US" dirty="0"/>
              <a:t> = </a:t>
            </a:r>
            <a:r>
              <a:rPr lang="en-US" dirty="0" err="1"/>
              <a:t>scipy.optimize.minimize</a:t>
            </a:r>
            <a:r>
              <a:rPr lang="en-US" dirty="0"/>
              <a:t>(J(T,P,S/C), method="SLSQP", bounds=</a:t>
            </a:r>
            <a:r>
              <a:rPr lang="en-US" dirty="0" err="1"/>
              <a:t>konstraints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u* = </a:t>
            </a:r>
            <a:r>
              <a:rPr lang="en-US" dirty="0" err="1"/>
              <a:t>u_opt.x</a:t>
            </a:r>
            <a:r>
              <a:rPr lang="en-US" dirty="0"/>
              <a:t> ; save(u*, J(u*))</a:t>
            </a:r>
          </a:p>
        </p:txBody>
      </p:sp>
    </p:spTree>
    <p:extLst>
      <p:ext uri="{BB962C8B-B14F-4D97-AF65-F5344CB8AC3E}">
        <p14:creationId xmlns:p14="http://schemas.microsoft.com/office/powerpoint/2010/main" val="1361497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71974-1CE5-DE46-7EC9-468B8C2C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4547-4D55-57B0-9E83-548F8299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Statik Case-Study </a:t>
            </a:r>
            <a:r>
              <a:rPr lang="en-US" dirty="0" err="1"/>
              <a:t>Akışı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CD095-EA45-D68C-1B61-AE114D6CA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for each </a:t>
            </a:r>
            <a:r>
              <a:rPr lang="en-US" sz="2000" dirty="0" err="1"/>
              <a:t>biooil_id</a:t>
            </a:r>
            <a:r>
              <a:rPr lang="en-US" sz="2000" dirty="0"/>
              <a:t> in [66,70,60]: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for target in [2.0,2.5]:        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biooil0 = dataset[</a:t>
            </a:r>
            <a:r>
              <a:rPr lang="en-US" sz="1600" dirty="0" err="1"/>
              <a:t>biooil_id</a:t>
            </a:r>
            <a:r>
              <a:rPr lang="en-US" sz="1600" dirty="0"/>
              <a:t>]        </a:t>
            </a:r>
          </a:p>
          <a:p>
            <a:pPr lvl="2">
              <a:lnSpc>
                <a:spcPct val="150000"/>
              </a:lnSpc>
            </a:pPr>
            <a:r>
              <a:rPr lang="en-US" sz="1600" dirty="0" err="1"/>
              <a:t>biooil_n</a:t>
            </a:r>
            <a:r>
              <a:rPr lang="en-US" sz="1600" dirty="0"/>
              <a:t> = normalize(biooil0)        </a:t>
            </a:r>
          </a:p>
          <a:p>
            <a:pPr lvl="2">
              <a:lnSpc>
                <a:spcPct val="150000"/>
              </a:lnSpc>
            </a:pPr>
            <a:r>
              <a:rPr lang="en-US" sz="1600" dirty="0" err="1"/>
              <a:t>result_static</a:t>
            </a:r>
            <a:r>
              <a:rPr lang="en-US" sz="1600" dirty="0"/>
              <a:t> &lt;- optimize(</a:t>
            </a:r>
            <a:r>
              <a:rPr lang="en-US" sz="1600" dirty="0" err="1"/>
              <a:t>biooil_n</a:t>
            </a:r>
            <a:r>
              <a:rPr lang="en-US" sz="1600" dirty="0"/>
              <a:t>, target)        </a:t>
            </a:r>
          </a:p>
          <a:p>
            <a:pPr lvl="2">
              <a:lnSpc>
                <a:spcPct val="150000"/>
              </a:lnSpc>
            </a:pPr>
            <a:r>
              <a:rPr lang="en-US" sz="1600" dirty="0" err="1"/>
              <a:t>raporla</a:t>
            </a:r>
            <a:r>
              <a:rPr lang="en-US" sz="1600" dirty="0"/>
              <a:t>(</a:t>
            </a:r>
            <a:r>
              <a:rPr lang="en-US" sz="1600" dirty="0" err="1"/>
              <a:t>result_static</a:t>
            </a:r>
            <a:r>
              <a:rPr lang="en-US" sz="1600" dirty="0"/>
              <a:t>, T,P,S/C,H2CO,ceza)</a:t>
            </a:r>
          </a:p>
        </p:txBody>
      </p:sp>
    </p:spTree>
    <p:extLst>
      <p:ext uri="{BB962C8B-B14F-4D97-AF65-F5344CB8AC3E}">
        <p14:creationId xmlns:p14="http://schemas.microsoft.com/office/powerpoint/2010/main" val="1928073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7B24A-724A-0DE3-EE65-E41D9402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1A0F-BC1A-786B-65B9-F1BE5A18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Kapalı</a:t>
            </a:r>
            <a:r>
              <a:rPr lang="en-US" dirty="0"/>
              <a:t> </a:t>
            </a:r>
            <a:r>
              <a:rPr lang="en-US" dirty="0" err="1"/>
              <a:t>Çevrim</a:t>
            </a:r>
            <a:r>
              <a:rPr lang="en-US" dirty="0"/>
              <a:t> + </a:t>
            </a:r>
            <a:r>
              <a:rPr lang="en-US" dirty="0" err="1"/>
              <a:t>Bozucu</a:t>
            </a:r>
            <a:r>
              <a:rPr lang="en-US" dirty="0"/>
              <a:t> </a:t>
            </a:r>
            <a:r>
              <a:rPr lang="en-US" dirty="0" err="1"/>
              <a:t>Etki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E3ED7-91C8-19DA-DE98-72B4929FC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state &lt;- </a:t>
            </a:r>
            <a:r>
              <a:rPr lang="en-US" dirty="0" err="1"/>
              <a:t>init_case</a:t>
            </a:r>
            <a:r>
              <a:rPr lang="en-US" dirty="0"/>
              <a:t>(</a:t>
            </a:r>
            <a:r>
              <a:rPr lang="en-US" dirty="0" err="1"/>
              <a:t>biooil_balanced</a:t>
            </a:r>
            <a:r>
              <a:rPr lang="en-US" dirty="0"/>
              <a:t>, </a:t>
            </a:r>
            <a:r>
              <a:rPr lang="en-US" dirty="0" err="1"/>
              <a:t>u_init</a:t>
            </a:r>
            <a:r>
              <a:rPr lang="en-US" dirty="0"/>
              <a:t>=[750,15,4])</a:t>
            </a:r>
          </a:p>
          <a:p>
            <a:pPr>
              <a:lnSpc>
                <a:spcPct val="150000"/>
              </a:lnSpc>
            </a:pPr>
            <a:r>
              <a:rPr lang="en-US" dirty="0"/>
              <a:t>for k in 1..10:   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y_meas</a:t>
            </a:r>
            <a:r>
              <a:rPr lang="en-US" dirty="0"/>
              <a:t> &lt;- </a:t>
            </a:r>
            <a:r>
              <a:rPr lang="en-US" dirty="0" err="1"/>
              <a:t>propagate_gas</a:t>
            </a:r>
            <a:r>
              <a:rPr lang="en-US" dirty="0"/>
              <a:t>(state) or </a:t>
            </a:r>
            <a:r>
              <a:rPr lang="en-US" dirty="0" err="1"/>
              <a:t>use_sim_sample</a:t>
            </a:r>
            <a:r>
              <a:rPr lang="en-US" dirty="0"/>
              <a:t>(k)   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if k==5: </a:t>
            </a:r>
            <a:r>
              <a:rPr lang="en-US" dirty="0" err="1"/>
              <a:t>y_meas</a:t>
            </a:r>
            <a:r>
              <a:rPr lang="en-US" dirty="0"/>
              <a:t> &lt;- </a:t>
            </a:r>
            <a:r>
              <a:rPr lang="en-US" dirty="0" err="1"/>
              <a:t>apply_disturbance</a:t>
            </a:r>
            <a:r>
              <a:rPr lang="en-US" dirty="0"/>
              <a:t>(</a:t>
            </a:r>
            <a:r>
              <a:rPr lang="en-US" dirty="0" err="1"/>
              <a:t>y_meas</a:t>
            </a:r>
            <a:r>
              <a:rPr lang="en-US" dirty="0"/>
              <a:t>)   # </a:t>
            </a:r>
            <a:r>
              <a:rPr lang="en-US" dirty="0" err="1"/>
              <a:t>bozucu</a:t>
            </a:r>
            <a:r>
              <a:rPr lang="en-US" dirty="0"/>
              <a:t> </a:t>
            </a:r>
            <a:r>
              <a:rPr lang="en-US" dirty="0" err="1"/>
              <a:t>etki</a:t>
            </a:r>
            <a:r>
              <a:rPr lang="en-US" dirty="0"/>
              <a:t>   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biooil_est</a:t>
            </a:r>
            <a:r>
              <a:rPr lang="en-US" dirty="0"/>
              <a:t> &lt;- </a:t>
            </a:r>
            <a:r>
              <a:rPr lang="en-US" dirty="0" err="1"/>
              <a:t>reverse_predict</a:t>
            </a:r>
            <a:r>
              <a:rPr lang="en-US" dirty="0"/>
              <a:t>(</a:t>
            </a:r>
            <a:r>
              <a:rPr lang="en-US" dirty="0" err="1"/>
              <a:t>y_meas</a:t>
            </a:r>
            <a:r>
              <a:rPr lang="en-US" dirty="0"/>
              <a:t>)    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u_k</a:t>
            </a:r>
            <a:r>
              <a:rPr lang="en-US" dirty="0"/>
              <a:t> &lt;- optimize( </a:t>
            </a:r>
            <a:r>
              <a:rPr lang="en-US" dirty="0" err="1"/>
              <a:t>filter_and_normalize</a:t>
            </a:r>
            <a:r>
              <a:rPr lang="en-US" dirty="0"/>
              <a:t>(</a:t>
            </a:r>
            <a:r>
              <a:rPr lang="en-US" dirty="0" err="1"/>
              <a:t>biooil_est</a:t>
            </a:r>
            <a:r>
              <a:rPr lang="en-US" dirty="0"/>
              <a:t>), target=2.5 )   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state &lt;- </a:t>
            </a:r>
            <a:r>
              <a:rPr lang="en-US" dirty="0" err="1"/>
              <a:t>apply_control</a:t>
            </a:r>
            <a:r>
              <a:rPr lang="en-US" dirty="0"/>
              <a:t>(</a:t>
            </a:r>
            <a:r>
              <a:rPr lang="en-US" dirty="0" err="1"/>
              <a:t>state,u_k</a:t>
            </a:r>
            <a:r>
              <a:rPr lang="en-US" dirty="0"/>
              <a:t>); log(</a:t>
            </a:r>
            <a:r>
              <a:rPr lang="en-US" dirty="0" err="1"/>
              <a:t>k,u_k,y_meas,y_target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6480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FBC54-798F-2081-4C4B-C84A22871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A20C9-8CF6-3D9B-782D-AF3DBBEE1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Kapalı</a:t>
            </a:r>
            <a:r>
              <a:rPr lang="en-US" dirty="0"/>
              <a:t> </a:t>
            </a:r>
            <a:r>
              <a:rPr lang="en-US" dirty="0" err="1"/>
              <a:t>Çevrim</a:t>
            </a:r>
            <a:r>
              <a:rPr lang="en-US" dirty="0"/>
              <a:t> </a:t>
            </a:r>
            <a:r>
              <a:rPr lang="en-US" dirty="0" err="1"/>
              <a:t>Senaryo</a:t>
            </a:r>
            <a:r>
              <a:rPr lang="en-US" dirty="0"/>
              <a:t> </a:t>
            </a:r>
            <a:r>
              <a:rPr lang="en-US" dirty="0" err="1"/>
              <a:t>Sonuçları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021DA-AFF2-8D0D-E0CD-BD4AF8F16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Başlangıç</a:t>
            </a:r>
            <a:r>
              <a:rPr lang="en-US" dirty="0"/>
              <a:t> H2/CO </a:t>
            </a:r>
            <a:r>
              <a:rPr lang="en-US" dirty="0" err="1"/>
              <a:t>oranı</a:t>
            </a:r>
            <a:r>
              <a:rPr lang="en-US" dirty="0"/>
              <a:t> 5.907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hesaplanmıştır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İlk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hareketinden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H2/CO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yaklaşık</a:t>
            </a:r>
            <a:r>
              <a:rPr lang="en-US" dirty="0"/>
              <a:t> 2.65 </a:t>
            </a:r>
            <a:r>
              <a:rPr lang="en-US" dirty="0" err="1"/>
              <a:t>seviyesine</a:t>
            </a:r>
            <a:r>
              <a:rPr lang="en-US" dirty="0"/>
              <a:t> </a:t>
            </a:r>
            <a:r>
              <a:rPr lang="en-US" dirty="0" err="1"/>
              <a:t>düşmüştür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T = 850 °C, P = 5 bar, S/C = 2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Bozucu</a:t>
            </a:r>
            <a:r>
              <a:rPr lang="en-US" dirty="0"/>
              <a:t> </a:t>
            </a:r>
            <a:r>
              <a:rPr lang="en-US" dirty="0" err="1"/>
              <a:t>etki</a:t>
            </a:r>
            <a:r>
              <a:rPr lang="en-US" dirty="0"/>
              <a:t> </a:t>
            </a:r>
            <a:r>
              <a:rPr lang="en-US" dirty="0" err="1"/>
              <a:t>sonrası</a:t>
            </a:r>
            <a:r>
              <a:rPr lang="en-US" dirty="0"/>
              <a:t> H2/CO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yaklaşık</a:t>
            </a:r>
            <a:r>
              <a:rPr lang="en-US" dirty="0"/>
              <a:t> 2.67 </a:t>
            </a:r>
            <a:r>
              <a:rPr lang="en-US" dirty="0" err="1"/>
              <a:t>seviyesine</a:t>
            </a:r>
            <a:r>
              <a:rPr lang="en-US" dirty="0"/>
              <a:t> </a:t>
            </a:r>
            <a:r>
              <a:rPr lang="en-US" dirty="0" err="1"/>
              <a:t>yerleşmiştir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Sistem</a:t>
            </a:r>
            <a:r>
              <a:rPr lang="en-US" dirty="0"/>
              <a:t> H2/CO </a:t>
            </a:r>
            <a:r>
              <a:rPr lang="en-US" dirty="0" err="1"/>
              <a:t>oranını</a:t>
            </a:r>
            <a:r>
              <a:rPr lang="en-US" dirty="0"/>
              <a:t> </a:t>
            </a:r>
            <a:r>
              <a:rPr lang="en-US" dirty="0" err="1"/>
              <a:t>başlangıçtaki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değerden</a:t>
            </a:r>
            <a:r>
              <a:rPr lang="en-US" dirty="0"/>
              <a:t> </a:t>
            </a:r>
            <a:r>
              <a:rPr lang="en-US" dirty="0" err="1"/>
              <a:t>hedef</a:t>
            </a:r>
            <a:r>
              <a:rPr lang="en-US" dirty="0"/>
              <a:t> </a:t>
            </a:r>
            <a:r>
              <a:rPr lang="en-US" dirty="0" err="1"/>
              <a:t>bölgeye</a:t>
            </a:r>
            <a:r>
              <a:rPr lang="en-US" dirty="0"/>
              <a:t> </a:t>
            </a:r>
            <a:r>
              <a:rPr lang="en-US" dirty="0" err="1"/>
              <a:t>yakın</a:t>
            </a:r>
            <a:r>
              <a:rPr lang="en-US" dirty="0"/>
              <a:t> </a:t>
            </a:r>
            <a:r>
              <a:rPr lang="en-US" dirty="0" err="1"/>
              <a:t>aralığa</a:t>
            </a:r>
            <a:r>
              <a:rPr lang="en-US" dirty="0"/>
              <a:t> </a:t>
            </a:r>
            <a:r>
              <a:rPr lang="en-US" dirty="0" err="1"/>
              <a:t>çekmiştir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36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76B0-B280-DEF7-0397-8A6107047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C5F9-313C-D908-0AC0-AB6B606E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en-US" dirty="0" err="1"/>
              <a:t>İçi</a:t>
            </a:r>
            <a:r>
              <a:rPr lang="en-US" dirty="0"/>
              <a:t> Ana </a:t>
            </a:r>
            <a:r>
              <a:rPr lang="en-US" dirty="0" err="1"/>
              <a:t>Sonuçlar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AE520-15C9-49BA-B381-2A6F7C155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Ters</a:t>
            </a:r>
            <a:r>
              <a:rPr lang="en-US" dirty="0"/>
              <a:t> ML </a:t>
            </a:r>
            <a:r>
              <a:rPr lang="en-US" dirty="0" err="1"/>
              <a:t>modeli</a:t>
            </a:r>
            <a:r>
              <a:rPr lang="en-US" dirty="0"/>
              <a:t> soft-sensor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kullanılabilir</a:t>
            </a:r>
            <a:r>
              <a:rPr lang="en-US" dirty="0"/>
              <a:t> hale </a:t>
            </a:r>
            <a:r>
              <a:rPr lang="en-US" dirty="0" err="1"/>
              <a:t>getirildi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İleri</a:t>
            </a:r>
            <a:r>
              <a:rPr lang="en-US" dirty="0"/>
              <a:t> </a:t>
            </a:r>
            <a:r>
              <a:rPr lang="en-US" dirty="0" err="1"/>
              <a:t>vekil</a:t>
            </a:r>
            <a:r>
              <a:rPr lang="en-US" dirty="0"/>
              <a:t> model </a:t>
            </a:r>
            <a:r>
              <a:rPr lang="en-US" dirty="0" err="1"/>
              <a:t>ile</a:t>
            </a:r>
            <a:r>
              <a:rPr lang="en-US" dirty="0"/>
              <a:t> Cantera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uzayı</a:t>
            </a:r>
            <a:r>
              <a:rPr lang="en-US" dirty="0"/>
              <a:t> </a:t>
            </a:r>
            <a:r>
              <a:rPr lang="en-US" dirty="0" err="1"/>
              <a:t>hızlı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edildi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H2/CO </a:t>
            </a:r>
            <a:r>
              <a:rPr lang="en-US" dirty="0" err="1"/>
              <a:t>hedefli</a:t>
            </a:r>
            <a:r>
              <a:rPr lang="en-US" dirty="0"/>
              <a:t> </a:t>
            </a:r>
            <a:r>
              <a:rPr lang="en-US" dirty="0" err="1"/>
              <a:t>statik</a:t>
            </a:r>
            <a:r>
              <a:rPr lang="en-US" dirty="0"/>
              <a:t>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çalıştırıldı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Kapalı</a:t>
            </a:r>
            <a:r>
              <a:rPr lang="en-US" dirty="0"/>
              <a:t> </a:t>
            </a:r>
            <a:r>
              <a:rPr lang="en-US" dirty="0" err="1"/>
              <a:t>çevrim</a:t>
            </a:r>
            <a:r>
              <a:rPr lang="en-US" dirty="0"/>
              <a:t> </a:t>
            </a:r>
            <a:r>
              <a:rPr lang="en-US" dirty="0" err="1"/>
              <a:t>senaryo</a:t>
            </a:r>
            <a:r>
              <a:rPr lang="en-US" dirty="0"/>
              <a:t> </a:t>
            </a:r>
            <a:r>
              <a:rPr lang="en-US" dirty="0" err="1"/>
              <a:t>kuruldu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Bozucu</a:t>
            </a:r>
            <a:r>
              <a:rPr lang="en-US" dirty="0"/>
              <a:t> </a:t>
            </a:r>
            <a:r>
              <a:rPr lang="en-US" dirty="0" err="1"/>
              <a:t>etki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davranışı</a:t>
            </a:r>
            <a:r>
              <a:rPr lang="en-US" dirty="0"/>
              <a:t> </a:t>
            </a:r>
            <a:r>
              <a:rPr lang="en-US" dirty="0" err="1"/>
              <a:t>incelendi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Çalışma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,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bileşenlerini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akışında</a:t>
            </a:r>
            <a:r>
              <a:rPr lang="en-US" dirty="0"/>
              <a:t> </a:t>
            </a:r>
            <a:r>
              <a:rPr lang="en-US" dirty="0" err="1"/>
              <a:t>birleştirdi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108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27524" y="463189"/>
            <a:ext cx="7920880" cy="496855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Vaktiniz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ve ilginiz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için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		teşekkürler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                    </a:t>
            </a:r>
            <a:r>
              <a:rPr lang="tr-TR" sz="72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…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0804" y="5431741"/>
            <a:ext cx="7467600" cy="122318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/>
              <a:buNone/>
            </a:pPr>
            <a:r>
              <a:rPr lang="tr-TR" dirty="0"/>
              <a:t>Orhun Uzdiyem</a:t>
            </a:r>
          </a:p>
          <a:p>
            <a:pPr algn="ctr">
              <a:buFont typeface="Wingdings"/>
              <a:buNone/>
            </a:pPr>
            <a:r>
              <a:rPr lang="tr-TR" dirty="0">
                <a:hlinkClick r:id="rId3"/>
              </a:rPr>
              <a:t>orhun.uzdiyem@gmail.com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454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1"/>
    </mc:Choice>
    <mc:Fallback xmlns="">
      <p:transition spd="slow" advTm="67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11056</TotalTime>
  <Words>1636</Words>
  <Application>Microsoft Office PowerPoint</Application>
  <PresentationFormat>Geniş ekran</PresentationFormat>
  <Paragraphs>168</Paragraphs>
  <Slides>25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33" baseType="lpstr">
      <vt:lpstr>Arial</vt:lpstr>
      <vt:lpstr>Calibri</vt:lpstr>
      <vt:lpstr>Harrington</vt:lpstr>
      <vt:lpstr>Times New Roman</vt:lpstr>
      <vt:lpstr>Trebuchet MS</vt:lpstr>
      <vt:lpstr>Wingdings</vt:lpstr>
      <vt:lpstr>Wingdings 3</vt:lpstr>
      <vt:lpstr>Facet</vt:lpstr>
      <vt:lpstr>Biyokütleden Elde Edilen Biyoyağ Kompozisyonunun Makine Öğrenmesi ile   Tahmini ve Model Öngörülü Kontrol Tabanlı Süreç Optimizasyonu Tez İzleme Sunumu - 5</vt:lpstr>
      <vt:lpstr>Çalışmanın Genel Çerçevesi</vt:lpstr>
      <vt:lpstr>Önceki Dönemlerde Yapılan Çalışmalar</vt:lpstr>
      <vt:lpstr>Bu dönem yapılan çalışma</vt:lpstr>
      <vt:lpstr>Bu dönem yapılan çalışma</vt:lpstr>
      <vt:lpstr>Ters ML Modelinin Soft-Sensor Olarak Kullanılması</vt:lpstr>
      <vt:lpstr>Soft-Sensor Giriş ve Çıkışları</vt:lpstr>
      <vt:lpstr>İleri Vekil Modelin Geliştirilmesi</vt:lpstr>
      <vt:lpstr>İleri Vekil Model Performansı</vt:lpstr>
      <vt:lpstr>Optimizasyon Problemi</vt:lpstr>
      <vt:lpstr>Statik Optimizasyon Senaryoları</vt:lpstr>
      <vt:lpstr>Statik Optimizasyon Sonuçları</vt:lpstr>
      <vt:lpstr>MÖK-Benzeri Kapalı Çevrim Senaryo</vt:lpstr>
      <vt:lpstr>MÖK Senaryosunda Başlangıç Koşulları</vt:lpstr>
      <vt:lpstr>Bozucu Etki Senaryosu</vt:lpstr>
      <vt:lpstr>Genel Akış</vt:lpstr>
      <vt:lpstr>Ters ML Soft-Sensor Bloğu</vt:lpstr>
      <vt:lpstr>Fiziksel Filtre + Normalizasyon</vt:lpstr>
      <vt:lpstr> İleri Vekil Model</vt:lpstr>
      <vt:lpstr>Optimizasyon ve Çözücü</vt:lpstr>
      <vt:lpstr>Statik Case-Study Akışı</vt:lpstr>
      <vt:lpstr>Kapalı Çevrim + Bozucu Etki</vt:lpstr>
      <vt:lpstr>Kapalı Çevrim Senaryo Sonuçları</vt:lpstr>
      <vt:lpstr>Dönem İçi Ana Sonuçlar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orhun uzdiyem</dc:creator>
  <cp:lastModifiedBy>Orhun Uz</cp:lastModifiedBy>
  <cp:revision>253</cp:revision>
  <dcterms:created xsi:type="dcterms:W3CDTF">2023-05-23T10:14:23Z</dcterms:created>
  <dcterms:modified xsi:type="dcterms:W3CDTF">2026-06-13T20:38:09Z</dcterms:modified>
</cp:coreProperties>
</file>