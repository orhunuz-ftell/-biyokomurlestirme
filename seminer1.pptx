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7"/>
  </p:notesMasterIdLst>
  <p:sldIdLst>
    <p:sldId id="256" r:id="rId2"/>
    <p:sldId id="280" r:id="rId3"/>
    <p:sldId id="281" r:id="rId4"/>
    <p:sldId id="294" r:id="rId5"/>
    <p:sldId id="296" r:id="rId6"/>
    <p:sldId id="297" r:id="rId7"/>
    <p:sldId id="262" r:id="rId8"/>
    <p:sldId id="266" r:id="rId9"/>
    <p:sldId id="265" r:id="rId10"/>
    <p:sldId id="269" r:id="rId11"/>
    <p:sldId id="271" r:id="rId12"/>
    <p:sldId id="272" r:id="rId13"/>
    <p:sldId id="273" r:id="rId14"/>
    <p:sldId id="268" r:id="rId15"/>
    <p:sldId id="270" r:id="rId16"/>
    <p:sldId id="259" r:id="rId17"/>
    <p:sldId id="260" r:id="rId18"/>
    <p:sldId id="288" r:id="rId19"/>
    <p:sldId id="274" r:id="rId20"/>
    <p:sldId id="275" r:id="rId21"/>
    <p:sldId id="276" r:id="rId22"/>
    <p:sldId id="267" r:id="rId23"/>
    <p:sldId id="298" r:id="rId24"/>
    <p:sldId id="299" r:id="rId25"/>
    <p:sldId id="282" r:id="rId26"/>
    <p:sldId id="305" r:id="rId27"/>
    <p:sldId id="306" r:id="rId28"/>
    <p:sldId id="261" r:id="rId29"/>
    <p:sldId id="263" r:id="rId30"/>
    <p:sldId id="277" r:id="rId31"/>
    <p:sldId id="283" r:id="rId32"/>
    <p:sldId id="284" r:id="rId33"/>
    <p:sldId id="285" r:id="rId34"/>
    <p:sldId id="289" r:id="rId35"/>
    <p:sldId id="286" r:id="rId36"/>
    <p:sldId id="278" r:id="rId37"/>
    <p:sldId id="300" r:id="rId38"/>
    <p:sldId id="279" r:id="rId39"/>
    <p:sldId id="307" r:id="rId40"/>
    <p:sldId id="290" r:id="rId41"/>
    <p:sldId id="302" r:id="rId42"/>
    <p:sldId id="291" r:id="rId43"/>
    <p:sldId id="303" r:id="rId44"/>
    <p:sldId id="304" r:id="rId45"/>
    <p:sldId id="293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rhun uzdiyem" initials="ou" lastIdx="1" clrIdx="0">
    <p:extLst>
      <p:ext uri="{19B8F6BF-5375-455C-9EA6-DF929625EA0E}">
        <p15:presenceInfo xmlns:p15="http://schemas.microsoft.com/office/powerpoint/2012/main" userId="7c704e6ad42cbf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hun\Desktop\Book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hun\Desktop\Book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hun\Desktop\Book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orhun\Desktop\Book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Sheet1!$B$3:$B$17</c:f>
              <c:numCache>
                <c:formatCode>General</c:formatCode>
                <c:ptCount val="15"/>
                <c:pt idx="0">
                  <c:v>60.44</c:v>
                </c:pt>
                <c:pt idx="1">
                  <c:v>53.82</c:v>
                </c:pt>
                <c:pt idx="2">
                  <c:v>58.71</c:v>
                </c:pt>
                <c:pt idx="3">
                  <c:v>59.36</c:v>
                </c:pt>
                <c:pt idx="4">
                  <c:v>60.25</c:v>
                </c:pt>
                <c:pt idx="5">
                  <c:v>67.08</c:v>
                </c:pt>
                <c:pt idx="6">
                  <c:v>60.63</c:v>
                </c:pt>
                <c:pt idx="7">
                  <c:v>71.91</c:v>
                </c:pt>
                <c:pt idx="8">
                  <c:v>59.07</c:v>
                </c:pt>
                <c:pt idx="9">
                  <c:v>64.959999999999994</c:v>
                </c:pt>
                <c:pt idx="10">
                  <c:v>58.12</c:v>
                </c:pt>
                <c:pt idx="11">
                  <c:v>57.46</c:v>
                </c:pt>
                <c:pt idx="12">
                  <c:v>68.73</c:v>
                </c:pt>
                <c:pt idx="13">
                  <c:v>61.51</c:v>
                </c:pt>
                <c:pt idx="14">
                  <c:v>62.01</c:v>
                </c:pt>
              </c:numCache>
            </c:numRef>
          </c:yVal>
          <c:smooth val="1"/>
        </c:ser>
        <c:ser>
          <c:idx val="1"/>
          <c:order val="1"/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Sheet1!$D$3:$D$17</c:f>
              <c:numCache>
                <c:formatCode>General</c:formatCode>
                <c:ptCount val="15"/>
                <c:pt idx="0">
                  <c:v>60.41</c:v>
                </c:pt>
                <c:pt idx="1">
                  <c:v>55.32</c:v>
                </c:pt>
                <c:pt idx="2">
                  <c:v>58.45</c:v>
                </c:pt>
                <c:pt idx="3">
                  <c:v>58.65</c:v>
                </c:pt>
                <c:pt idx="4">
                  <c:v>60.41</c:v>
                </c:pt>
                <c:pt idx="5">
                  <c:v>67.150000000000006</c:v>
                </c:pt>
                <c:pt idx="6">
                  <c:v>60.41</c:v>
                </c:pt>
                <c:pt idx="7">
                  <c:v>69.680000000000007</c:v>
                </c:pt>
                <c:pt idx="8">
                  <c:v>58.62</c:v>
                </c:pt>
                <c:pt idx="9">
                  <c:v>65.91</c:v>
                </c:pt>
                <c:pt idx="10">
                  <c:v>57.66</c:v>
                </c:pt>
                <c:pt idx="11">
                  <c:v>58.89</c:v>
                </c:pt>
                <c:pt idx="12">
                  <c:v>66.61</c:v>
                </c:pt>
                <c:pt idx="13">
                  <c:v>60.25</c:v>
                </c:pt>
                <c:pt idx="14">
                  <c:v>60.26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2735296"/>
        <c:axId val="292735840"/>
      </c:scatterChart>
      <c:valAx>
        <c:axId val="292735296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Run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735840"/>
        <c:crosses val="autoZero"/>
        <c:crossBetween val="midCat"/>
      </c:valAx>
      <c:valAx>
        <c:axId val="292735840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Karbon</a:t>
                </a:r>
                <a:r>
                  <a:rPr lang="tr-TR" baseline="0"/>
                  <a:t> Yüzdesi [%]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73529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Sheet1!$B$3:$B$17</c:f>
              <c:numCache>
                <c:formatCode>General</c:formatCode>
                <c:ptCount val="15"/>
                <c:pt idx="0">
                  <c:v>60.44</c:v>
                </c:pt>
                <c:pt idx="1">
                  <c:v>53.82</c:v>
                </c:pt>
                <c:pt idx="2">
                  <c:v>58.71</c:v>
                </c:pt>
                <c:pt idx="3">
                  <c:v>59.36</c:v>
                </c:pt>
                <c:pt idx="4">
                  <c:v>60.25</c:v>
                </c:pt>
                <c:pt idx="5">
                  <c:v>67.08</c:v>
                </c:pt>
                <c:pt idx="6">
                  <c:v>60.63</c:v>
                </c:pt>
                <c:pt idx="7">
                  <c:v>71.91</c:v>
                </c:pt>
                <c:pt idx="8">
                  <c:v>59.07</c:v>
                </c:pt>
                <c:pt idx="9">
                  <c:v>64.959999999999994</c:v>
                </c:pt>
                <c:pt idx="10">
                  <c:v>58.12</c:v>
                </c:pt>
                <c:pt idx="11">
                  <c:v>57.46</c:v>
                </c:pt>
                <c:pt idx="12">
                  <c:v>68.73</c:v>
                </c:pt>
                <c:pt idx="13">
                  <c:v>61.51</c:v>
                </c:pt>
                <c:pt idx="14">
                  <c:v>62.01</c:v>
                </c:pt>
              </c:numCache>
            </c:numRef>
          </c:yVal>
          <c:smooth val="1"/>
        </c:ser>
        <c:ser>
          <c:idx val="2"/>
          <c:order val="1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Sheet1!$F$3:$F$17</c:f>
              <c:numCache>
                <c:formatCode>General</c:formatCode>
                <c:ptCount val="15"/>
                <c:pt idx="0">
                  <c:v>61.12</c:v>
                </c:pt>
                <c:pt idx="1">
                  <c:v>56.9</c:v>
                </c:pt>
                <c:pt idx="2">
                  <c:v>59.92</c:v>
                </c:pt>
                <c:pt idx="3">
                  <c:v>57.82</c:v>
                </c:pt>
                <c:pt idx="4">
                  <c:v>61.12</c:v>
                </c:pt>
                <c:pt idx="5">
                  <c:v>65.260000000000005</c:v>
                </c:pt>
                <c:pt idx="6">
                  <c:v>61.12</c:v>
                </c:pt>
                <c:pt idx="7">
                  <c:v>65.11</c:v>
                </c:pt>
                <c:pt idx="8">
                  <c:v>58.58</c:v>
                </c:pt>
                <c:pt idx="9">
                  <c:v>64.09</c:v>
                </c:pt>
                <c:pt idx="10">
                  <c:v>60.25</c:v>
                </c:pt>
                <c:pt idx="11">
                  <c:v>57.55</c:v>
                </c:pt>
                <c:pt idx="12">
                  <c:v>66.42</c:v>
                </c:pt>
                <c:pt idx="13">
                  <c:v>62.13</c:v>
                </c:pt>
                <c:pt idx="14">
                  <c:v>62.04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2736384"/>
        <c:axId val="292740192"/>
      </c:scatterChart>
      <c:valAx>
        <c:axId val="292736384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Run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740192"/>
        <c:crosses val="autoZero"/>
        <c:crossBetween val="midCat"/>
      </c:valAx>
      <c:valAx>
        <c:axId val="292740192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Kar bon Yüzdesi</a:t>
                </a:r>
                <a:r>
                  <a:rPr lang="tr-TR" baseline="0"/>
                  <a:t> [%]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27363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Sheet1!$B$3:$B$17</c:f>
              <c:numCache>
                <c:formatCode>General</c:formatCode>
                <c:ptCount val="15"/>
                <c:pt idx="0">
                  <c:v>60.44</c:v>
                </c:pt>
                <c:pt idx="1">
                  <c:v>53.82</c:v>
                </c:pt>
                <c:pt idx="2">
                  <c:v>58.71</c:v>
                </c:pt>
                <c:pt idx="3">
                  <c:v>59.36</c:v>
                </c:pt>
                <c:pt idx="4">
                  <c:v>60.25</c:v>
                </c:pt>
                <c:pt idx="5">
                  <c:v>67.08</c:v>
                </c:pt>
                <c:pt idx="6">
                  <c:v>60.63</c:v>
                </c:pt>
                <c:pt idx="7">
                  <c:v>71.91</c:v>
                </c:pt>
                <c:pt idx="8">
                  <c:v>59.07</c:v>
                </c:pt>
                <c:pt idx="9">
                  <c:v>64.959999999999994</c:v>
                </c:pt>
                <c:pt idx="10">
                  <c:v>58.12</c:v>
                </c:pt>
                <c:pt idx="11">
                  <c:v>57.46</c:v>
                </c:pt>
                <c:pt idx="12">
                  <c:v>68.73</c:v>
                </c:pt>
                <c:pt idx="13">
                  <c:v>61.51</c:v>
                </c:pt>
                <c:pt idx="14">
                  <c:v>62.01</c:v>
                </c:pt>
              </c:numCache>
            </c:numRef>
          </c:yVal>
          <c:smooth val="1"/>
        </c:ser>
        <c:ser>
          <c:idx val="2"/>
          <c:order val="1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Sheet1!$H$3:$H$17</c:f>
              <c:numCache>
                <c:formatCode>General</c:formatCode>
                <c:ptCount val="15"/>
                <c:pt idx="0">
                  <c:v>62.18</c:v>
                </c:pt>
                <c:pt idx="1">
                  <c:v>53.78</c:v>
                </c:pt>
                <c:pt idx="2">
                  <c:v>59.67</c:v>
                </c:pt>
                <c:pt idx="3">
                  <c:v>55.66</c:v>
                </c:pt>
                <c:pt idx="4">
                  <c:v>62.18</c:v>
                </c:pt>
                <c:pt idx="5">
                  <c:v>67.209999999999994</c:v>
                </c:pt>
                <c:pt idx="6">
                  <c:v>62.18</c:v>
                </c:pt>
                <c:pt idx="7">
                  <c:v>68.319999999999993</c:v>
                </c:pt>
                <c:pt idx="8">
                  <c:v>57.83</c:v>
                </c:pt>
                <c:pt idx="9">
                  <c:v>66.959999999999994</c:v>
                </c:pt>
                <c:pt idx="10">
                  <c:v>60.8</c:v>
                </c:pt>
                <c:pt idx="11">
                  <c:v>55.21</c:v>
                </c:pt>
                <c:pt idx="12">
                  <c:v>68.930000000000007</c:v>
                </c:pt>
                <c:pt idx="13">
                  <c:v>62.53</c:v>
                </c:pt>
                <c:pt idx="14">
                  <c:v>64.23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6066720"/>
        <c:axId val="336064544"/>
      </c:scatterChart>
      <c:valAx>
        <c:axId val="33606672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000" b="0" i="0" u="none" strike="noStrike" baseline="0">
                    <a:effectLst/>
                  </a:rPr>
                  <a:t>Run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6064544"/>
        <c:crosses val="autoZero"/>
        <c:crossBetween val="midCat"/>
      </c:valAx>
      <c:valAx>
        <c:axId val="336064544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Karbon Yüzdesi [%]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60667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Sheet1!$B$3:$B$17</c:f>
              <c:numCache>
                <c:formatCode>General</c:formatCode>
                <c:ptCount val="15"/>
                <c:pt idx="0">
                  <c:v>60.44</c:v>
                </c:pt>
                <c:pt idx="1">
                  <c:v>53.82</c:v>
                </c:pt>
                <c:pt idx="2">
                  <c:v>58.71</c:v>
                </c:pt>
                <c:pt idx="3">
                  <c:v>59.36</c:v>
                </c:pt>
                <c:pt idx="4">
                  <c:v>60.25</c:v>
                </c:pt>
                <c:pt idx="5">
                  <c:v>67.08</c:v>
                </c:pt>
                <c:pt idx="6">
                  <c:v>60.63</c:v>
                </c:pt>
                <c:pt idx="7">
                  <c:v>71.91</c:v>
                </c:pt>
                <c:pt idx="8">
                  <c:v>59.07</c:v>
                </c:pt>
                <c:pt idx="9">
                  <c:v>64.959999999999994</c:v>
                </c:pt>
                <c:pt idx="10">
                  <c:v>58.12</c:v>
                </c:pt>
                <c:pt idx="11">
                  <c:v>57.46</c:v>
                </c:pt>
                <c:pt idx="12">
                  <c:v>68.73</c:v>
                </c:pt>
                <c:pt idx="13">
                  <c:v>61.51</c:v>
                </c:pt>
                <c:pt idx="14">
                  <c:v>62.01</c:v>
                </c:pt>
              </c:numCache>
            </c:numRef>
          </c:yVal>
          <c:smooth val="1"/>
        </c:ser>
        <c:ser>
          <c:idx val="2"/>
          <c:order val="1"/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Sheet1!$A$3:$A$17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Sheet1!$J$3:$J$17</c:f>
              <c:numCache>
                <c:formatCode>General</c:formatCode>
                <c:ptCount val="15"/>
                <c:pt idx="0">
                  <c:v>60.44</c:v>
                </c:pt>
                <c:pt idx="1">
                  <c:v>53.82</c:v>
                </c:pt>
                <c:pt idx="2">
                  <c:v>58.71</c:v>
                </c:pt>
                <c:pt idx="3">
                  <c:v>59.36</c:v>
                </c:pt>
                <c:pt idx="4">
                  <c:v>60.44</c:v>
                </c:pt>
                <c:pt idx="5">
                  <c:v>70.304000000000002</c:v>
                </c:pt>
                <c:pt idx="6">
                  <c:v>60.44</c:v>
                </c:pt>
                <c:pt idx="7">
                  <c:v>71.91</c:v>
                </c:pt>
                <c:pt idx="8">
                  <c:v>60.024000000000001</c:v>
                </c:pt>
                <c:pt idx="9">
                  <c:v>70.265000000000001</c:v>
                </c:pt>
                <c:pt idx="10">
                  <c:v>58.12</c:v>
                </c:pt>
                <c:pt idx="11">
                  <c:v>60.110999999999997</c:v>
                </c:pt>
                <c:pt idx="12">
                  <c:v>68.73</c:v>
                </c:pt>
                <c:pt idx="13">
                  <c:v>60.6</c:v>
                </c:pt>
                <c:pt idx="14">
                  <c:v>62.01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36077600"/>
        <c:axId val="336074336"/>
      </c:scatterChart>
      <c:valAx>
        <c:axId val="336077600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 sz="1000" b="0" i="0" u="none" strike="noStrike" baseline="0">
                    <a:effectLst/>
                  </a:rPr>
                  <a:t>Run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6074336"/>
        <c:crosses val="autoZero"/>
        <c:crossBetween val="midCat"/>
      </c:valAx>
      <c:valAx>
        <c:axId val="336074336"/>
        <c:scaling>
          <c:orientation val="minMax"/>
          <c:min val="5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tr-TR"/>
                  <a:t>Karbon Yüzdesi [%]</a:t>
                </a:r>
                <a:endParaRPr lang="en-US"/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3607760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5-30T23:06:27.596" idx="1">
    <p:pos x="10" y="10"/>
    <p:text>• Herhangi bir programlama diline bağlı kalmadan, ama bir
programlama dilinin yerine getirebileceği işlerden faydalanarak bir
algoritmanın tasarlanmasıdır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06725-A5C6-4D97-BAB5-97495DA97B1D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15C1EF-337A-4A14-9C0C-535002ACE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9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b="1" i="0" dirty="0" err="1" smtClean="0">
                <a:solidFill>
                  <a:srgbClr val="374151"/>
                </a:solidFill>
                <a:effectLst/>
                <a:latin typeface="Söhne"/>
              </a:rPr>
              <a:t>Önceden</a:t>
            </a:r>
            <a:r>
              <a:rPr lang="en-US" b="1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: Bu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strateji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oluşturulması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sırasında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kullanılır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belirli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derinliğe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ulaştığında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veya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belirli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sayıda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düğüm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içerdiğinde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dallanma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durdurulur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Alternatif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olarak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düğümdeki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minimum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örnek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sayısına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dayalı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kural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da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kullanılabilir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b="1" i="0" dirty="0" err="1" smtClean="0">
                <a:solidFill>
                  <a:srgbClr val="374151"/>
                </a:solidFill>
                <a:effectLst/>
                <a:latin typeface="Söhne"/>
              </a:rPr>
              <a:t>Sonrasında</a:t>
            </a:r>
            <a:r>
              <a:rPr lang="en-US" b="1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: Bu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strateji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tamamen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oluşturulmasından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sonra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kullanılır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 Bu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durumda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bazı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dalları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çıkarılır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Genellikle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işlemi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düğümlerin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hata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oranlarını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veya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karmaşıklığını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değerlendirerek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hangi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dalların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kaldırılacağını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belirler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. Bu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değerlendirme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genellikle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doğrulama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seti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üzerinde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yapılır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47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• </a:t>
            </a:r>
            <a:r>
              <a:rPr lang="en-US" dirty="0" err="1" smtClean="0"/>
              <a:t>Herhangi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</a:t>
            </a:r>
            <a:r>
              <a:rPr lang="en-US" dirty="0" err="1" smtClean="0"/>
              <a:t>programlama</a:t>
            </a:r>
            <a:r>
              <a:rPr lang="en-US" dirty="0" smtClean="0"/>
              <a:t> </a:t>
            </a:r>
            <a:r>
              <a:rPr lang="en-US" dirty="0" err="1" smtClean="0"/>
              <a:t>diline</a:t>
            </a:r>
            <a:r>
              <a:rPr lang="en-US" dirty="0" smtClean="0"/>
              <a:t> </a:t>
            </a:r>
            <a:r>
              <a:rPr lang="en-US" dirty="0" err="1" smtClean="0"/>
              <a:t>bağlı</a:t>
            </a:r>
            <a:r>
              <a:rPr lang="en-US" dirty="0" smtClean="0"/>
              <a:t> </a:t>
            </a:r>
            <a:r>
              <a:rPr lang="en-US" dirty="0" err="1" smtClean="0"/>
              <a:t>kalmadan</a:t>
            </a:r>
            <a:r>
              <a:rPr lang="en-US" dirty="0" smtClean="0"/>
              <a:t>, </a:t>
            </a:r>
            <a:r>
              <a:rPr lang="en-US" dirty="0" err="1" smtClean="0"/>
              <a:t>ama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endParaRPr lang="en-US" dirty="0" smtClean="0"/>
          </a:p>
          <a:p>
            <a:r>
              <a:rPr lang="en-US" dirty="0" err="1" smtClean="0"/>
              <a:t>programlama</a:t>
            </a:r>
            <a:r>
              <a:rPr lang="en-US" dirty="0" smtClean="0"/>
              <a:t> </a:t>
            </a:r>
            <a:r>
              <a:rPr lang="en-US" dirty="0" err="1" smtClean="0"/>
              <a:t>dilinin</a:t>
            </a:r>
            <a:r>
              <a:rPr lang="en-US" dirty="0" smtClean="0"/>
              <a:t> </a:t>
            </a:r>
            <a:r>
              <a:rPr lang="en-US" dirty="0" err="1" smtClean="0"/>
              <a:t>yerine</a:t>
            </a:r>
            <a:r>
              <a:rPr lang="en-US" dirty="0" smtClean="0"/>
              <a:t> </a:t>
            </a:r>
            <a:r>
              <a:rPr lang="en-US" dirty="0" err="1" smtClean="0"/>
              <a:t>getirebileceği</a:t>
            </a:r>
            <a:r>
              <a:rPr lang="en-US" dirty="0" smtClean="0"/>
              <a:t> </a:t>
            </a:r>
            <a:r>
              <a:rPr lang="en-US" dirty="0" err="1" smtClean="0"/>
              <a:t>işlerden</a:t>
            </a:r>
            <a:r>
              <a:rPr lang="en-US" dirty="0" smtClean="0"/>
              <a:t> </a:t>
            </a:r>
            <a:r>
              <a:rPr lang="en-US" dirty="0" err="1" smtClean="0"/>
              <a:t>faydalanarak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endParaRPr lang="en-US" dirty="0" smtClean="0"/>
          </a:p>
          <a:p>
            <a:r>
              <a:rPr lang="en-US" dirty="0" err="1" smtClean="0"/>
              <a:t>algoritmanın</a:t>
            </a:r>
            <a:r>
              <a:rPr lang="en-US" dirty="0" smtClean="0"/>
              <a:t> </a:t>
            </a:r>
            <a:r>
              <a:rPr lang="en-US" dirty="0" err="1" smtClean="0"/>
              <a:t>tasarlanmasıdır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15C1EF-337A-4A14-9C0C-535002ACE82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40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62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29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2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30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98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153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53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38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54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40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510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8759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940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9821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1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7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6287EC-2D8B-4839-853F-448EC8EF3B82}" type="datetimeFigureOut">
              <a:rPr lang="en-US" smtClean="0"/>
              <a:t>6/1/2023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1DD2CDD-3E38-45E1-AC54-DC8B9A3AC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083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mailto:orhun.uzdiyem@gmail.com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57AFEF-9B2B-F339-7BA2-47BF50A9F5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744071"/>
            <a:ext cx="7766936" cy="3306765"/>
          </a:xfrm>
        </p:spPr>
        <p:txBody>
          <a:bodyPr/>
          <a:lstStyle/>
          <a:p>
            <a:r>
              <a:rPr lang="en-US" dirty="0" err="1"/>
              <a:t>Piroliz</a:t>
            </a:r>
            <a:r>
              <a:rPr lang="en-US" dirty="0"/>
              <a:t> </a:t>
            </a:r>
            <a:r>
              <a:rPr lang="en-US" dirty="0" err="1"/>
              <a:t>Sistemlerinde</a:t>
            </a:r>
            <a:r>
              <a:rPr lang="en-US" dirty="0"/>
              <a:t> </a:t>
            </a: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Öngörü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Yöntemleri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F41569F-3488-D383-99CF-A515057064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305143"/>
          </a:xfrm>
        </p:spPr>
        <p:txBody>
          <a:bodyPr/>
          <a:lstStyle/>
          <a:p>
            <a:r>
              <a:rPr lang="en-US" dirty="0" err="1"/>
              <a:t>Hazırlayan</a:t>
            </a:r>
            <a:r>
              <a:rPr lang="en-US" dirty="0"/>
              <a:t>: Orhun Uzdiyem</a:t>
            </a:r>
          </a:p>
          <a:p>
            <a:r>
              <a:rPr lang="en-US" dirty="0" err="1"/>
              <a:t>Moderatör</a:t>
            </a:r>
            <a:r>
              <a:rPr lang="en-US" dirty="0"/>
              <a:t>: Prof. Dr. </a:t>
            </a:r>
            <a:r>
              <a:rPr lang="en-US" dirty="0" err="1"/>
              <a:t>Hayati</a:t>
            </a:r>
            <a:r>
              <a:rPr lang="en-US" dirty="0"/>
              <a:t> </a:t>
            </a:r>
            <a:r>
              <a:rPr lang="en-US" dirty="0" err="1"/>
              <a:t>Olgun</a:t>
            </a:r>
            <a:endParaRPr lang="en-US" dirty="0"/>
          </a:p>
          <a:p>
            <a:r>
              <a:rPr lang="en-US" dirty="0" err="1"/>
              <a:t>Ege</a:t>
            </a:r>
            <a:r>
              <a:rPr lang="en-US" dirty="0"/>
              <a:t> </a:t>
            </a:r>
            <a:r>
              <a:rPr lang="en-US" dirty="0" err="1"/>
              <a:t>Üniversitesi</a:t>
            </a:r>
            <a:endParaRPr lang="en-US" dirty="0"/>
          </a:p>
          <a:p>
            <a:r>
              <a:rPr lang="en-US" dirty="0" err="1"/>
              <a:t>Güneş</a:t>
            </a:r>
            <a:r>
              <a:rPr lang="en-US" dirty="0"/>
              <a:t> </a:t>
            </a:r>
            <a:r>
              <a:rPr lang="en-US" dirty="0" err="1"/>
              <a:t>Enerjisi</a:t>
            </a:r>
            <a:r>
              <a:rPr lang="en-US" dirty="0"/>
              <a:t> </a:t>
            </a:r>
            <a:r>
              <a:rPr lang="en-US" dirty="0" err="1"/>
              <a:t>Enstitüsü</a:t>
            </a:r>
            <a:r>
              <a:rPr lang="en-US" dirty="0"/>
              <a:t> – </a:t>
            </a:r>
            <a:r>
              <a:rPr lang="en-US" dirty="0" err="1"/>
              <a:t>Enerji</a:t>
            </a:r>
            <a:r>
              <a:rPr lang="en-US" dirty="0"/>
              <a:t> </a:t>
            </a:r>
            <a:r>
              <a:rPr lang="en-US" dirty="0" err="1"/>
              <a:t>Teknolojisi</a:t>
            </a:r>
            <a:r>
              <a:rPr lang="en-US" dirty="0"/>
              <a:t> </a:t>
            </a:r>
            <a:r>
              <a:rPr lang="en-US" dirty="0" err="1"/>
              <a:t>Anabilimdalı</a:t>
            </a:r>
            <a:endParaRPr lang="en-US" dirty="0"/>
          </a:p>
          <a:p>
            <a:r>
              <a:rPr lang="en-US" dirty="0" err="1"/>
              <a:t>Haziran</a:t>
            </a:r>
            <a:r>
              <a:rPr lang="en-US" dirty="0"/>
              <a:t> 1, 2023</a:t>
            </a:r>
          </a:p>
        </p:txBody>
      </p:sp>
    </p:spTree>
    <p:extLst>
      <p:ext uri="{BB962C8B-B14F-4D97-AF65-F5344CB8AC3E}">
        <p14:creationId xmlns:p14="http://schemas.microsoft.com/office/powerpoint/2010/main" val="4101100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66FED5-0A15-7AD8-0B8B-344CB0D2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50293"/>
            <a:ext cx="8596668" cy="1320800"/>
          </a:xfrm>
        </p:spPr>
        <p:txBody>
          <a:bodyPr/>
          <a:lstStyle/>
          <a:p>
            <a:r>
              <a:rPr lang="en-US" dirty="0" err="1"/>
              <a:t>İçerik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F63F3E-6CAE-FB07-4F6B-95D72BE0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41947"/>
            <a:ext cx="8596668" cy="54318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Regresyon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tr-TR" dirty="0" smtClean="0"/>
              <a:t>Örnek Çalışma</a:t>
            </a:r>
            <a:r>
              <a:rPr lang="en-US" dirty="0" smtClean="0"/>
              <a:t>: </a:t>
            </a:r>
            <a:r>
              <a:rPr lang="tr-TR" dirty="0" smtClean="0"/>
              <a:t>Biyokömürleştirme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Python </a:t>
            </a:r>
            <a:r>
              <a:rPr lang="en-US" dirty="0" err="1"/>
              <a:t>kodları</a:t>
            </a: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Neural network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Random forest</a:t>
            </a:r>
          </a:p>
          <a:p>
            <a:pPr lvl="2">
              <a:lnSpc>
                <a:spcPct val="150000"/>
              </a:lnSpc>
            </a:pPr>
            <a:r>
              <a:rPr lang="en-US" dirty="0" err="1"/>
              <a:t>Diğer</a:t>
            </a:r>
            <a:r>
              <a:rPr lang="en-US" dirty="0"/>
              <a:t> </a:t>
            </a:r>
            <a:r>
              <a:rPr lang="en-US" dirty="0" err="1"/>
              <a:t>yöntemler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 err="1" smtClean="0"/>
              <a:t>Sonuçlar</a:t>
            </a:r>
            <a:r>
              <a:rPr lang="tr-TR" dirty="0" smtClean="0"/>
              <a:t> ve Değerlendirme</a:t>
            </a:r>
          </a:p>
          <a:p>
            <a:pPr>
              <a:lnSpc>
                <a:spcPct val="150000"/>
              </a:lnSpc>
            </a:pPr>
            <a:r>
              <a:rPr lang="tr-TR" dirty="0" smtClean="0"/>
              <a:t>Optimizasyon Yöntemleri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605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A40649-A5B3-3822-A658-75918B89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4333937" cy="441063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dirty="0" err="1"/>
              <a:t>Makine</a:t>
            </a:r>
            <a:r>
              <a:rPr lang="en-US" sz="4000" dirty="0"/>
              <a:t> </a:t>
            </a:r>
            <a:r>
              <a:rPr lang="en-US" sz="4000" dirty="0" err="1"/>
              <a:t>Öğrenmesi</a:t>
            </a:r>
            <a:r>
              <a:rPr lang="en-US" sz="4000" dirty="0"/>
              <a:t> </a:t>
            </a:r>
            <a:r>
              <a:rPr lang="en-US" sz="4000" dirty="0" err="1"/>
              <a:t>ile</a:t>
            </a:r>
            <a:r>
              <a:rPr lang="en-US" sz="4000" dirty="0"/>
              <a:t> </a:t>
            </a:r>
            <a:br>
              <a:rPr lang="en-US" sz="4000" dirty="0"/>
            </a:br>
            <a:r>
              <a:rPr lang="en-US" sz="4000" dirty="0" err="1"/>
              <a:t>Regresyon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16036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Makine Öğrenmesi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16677"/>
            <a:ext cx="8596668" cy="533185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dirty="0" smtClean="0"/>
              <a:t>Yapay Zeka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Bilgisayarın parametreleri tanımlama, değerlendirme ve karar vermesi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Genellikle insan zekasını taklit ederek geliştirilir</a:t>
            </a:r>
            <a:endParaRPr lang="tr-TR" dirty="0" smtClean="0"/>
          </a:p>
          <a:p>
            <a:pPr>
              <a:lnSpc>
                <a:spcPct val="150000"/>
              </a:lnSpc>
            </a:pPr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, </a:t>
            </a:r>
            <a:r>
              <a:rPr lang="en-US" dirty="0" err="1"/>
              <a:t>karmaşık</a:t>
            </a:r>
            <a:r>
              <a:rPr lang="en-US" dirty="0"/>
              <a:t> </a:t>
            </a:r>
            <a:r>
              <a:rPr lang="en-US" dirty="0" err="1"/>
              <a:t>verileri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etmek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tr-TR" dirty="0" smtClean="0"/>
              <a:t>öngörüler </a:t>
            </a:r>
            <a:r>
              <a:rPr lang="en-US" dirty="0" err="1" smtClean="0"/>
              <a:t>yapmak</a:t>
            </a:r>
            <a:r>
              <a:rPr lang="en-US" dirty="0" smtClean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zeka</a:t>
            </a:r>
            <a:r>
              <a:rPr lang="en-US" dirty="0"/>
              <a:t> </a:t>
            </a:r>
            <a:r>
              <a:rPr lang="en-US" dirty="0" err="1"/>
              <a:t>yöntemidir</a:t>
            </a:r>
            <a:r>
              <a:rPr lang="en-US" dirty="0"/>
              <a:t>. </a:t>
            </a:r>
            <a:endParaRPr lang="tr-TR" dirty="0"/>
          </a:p>
          <a:p>
            <a:pPr lvl="1">
              <a:lnSpc>
                <a:spcPct val="150000"/>
              </a:lnSpc>
            </a:pPr>
            <a:r>
              <a:rPr lang="tr-TR" dirty="0" smtClean="0"/>
              <a:t>Gözetimli Öğrenme (Supervised Learning)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Gözetimsiz Öğrenme (Unsupervised Learning)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Pekiştirmeli Öğrenme (Reinforcement Learning)</a:t>
            </a:r>
          </a:p>
        </p:txBody>
      </p:sp>
    </p:spTree>
    <p:extLst>
      <p:ext uri="{BB962C8B-B14F-4D97-AF65-F5344CB8AC3E}">
        <p14:creationId xmlns:p14="http://schemas.microsoft.com/office/powerpoint/2010/main" val="1520939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Gözetimli Makine Öğrenmesi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2772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dirty="0" smtClean="0"/>
              <a:t>Kullanım alanları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Regresyon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Sınıflandırma</a:t>
            </a:r>
          </a:p>
          <a:p>
            <a:pPr>
              <a:lnSpc>
                <a:spcPct val="150000"/>
              </a:lnSpc>
            </a:pPr>
            <a:r>
              <a:rPr lang="tr-TR" dirty="0" smtClean="0"/>
              <a:t>Çeşitli yöntemler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Karar ağaçları (Decision Tree)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Yapay sinir ağları (Artificial Neural Network)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Destek vektör makineleri (Support Vector Machines)</a:t>
            </a:r>
          </a:p>
          <a:p>
            <a:pPr lvl="1">
              <a:lnSpc>
                <a:spcPct val="150000"/>
              </a:lnSpc>
            </a:pPr>
            <a:r>
              <a:rPr lang="tr-TR" dirty="0" smtClean="0"/>
              <a:t>k-En yakın komşular (k-Nearest Neighbour)</a:t>
            </a:r>
          </a:p>
        </p:txBody>
      </p:sp>
    </p:spTree>
    <p:extLst>
      <p:ext uri="{BB962C8B-B14F-4D97-AF65-F5344CB8AC3E}">
        <p14:creationId xmlns:p14="http://schemas.microsoft.com/office/powerpoint/2010/main" val="188075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780311" cy="1320800"/>
          </a:xfrm>
        </p:spPr>
        <p:txBody>
          <a:bodyPr/>
          <a:lstStyle/>
          <a:p>
            <a:r>
              <a:rPr lang="tr-TR" dirty="0" smtClean="0"/>
              <a:t>Gözetimli Makine Öğrenmesi ile Regresyon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318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Deney</a:t>
            </a:r>
            <a:r>
              <a:rPr lang="en-US" sz="2000" dirty="0" smtClean="0"/>
              <a:t> </a:t>
            </a:r>
            <a:r>
              <a:rPr lang="en-US" sz="2000" dirty="0" err="1"/>
              <a:t>sonuçlarından</a:t>
            </a:r>
            <a:r>
              <a:rPr lang="en-US" sz="2000" dirty="0"/>
              <a:t> </a:t>
            </a:r>
            <a:r>
              <a:rPr lang="en-US" sz="2000" dirty="0" err="1"/>
              <a:t>elde</a:t>
            </a:r>
            <a:r>
              <a:rPr lang="en-US" sz="2000" dirty="0"/>
              <a:t> </a:t>
            </a:r>
            <a:r>
              <a:rPr lang="en-US" sz="2000" dirty="0" err="1"/>
              <a:t>edilen</a:t>
            </a:r>
            <a:r>
              <a:rPr lang="en-US" sz="2000" dirty="0"/>
              <a:t> </a:t>
            </a:r>
            <a:r>
              <a:rPr lang="en-US" sz="2000" dirty="0" err="1"/>
              <a:t>veriler</a:t>
            </a:r>
            <a:r>
              <a:rPr lang="en-US" sz="2000" dirty="0"/>
              <a:t> </a:t>
            </a:r>
            <a:r>
              <a:rPr lang="tr-TR" sz="2000" dirty="0" smtClean="0"/>
              <a:t>gözetimli </a:t>
            </a:r>
            <a:r>
              <a:rPr lang="en-US" sz="2000" dirty="0" err="1" smtClean="0"/>
              <a:t>makine</a:t>
            </a:r>
            <a:r>
              <a:rPr lang="en-US" sz="2000" dirty="0" smtClean="0"/>
              <a:t> </a:t>
            </a:r>
            <a:r>
              <a:rPr lang="en-US" sz="2000" dirty="0" err="1"/>
              <a:t>öğrenmesi</a:t>
            </a:r>
            <a:r>
              <a:rPr lang="en-US" sz="2000" dirty="0"/>
              <a:t> </a:t>
            </a:r>
            <a:r>
              <a:rPr lang="en-US" sz="2000" dirty="0" err="1"/>
              <a:t>algoritmalarıyla</a:t>
            </a:r>
            <a:r>
              <a:rPr lang="en-US" sz="2000" dirty="0"/>
              <a:t>  </a:t>
            </a:r>
            <a:r>
              <a:rPr lang="en-US" sz="2000" dirty="0" err="1"/>
              <a:t>işlenebilirler</a:t>
            </a:r>
            <a:r>
              <a:rPr lang="en-US" sz="20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sz="1800" dirty="0" err="1"/>
              <a:t>Deney</a:t>
            </a:r>
            <a:r>
              <a:rPr lang="en-US" sz="1800" dirty="0"/>
              <a:t> </a:t>
            </a:r>
            <a:r>
              <a:rPr lang="en-US" sz="1800" dirty="0" err="1"/>
              <a:t>girdi</a:t>
            </a:r>
            <a:r>
              <a:rPr lang="en-US" sz="1800" dirty="0"/>
              <a:t> </a:t>
            </a:r>
            <a:r>
              <a:rPr lang="en-US" sz="1800" dirty="0" err="1"/>
              <a:t>verileri</a:t>
            </a:r>
            <a:r>
              <a:rPr lang="en-US" sz="1800" dirty="0"/>
              <a:t> </a:t>
            </a:r>
            <a:r>
              <a:rPr lang="en-US" sz="1800" dirty="0" err="1"/>
              <a:t>ile</a:t>
            </a:r>
            <a:r>
              <a:rPr lang="en-US" sz="1800" dirty="0"/>
              <a:t> </a:t>
            </a:r>
            <a:r>
              <a:rPr lang="en-US" sz="1800" dirty="0" err="1"/>
              <a:t>sonuç</a:t>
            </a:r>
            <a:r>
              <a:rPr lang="en-US" sz="1800" dirty="0"/>
              <a:t> </a:t>
            </a:r>
            <a:r>
              <a:rPr lang="en-US" sz="1800" dirty="0" err="1"/>
              <a:t>verileri</a:t>
            </a:r>
            <a:r>
              <a:rPr lang="en-US" sz="1800" dirty="0"/>
              <a:t> </a:t>
            </a:r>
            <a:r>
              <a:rPr lang="en-US" sz="1800" dirty="0" err="1"/>
              <a:t>arasında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model </a:t>
            </a:r>
            <a:r>
              <a:rPr lang="en-US" sz="1800" dirty="0" err="1"/>
              <a:t>oluşturulması</a:t>
            </a:r>
            <a:r>
              <a:rPr lang="en-US" sz="1800" dirty="0"/>
              <a:t> </a:t>
            </a:r>
            <a:r>
              <a:rPr lang="en-US" sz="1800" dirty="0" err="1"/>
              <a:t>işlemine</a:t>
            </a:r>
            <a:r>
              <a:rPr lang="en-US" sz="1800" dirty="0"/>
              <a:t> </a:t>
            </a:r>
            <a:r>
              <a:rPr lang="en-US" sz="1800" dirty="0" err="1"/>
              <a:t>modelin</a:t>
            </a:r>
            <a:r>
              <a:rPr lang="en-US" sz="1800" dirty="0"/>
              <a:t> </a:t>
            </a:r>
            <a:r>
              <a:rPr lang="en-US" sz="1800" dirty="0" err="1"/>
              <a:t>eğitilmesi</a:t>
            </a:r>
            <a:r>
              <a:rPr lang="en-US" sz="1800" dirty="0"/>
              <a:t> </a:t>
            </a:r>
            <a:r>
              <a:rPr lang="en-US" sz="1800" dirty="0" err="1"/>
              <a:t>adı</a:t>
            </a:r>
            <a:r>
              <a:rPr lang="en-US" sz="1800" dirty="0"/>
              <a:t> </a:t>
            </a:r>
            <a:r>
              <a:rPr lang="en-US" sz="1800" dirty="0" err="1"/>
              <a:t>verilir</a:t>
            </a:r>
            <a:r>
              <a:rPr lang="en-US" sz="1800" dirty="0" smtClean="0"/>
              <a:t>.</a:t>
            </a:r>
            <a:endParaRPr lang="tr-TR" sz="1800" dirty="0" smtClean="0"/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Bu </a:t>
            </a:r>
            <a:r>
              <a:rPr lang="en-US" sz="1800" dirty="0" err="1"/>
              <a:t>işlem</a:t>
            </a:r>
            <a:r>
              <a:rPr lang="en-US" sz="1800" dirty="0"/>
              <a:t> </a:t>
            </a:r>
            <a:r>
              <a:rPr lang="en-US" sz="1800" dirty="0" err="1"/>
              <a:t>sırasında</a:t>
            </a:r>
            <a:r>
              <a:rPr lang="en-US" sz="1800" dirty="0"/>
              <a:t> </a:t>
            </a:r>
            <a:r>
              <a:rPr lang="en-US" sz="1800" dirty="0" err="1"/>
              <a:t>kullanılan</a:t>
            </a:r>
            <a:r>
              <a:rPr lang="en-US" sz="1800" dirty="0"/>
              <a:t> </a:t>
            </a:r>
            <a:r>
              <a:rPr lang="en-US" sz="1800" dirty="0" err="1"/>
              <a:t>veriye</a:t>
            </a:r>
            <a:r>
              <a:rPr lang="en-US" sz="1800" dirty="0"/>
              <a:t> ‘</a:t>
            </a:r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’ </a:t>
            </a:r>
            <a:r>
              <a:rPr lang="en-US" sz="1800" dirty="0" err="1"/>
              <a:t>denir</a:t>
            </a:r>
            <a:r>
              <a:rPr lang="en-US" sz="1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sz="1800" dirty="0" err="1"/>
              <a:t>Modelin</a:t>
            </a:r>
            <a:r>
              <a:rPr lang="en-US" sz="1800" dirty="0"/>
              <a:t> </a:t>
            </a:r>
            <a:r>
              <a:rPr lang="en-US" sz="1800" dirty="0" err="1"/>
              <a:t>doğruluğunu</a:t>
            </a:r>
            <a:r>
              <a:rPr lang="en-US" sz="1800" dirty="0"/>
              <a:t> test </a:t>
            </a:r>
            <a:r>
              <a:rPr lang="en-US" sz="1800" dirty="0" err="1"/>
              <a:t>etmek</a:t>
            </a:r>
            <a:r>
              <a:rPr lang="en-US" sz="1800" dirty="0"/>
              <a:t> </a:t>
            </a:r>
            <a:r>
              <a:rPr lang="en-US" sz="1800" dirty="0" err="1"/>
              <a:t>için</a:t>
            </a:r>
            <a:r>
              <a:rPr lang="en-US" sz="1800" dirty="0"/>
              <a:t> </a:t>
            </a:r>
            <a:r>
              <a:rPr lang="en-US" sz="1800" dirty="0" err="1"/>
              <a:t>kullanılan</a:t>
            </a:r>
            <a:r>
              <a:rPr lang="en-US" sz="1800" dirty="0"/>
              <a:t> </a:t>
            </a:r>
            <a:r>
              <a:rPr lang="en-US" sz="1800" dirty="0" err="1"/>
              <a:t>veriye</a:t>
            </a:r>
            <a:r>
              <a:rPr lang="en-US" sz="1800" dirty="0"/>
              <a:t> ‘</a:t>
            </a:r>
            <a:r>
              <a:rPr lang="en-US" sz="1800" dirty="0" err="1"/>
              <a:t>doğrulama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’ </a:t>
            </a:r>
            <a:r>
              <a:rPr lang="en-US" sz="1800" dirty="0" err="1" smtClean="0"/>
              <a:t>denir</a:t>
            </a:r>
            <a:endParaRPr lang="en-US" sz="1800" dirty="0"/>
          </a:p>
          <a:p>
            <a:pPr lvl="1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31043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85CA33-19BE-6D85-E1C5-80E7DB76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553" y="457200"/>
            <a:ext cx="8906449" cy="13208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Random Forest - RF (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D376E5-2033-C020-EC11-D5B290738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9084"/>
            <a:ext cx="8596668" cy="50272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Random Forest, </a:t>
            </a:r>
            <a:r>
              <a:rPr lang="en-US" sz="2000" dirty="0" err="1"/>
              <a:t>birçok</a:t>
            </a:r>
            <a:r>
              <a:rPr lang="en-US" sz="2000" dirty="0"/>
              <a:t> </a:t>
            </a:r>
            <a:r>
              <a:rPr lang="en-US" sz="2000" dirty="0" err="1"/>
              <a:t>karar</a:t>
            </a:r>
            <a:r>
              <a:rPr lang="en-US" sz="2000" dirty="0"/>
              <a:t> </a:t>
            </a:r>
            <a:r>
              <a:rPr lang="en-US" sz="2000" dirty="0" err="1"/>
              <a:t>ağacını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araya</a:t>
            </a:r>
            <a:r>
              <a:rPr lang="en-US" sz="2000" dirty="0"/>
              <a:t> </a:t>
            </a:r>
            <a:r>
              <a:rPr lang="en-US" sz="2000" dirty="0" err="1"/>
              <a:t>getirerek</a:t>
            </a:r>
            <a:r>
              <a:rPr lang="en-US" sz="2000" dirty="0"/>
              <a:t> </a:t>
            </a:r>
            <a:r>
              <a:rPr lang="en-US" sz="2000" dirty="0" err="1"/>
              <a:t>tahmin</a:t>
            </a:r>
            <a:r>
              <a:rPr lang="en-US" sz="2000" dirty="0"/>
              <a:t> </a:t>
            </a:r>
            <a:r>
              <a:rPr lang="en-US" sz="2000" dirty="0" err="1"/>
              <a:t>yapan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algoritmadır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b="0" i="0" dirty="0" err="1">
                <a:solidFill>
                  <a:srgbClr val="374151"/>
                </a:solidFill>
                <a:effectLst/>
              </a:rPr>
              <a:t>Biyokömür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verimi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biyokömür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içeriğinin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biyokütle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karakteristikleri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piroliz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koşullarına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dayalı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olarak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tr-TR" sz="2000" dirty="0">
                <a:solidFill>
                  <a:srgbClr val="374151"/>
                </a:solidFill>
              </a:rPr>
              <a:t>öngörüsü</a:t>
            </a:r>
            <a:r>
              <a:rPr lang="en-US" sz="2000" dirty="0" smtClean="0">
                <a:solidFill>
                  <a:srgbClr val="374151"/>
                </a:solidFill>
              </a:rPr>
              <a:t>. 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</a:rPr>
              <a:t>[</a:t>
            </a:r>
            <a:r>
              <a:rPr lang="tr-TR" sz="2000" baseline="30000" dirty="0">
                <a:solidFill>
                  <a:srgbClr val="374151"/>
                </a:solidFill>
              </a:rPr>
              <a:t>1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</a:rPr>
              <a:t>]</a:t>
            </a:r>
            <a:endParaRPr lang="en-US" sz="2000" b="0" i="0" dirty="0">
              <a:solidFill>
                <a:srgbClr val="374151"/>
              </a:solidFill>
              <a:effectLst/>
            </a:endParaRPr>
          </a:p>
          <a:p>
            <a:pPr lvl="1"/>
            <a:r>
              <a:rPr lang="en-US" sz="1800" dirty="0"/>
              <a:t>Ham </a:t>
            </a:r>
            <a:r>
              <a:rPr lang="en-US" sz="1800" dirty="0" err="1"/>
              <a:t>biyokütle</a:t>
            </a:r>
            <a:r>
              <a:rPr lang="en-US" sz="1800" dirty="0"/>
              <a:t> </a:t>
            </a:r>
            <a:r>
              <a:rPr lang="en-US" sz="1800" dirty="0" err="1"/>
              <a:t>karakteristikleri</a:t>
            </a:r>
            <a:r>
              <a:rPr lang="en-US" sz="1800" dirty="0"/>
              <a:t>:</a:t>
            </a:r>
          </a:p>
          <a:p>
            <a:pPr lvl="2"/>
            <a:r>
              <a:rPr lang="en-US" sz="1600" dirty="0" err="1"/>
              <a:t>Elementel</a:t>
            </a:r>
            <a:r>
              <a:rPr lang="en-US" sz="1600" dirty="0"/>
              <a:t> </a:t>
            </a:r>
            <a:r>
              <a:rPr lang="en-US" sz="1600" dirty="0" err="1"/>
              <a:t>analiz</a:t>
            </a:r>
            <a:r>
              <a:rPr lang="en-US" sz="1600" dirty="0"/>
              <a:t> </a:t>
            </a:r>
            <a:r>
              <a:rPr lang="en-US" sz="1600" dirty="0" err="1"/>
              <a:t>sonuçları</a:t>
            </a:r>
            <a:r>
              <a:rPr lang="en-US" sz="1600" dirty="0"/>
              <a:t> </a:t>
            </a:r>
            <a:r>
              <a:rPr lang="en-US" sz="1600" dirty="0" smtClean="0"/>
              <a:t>(C</a:t>
            </a:r>
            <a:r>
              <a:rPr lang="en-US" sz="1600" dirty="0"/>
              <a:t>, H O, N), </a:t>
            </a:r>
            <a:r>
              <a:rPr lang="en-US" sz="1600" dirty="0" err="1"/>
              <a:t>Kül</a:t>
            </a:r>
            <a:r>
              <a:rPr lang="en-US" sz="1600" dirty="0"/>
              <a:t> </a:t>
            </a:r>
            <a:r>
              <a:rPr lang="en-US" sz="1600" dirty="0" err="1"/>
              <a:t>içeriği</a:t>
            </a:r>
            <a:r>
              <a:rPr lang="en-US" sz="1600" dirty="0"/>
              <a:t>, </a:t>
            </a:r>
            <a:r>
              <a:rPr lang="en-US" sz="1600" dirty="0" err="1"/>
              <a:t>Parçacık</a:t>
            </a:r>
            <a:r>
              <a:rPr lang="en-US" sz="1600" dirty="0"/>
              <a:t> </a:t>
            </a:r>
            <a:r>
              <a:rPr lang="en-US" sz="1600" dirty="0" err="1"/>
              <a:t>boyutu</a:t>
            </a:r>
            <a:endParaRPr lang="en-US" sz="1600" dirty="0"/>
          </a:p>
          <a:p>
            <a:pPr lvl="1"/>
            <a:r>
              <a:rPr lang="en-US" sz="1800" dirty="0" err="1"/>
              <a:t>Pyroliz</a:t>
            </a:r>
            <a:r>
              <a:rPr lang="en-US" sz="1800" dirty="0"/>
              <a:t> </a:t>
            </a:r>
            <a:r>
              <a:rPr lang="en-US" sz="1800" dirty="0" err="1"/>
              <a:t>koşulları</a:t>
            </a:r>
            <a:r>
              <a:rPr lang="en-US" sz="1800" dirty="0"/>
              <a:t>:</a:t>
            </a:r>
          </a:p>
          <a:p>
            <a:pPr lvl="2"/>
            <a:r>
              <a:rPr lang="en-US" sz="1600" dirty="0" err="1"/>
              <a:t>Sıcaklık</a:t>
            </a:r>
            <a:r>
              <a:rPr lang="en-US" sz="1600" dirty="0"/>
              <a:t>, </a:t>
            </a:r>
            <a:r>
              <a:rPr lang="en-US" sz="1600" dirty="0" err="1"/>
              <a:t>Isıtma</a:t>
            </a:r>
            <a:r>
              <a:rPr lang="en-US" sz="1600" dirty="0"/>
              <a:t> </a:t>
            </a:r>
            <a:r>
              <a:rPr lang="en-US" sz="1600" dirty="0" err="1"/>
              <a:t>hızı</a:t>
            </a:r>
            <a:r>
              <a:rPr lang="en-US" sz="1600" dirty="0"/>
              <a:t>, </a:t>
            </a:r>
            <a:r>
              <a:rPr lang="en-US" sz="1600" dirty="0" err="1"/>
              <a:t>Bekleme</a:t>
            </a:r>
            <a:r>
              <a:rPr lang="en-US" sz="1600" dirty="0"/>
              <a:t> </a:t>
            </a:r>
            <a:r>
              <a:rPr lang="en-US" sz="1600" dirty="0" err="1"/>
              <a:t>süresi</a:t>
            </a:r>
            <a:endParaRPr lang="en-US" sz="1600" dirty="0"/>
          </a:p>
          <a:p>
            <a:pPr lvl="1">
              <a:lnSpc>
                <a:spcPct val="150000"/>
              </a:lnSpc>
            </a:pPr>
            <a:r>
              <a:rPr lang="tr-TR" sz="1800" dirty="0"/>
              <a:t>Literatür taraması yoluyla 245 adet veri </a:t>
            </a:r>
            <a:r>
              <a:rPr lang="tr-TR" sz="1800" dirty="0" smtClean="0"/>
              <a:t>seti</a:t>
            </a:r>
          </a:p>
          <a:p>
            <a:pPr lvl="1">
              <a:lnSpc>
                <a:spcPct val="150000"/>
              </a:lnSpc>
            </a:pPr>
            <a:r>
              <a:rPr lang="en-US" sz="1800" dirty="0" smtClean="0"/>
              <a:t>R</a:t>
            </a:r>
            <a:r>
              <a:rPr lang="en-US" sz="1800" baseline="30000" dirty="0" smtClean="0"/>
              <a:t>2</a:t>
            </a:r>
            <a:r>
              <a:rPr lang="en-US" sz="1800" dirty="0"/>
              <a:t>: (75.50 – 85.48) 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31663A3-866B-95B9-9C6F-6A3D016DF4DB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/>
              <a:t>1</a:t>
            </a:r>
            <a:r>
              <a:rPr lang="en-US" sz="1200" dirty="0" smtClean="0"/>
              <a:t>]: </a:t>
            </a:r>
            <a:r>
              <a:rPr lang="en-US" sz="1200" dirty="0" err="1"/>
              <a:t>Zhu,X</a:t>
            </a:r>
            <a:r>
              <a:rPr lang="en-US" sz="1200" dirty="0"/>
              <a:t>., </a:t>
            </a:r>
            <a:r>
              <a:rPr lang="en-US" sz="1200" dirty="0" err="1"/>
              <a:t>Yinan,L</a:t>
            </a:r>
            <a:r>
              <a:rPr lang="en-US" sz="1200" dirty="0"/>
              <a:t>., </a:t>
            </a:r>
            <a:r>
              <a:rPr lang="en-US" sz="1200" dirty="0" err="1"/>
              <a:t>Wang,X</a:t>
            </a:r>
            <a:r>
              <a:rPr lang="en-US" sz="1200" dirty="0"/>
              <a:t>., </a:t>
            </a:r>
            <a:r>
              <a:rPr lang="en-US" sz="1200" i="1" dirty="0"/>
              <a:t>Machine Learning prediction of biochar yield and carbon contents in biochar based on biomass characteristics and pyrolysis conditions, </a:t>
            </a:r>
            <a:r>
              <a:rPr lang="en-US" sz="1200" dirty="0"/>
              <a:t>“Bioresource Technology”, 288(2019):121527</a:t>
            </a:r>
          </a:p>
        </p:txBody>
      </p:sp>
    </p:spTree>
    <p:extLst>
      <p:ext uri="{BB962C8B-B14F-4D97-AF65-F5344CB8AC3E}">
        <p14:creationId xmlns:p14="http://schemas.microsoft.com/office/powerpoint/2010/main" val="96291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0104043-C0EF-C603-1A38-A15E646F2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 (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800D24-2111-ECC5-1CC8-87AEEBE36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256829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Sınıflandırma</a:t>
            </a:r>
            <a:r>
              <a:rPr lang="en-US" sz="2000" dirty="0"/>
              <a:t> </a:t>
            </a:r>
            <a:r>
              <a:rPr lang="en-US" sz="2000" dirty="0" err="1"/>
              <a:t>yöntemidir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0" i="0" dirty="0">
                <a:solidFill>
                  <a:srgbClr val="374151"/>
                </a:solidFill>
                <a:effectLst/>
              </a:rPr>
              <a:t>Bir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karar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ağacının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amacı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bir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dizi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kararı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takip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ederek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verileri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sınıflandırmaktır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. Bu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kararlar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genellikle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bir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özelliğin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belirli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bir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değeri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üzerine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</a:rPr>
              <a:t>dayalıdır</a:t>
            </a:r>
            <a:r>
              <a:rPr lang="en-US" sz="2000" b="0" i="0" dirty="0">
                <a:solidFill>
                  <a:srgbClr val="374151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rgbClr val="374151"/>
                </a:solidFill>
              </a:rPr>
              <a:t>Aşırı</a:t>
            </a:r>
            <a:r>
              <a:rPr lang="en-US" sz="2000" dirty="0">
                <a:solidFill>
                  <a:srgbClr val="374151"/>
                </a:solidFill>
              </a:rPr>
              <a:t> </a:t>
            </a:r>
            <a:r>
              <a:rPr lang="en-US" sz="2000" dirty="0" err="1">
                <a:solidFill>
                  <a:srgbClr val="374151"/>
                </a:solidFill>
              </a:rPr>
              <a:t>uyuma</a:t>
            </a:r>
            <a:r>
              <a:rPr lang="en-US" sz="2000" dirty="0">
                <a:solidFill>
                  <a:srgbClr val="374151"/>
                </a:solidFill>
              </a:rPr>
              <a:t> (overfitting) </a:t>
            </a:r>
            <a:r>
              <a:rPr lang="en-US" sz="2000" dirty="0" err="1">
                <a:solidFill>
                  <a:srgbClr val="374151"/>
                </a:solidFill>
              </a:rPr>
              <a:t>meyilli</a:t>
            </a:r>
            <a:r>
              <a:rPr lang="en-US" sz="2000" dirty="0">
                <a:solidFill>
                  <a:srgbClr val="374151"/>
                </a:solidFill>
              </a:rPr>
              <a:t> </a:t>
            </a:r>
            <a:r>
              <a:rPr lang="en-US" sz="2000" dirty="0" err="1">
                <a:solidFill>
                  <a:srgbClr val="374151"/>
                </a:solidFill>
              </a:rPr>
              <a:t>bir</a:t>
            </a:r>
            <a:r>
              <a:rPr lang="en-US" sz="2000" dirty="0">
                <a:solidFill>
                  <a:srgbClr val="374151"/>
                </a:solidFill>
              </a:rPr>
              <a:t> </a:t>
            </a:r>
            <a:r>
              <a:rPr lang="en-US" sz="2000" dirty="0" err="1">
                <a:solidFill>
                  <a:srgbClr val="374151"/>
                </a:solidFill>
              </a:rPr>
              <a:t>yöntem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97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27B93-9856-806B-FA05-B7C64D84C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81" y="466164"/>
            <a:ext cx="8596668" cy="1141505"/>
          </a:xfrm>
        </p:spPr>
        <p:txBody>
          <a:bodyPr/>
          <a:lstStyle/>
          <a:p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F936F06-999E-95D3-4469-379350981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71" y="1506071"/>
            <a:ext cx="8125199" cy="5065059"/>
          </a:xfrm>
          <a:prstGeom prst="rect">
            <a:avLst/>
          </a:prstGeom>
        </p:spPr>
      </p:pic>
      <p:sp>
        <p:nvSpPr>
          <p:cNvPr id="17" name="Arrow: Left 16">
            <a:extLst>
              <a:ext uri="{FF2B5EF4-FFF2-40B4-BE49-F238E27FC236}">
                <a16:creationId xmlns:a16="http://schemas.microsoft.com/office/drawing/2014/main" xmlns="" id="{952B13F8-57A4-D863-6288-95EE855B45E7}"/>
              </a:ext>
            </a:extLst>
          </p:cNvPr>
          <p:cNvSpPr/>
          <p:nvPr/>
        </p:nvSpPr>
        <p:spPr>
          <a:xfrm rot="19859517">
            <a:off x="5091953" y="2259105"/>
            <a:ext cx="403412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xmlns="" id="{2552D015-F1EC-D3FA-CC13-B6E48D04D257}"/>
              </a:ext>
            </a:extLst>
          </p:cNvPr>
          <p:cNvSpPr/>
          <p:nvPr/>
        </p:nvSpPr>
        <p:spPr>
          <a:xfrm rot="13959529">
            <a:off x="4128680" y="5768251"/>
            <a:ext cx="403412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xmlns="" id="{4496578A-3479-1A61-ACC8-8F1CA54989B0}"/>
              </a:ext>
            </a:extLst>
          </p:cNvPr>
          <p:cNvSpPr/>
          <p:nvPr/>
        </p:nvSpPr>
        <p:spPr>
          <a:xfrm rot="16200000">
            <a:off x="3829668" y="4907103"/>
            <a:ext cx="403412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xmlns="" id="{C5D791A8-8812-A1FA-7E22-0051872A9CD6}"/>
              </a:ext>
            </a:extLst>
          </p:cNvPr>
          <p:cNvSpPr/>
          <p:nvPr/>
        </p:nvSpPr>
        <p:spPr>
          <a:xfrm rot="18437549">
            <a:off x="4065989" y="3945963"/>
            <a:ext cx="403412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xmlns="" id="{67E638EF-236A-FF16-488C-5538CEB571C8}"/>
              </a:ext>
            </a:extLst>
          </p:cNvPr>
          <p:cNvSpPr/>
          <p:nvPr/>
        </p:nvSpPr>
        <p:spPr>
          <a:xfrm rot="16200000">
            <a:off x="4445744" y="3141267"/>
            <a:ext cx="403412" cy="28687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50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D0BB7-50D5-DAA9-73F1-386116CA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C6EDF1-B03E-3347-7E2C-64E9DEF2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6166"/>
            <a:ext cx="8596668" cy="29313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Kök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Düğüm</a:t>
            </a: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Oluşturma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Algoritma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veri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kümesindeki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tüm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özellikleri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dikkate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alır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 smtClean="0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tr-TR" b="0" i="0" dirty="0" smtClean="0">
                <a:solidFill>
                  <a:srgbClr val="374151"/>
                </a:solidFill>
                <a:effectLst/>
                <a:latin typeface="Söhne"/>
              </a:rPr>
              <a:t> çok</a:t>
            </a:r>
            <a:r>
              <a:rPr lang="en-US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bilgi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sağlayan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özelliği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bulmak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için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dizi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istatistiksel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test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uygular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Bu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kök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düğümü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haline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gelir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Bilgi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kazancı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özelliğin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seçilmesiyle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elde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edilen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ortalama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karesel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hata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(Mean Squared Error - MSE)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azalmasını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ölçer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Bir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ne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kadar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çok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MSE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azaltırsa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bilgi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kazancı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o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kadar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yüksek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olur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FFA73CC-1BE9-DFA7-15F4-4107AA569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243" y="4437529"/>
            <a:ext cx="375285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599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D0BB7-50D5-DAA9-73F1-386116CA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C6EDF1-B03E-3347-7E2C-64E9DEF2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94790"/>
            <a:ext cx="8596668" cy="16045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0" dirty="0" err="1">
                <a:solidFill>
                  <a:srgbClr val="374151"/>
                </a:solidFill>
                <a:effectLst/>
                <a:latin typeface="Söhne"/>
              </a:rPr>
              <a:t>K</a:t>
            </a:r>
            <a:r>
              <a:rPr lang="en-US" b="1" i="0" dirty="0" err="1">
                <a:effectLst/>
                <a:latin typeface="Söhne"/>
              </a:rPr>
              <a:t>arar</a:t>
            </a:r>
            <a:r>
              <a:rPr lang="en-US" b="1" i="0" dirty="0">
                <a:effectLst/>
                <a:latin typeface="Söhne"/>
              </a:rPr>
              <a:t> </a:t>
            </a:r>
            <a:r>
              <a:rPr lang="en-US" b="1" i="0" dirty="0" err="1">
                <a:effectLst/>
                <a:latin typeface="Söhne"/>
              </a:rPr>
              <a:t>Düğümlerini</a:t>
            </a:r>
            <a:r>
              <a:rPr lang="en-US" b="1" i="0" dirty="0">
                <a:effectLst/>
                <a:latin typeface="Söhne"/>
              </a:rPr>
              <a:t> </a:t>
            </a:r>
            <a:r>
              <a:rPr lang="en-US" b="1" i="0" dirty="0" err="1">
                <a:effectLst/>
                <a:latin typeface="Söhne"/>
              </a:rPr>
              <a:t>Oluşturma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Algoritma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ağacı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kök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düğümden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itibaren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dallandırmaya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başlar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Her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düğümde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algoritma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kalan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özellikleri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dikkate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alır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çok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bilgi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sağlayanı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seçer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EF64024-36EE-BF9C-3C18-A290FA758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193" y="3995365"/>
            <a:ext cx="379095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D0BB7-50D5-DAA9-73F1-386116CA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C6EDF1-B03E-3347-7E2C-64E9DEF2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6045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b="1" i="0" dirty="0" err="1">
                <a:effectLst/>
                <a:latin typeface="Söhne"/>
              </a:rPr>
              <a:t>Dallandırmanın</a:t>
            </a:r>
            <a:r>
              <a:rPr lang="en-US" b="1" i="0" dirty="0">
                <a:effectLst/>
                <a:latin typeface="Söhne"/>
              </a:rPr>
              <a:t> </a:t>
            </a:r>
            <a:r>
              <a:rPr lang="en-US" b="1" i="0" dirty="0" err="1">
                <a:effectLst/>
                <a:latin typeface="Söhne"/>
              </a:rPr>
              <a:t>Durması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dallanması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dizi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durdurma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kriterine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göre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sona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erer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 Bu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kriterler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genellikle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derinliği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düğümde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minimum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örnek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sayısı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veya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MSE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değerine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dayanır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CEBA036-7443-5972-2E9C-1C2B0EB04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155" y="3995365"/>
            <a:ext cx="2867025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0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D0BB7-50D5-DAA9-73F1-386116CA0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3C6EDF1-B03E-3347-7E2C-64E9DEF2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0989"/>
            <a:ext cx="8596668" cy="508289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b="1" i="0" dirty="0" err="1">
                <a:effectLst/>
                <a:latin typeface="Söhne"/>
              </a:rPr>
              <a:t>Budama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Overfittingi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aşırı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uyumu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)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önlemek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için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algoritma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genellikle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ağacı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budar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endParaRPr lang="tr-TR" sz="2000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Bu</a:t>
            </a:r>
            <a:r>
              <a:rPr lang="tr-TR" sz="2000" b="0" i="0" dirty="0" smtClean="0">
                <a:solidFill>
                  <a:srgbClr val="374151"/>
                </a:solidFill>
                <a:effectLst/>
                <a:latin typeface="Söhne"/>
              </a:rPr>
              <a:t>dama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ağacın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bazı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dallarını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kırpma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sürecini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içerir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böylece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ağaç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genelleme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kabiliyetini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artırır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. </a:t>
            </a:r>
            <a:endParaRPr lang="tr-TR" sz="2000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>
              <a:lnSpc>
                <a:spcPct val="150000"/>
              </a:lnSpc>
            </a:pPr>
            <a:r>
              <a:rPr lang="en-US" sz="2000" b="0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stratejileri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iki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kategoriye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ayrılır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önceden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(pre-pruning)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sonrasında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budama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(post-pruning).</a:t>
            </a:r>
          </a:p>
          <a:p>
            <a:pPr lvl="1">
              <a:lnSpc>
                <a:spcPct val="150000"/>
              </a:lnSpc>
            </a:pPr>
            <a:r>
              <a:rPr lang="en-US" sz="1800" b="1" i="0" dirty="0" err="1">
                <a:solidFill>
                  <a:srgbClr val="374151"/>
                </a:solidFill>
                <a:effectLst/>
                <a:latin typeface="Söhne"/>
              </a:rPr>
              <a:t>Önceden</a:t>
            </a:r>
            <a:r>
              <a:rPr lang="en-US" sz="1800" b="1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1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endParaRPr lang="tr-TR" sz="1800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en-US" sz="1800" b="1" i="0" dirty="0" err="1" smtClean="0">
                <a:solidFill>
                  <a:srgbClr val="374151"/>
                </a:solidFill>
                <a:effectLst/>
                <a:latin typeface="Söhne"/>
              </a:rPr>
              <a:t>Sonrasında</a:t>
            </a:r>
            <a:r>
              <a:rPr lang="en-US" sz="1800" b="1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1" i="0" dirty="0" err="1" smtClean="0">
                <a:solidFill>
                  <a:srgbClr val="374151"/>
                </a:solidFill>
                <a:effectLst/>
                <a:latin typeface="Söhne"/>
              </a:rPr>
              <a:t>Budama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0473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D5BC5AA-CE47-BCF1-87F3-90931C86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DCF647A-E410-1E67-CC3A-4A6561810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449305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Regresyon</a:t>
            </a:r>
            <a:r>
              <a:rPr lang="en-US" sz="2000" dirty="0"/>
              <a:t> </a:t>
            </a:r>
            <a:r>
              <a:rPr lang="en-US" sz="2000" dirty="0" err="1"/>
              <a:t>yapabilmesi</a:t>
            </a:r>
            <a:r>
              <a:rPr lang="en-US" sz="2000" dirty="0"/>
              <a:t> </a:t>
            </a:r>
            <a:r>
              <a:rPr lang="en-US" sz="2000" dirty="0" err="1"/>
              <a:t>için</a:t>
            </a:r>
            <a:r>
              <a:rPr lang="en-US" sz="2000" dirty="0"/>
              <a:t> </a:t>
            </a:r>
            <a:r>
              <a:rPr lang="en-US" sz="2000" dirty="0" err="1"/>
              <a:t>birden</a:t>
            </a:r>
            <a:r>
              <a:rPr lang="en-US" sz="2000" dirty="0"/>
              <a:t> </a:t>
            </a:r>
            <a:r>
              <a:rPr lang="en-US" sz="2000" dirty="0" err="1"/>
              <a:t>fazla</a:t>
            </a:r>
            <a:r>
              <a:rPr lang="en-US" sz="2000" dirty="0"/>
              <a:t> </a:t>
            </a:r>
            <a:r>
              <a:rPr lang="en-US" sz="2000" dirty="0" err="1"/>
              <a:t>Karar</a:t>
            </a:r>
            <a:r>
              <a:rPr lang="en-US" sz="2000" dirty="0"/>
              <a:t> </a:t>
            </a:r>
            <a:r>
              <a:rPr lang="en-US" sz="2000" dirty="0" err="1"/>
              <a:t>Ağacı</a:t>
            </a:r>
            <a:r>
              <a:rPr lang="en-US" sz="2000" dirty="0"/>
              <a:t> </a:t>
            </a:r>
            <a:r>
              <a:rPr lang="en-US" sz="2000" dirty="0" err="1"/>
              <a:t>oluşturan</a:t>
            </a:r>
            <a:r>
              <a:rPr lang="en-US" sz="2000" dirty="0"/>
              <a:t> ‘</a:t>
            </a:r>
            <a:r>
              <a:rPr lang="en-US" sz="2000" dirty="0" err="1"/>
              <a:t>Rastgele</a:t>
            </a:r>
            <a:r>
              <a:rPr lang="en-US" sz="2000" dirty="0"/>
              <a:t> </a:t>
            </a:r>
            <a:r>
              <a:rPr lang="en-US" sz="2000" dirty="0" err="1"/>
              <a:t>Ormanlar</a:t>
            </a:r>
            <a:r>
              <a:rPr lang="en-US" sz="2000" dirty="0"/>
              <a:t>’ </a:t>
            </a:r>
            <a:r>
              <a:rPr lang="en-US" sz="2000" dirty="0" err="1"/>
              <a:t>metodu</a:t>
            </a:r>
            <a:r>
              <a:rPr lang="en-US" sz="2000" dirty="0"/>
              <a:t> </a:t>
            </a:r>
            <a:r>
              <a:rPr lang="en-US" sz="2000" dirty="0" err="1"/>
              <a:t>geliştirilmiştir</a:t>
            </a:r>
            <a:r>
              <a:rPr lang="en-US" sz="20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Her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karar</a:t>
            </a:r>
            <a:r>
              <a:rPr lang="en-US" sz="2000" dirty="0"/>
              <a:t> </a:t>
            </a:r>
            <a:r>
              <a:rPr lang="en-US" sz="2000" dirty="0" err="1"/>
              <a:t>ağacı</a:t>
            </a:r>
            <a:r>
              <a:rPr lang="en-US" sz="2000" dirty="0"/>
              <a:t>, </a:t>
            </a:r>
            <a:r>
              <a:rPr lang="en-US" sz="2000" dirty="0" err="1"/>
              <a:t>rastgele</a:t>
            </a:r>
            <a:r>
              <a:rPr lang="en-US" sz="2000" dirty="0"/>
              <a:t> </a:t>
            </a:r>
            <a:r>
              <a:rPr lang="en-US" sz="2000" dirty="0" err="1"/>
              <a:t>örneklemelerle</a:t>
            </a:r>
            <a:r>
              <a:rPr lang="en-US" sz="2000" dirty="0"/>
              <a:t> </a:t>
            </a:r>
            <a:r>
              <a:rPr lang="en-US" sz="2000" dirty="0" err="1"/>
              <a:t>eğitilir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farklı</a:t>
            </a:r>
            <a:r>
              <a:rPr lang="en-US" sz="2000" dirty="0"/>
              <a:t> </a:t>
            </a:r>
            <a:r>
              <a:rPr lang="en-US" sz="2000" dirty="0" err="1"/>
              <a:t>özellik</a:t>
            </a:r>
            <a:r>
              <a:rPr lang="en-US" sz="2000" dirty="0"/>
              <a:t> </a:t>
            </a:r>
            <a:r>
              <a:rPr lang="en-US" sz="2000" dirty="0" err="1"/>
              <a:t>kümesiyle</a:t>
            </a:r>
            <a:r>
              <a:rPr lang="en-US" sz="2000" dirty="0"/>
              <a:t> </a:t>
            </a:r>
            <a:r>
              <a:rPr lang="en-US" sz="2000" dirty="0" err="1"/>
              <a:t>çalışır</a:t>
            </a:r>
            <a:r>
              <a:rPr lang="en-US" sz="2000" dirty="0"/>
              <a:t>, </a:t>
            </a:r>
            <a:r>
              <a:rPr lang="en-US" sz="2000" dirty="0" err="1"/>
              <a:t>böylece</a:t>
            </a:r>
            <a:r>
              <a:rPr lang="en-US" sz="2000" dirty="0"/>
              <a:t> </a:t>
            </a:r>
            <a:r>
              <a:rPr lang="en-US" sz="2000" dirty="0" err="1"/>
              <a:t>çeşitlilik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genelleme</a:t>
            </a:r>
            <a:r>
              <a:rPr lang="en-US" sz="2000" dirty="0"/>
              <a:t> </a:t>
            </a:r>
            <a:r>
              <a:rPr lang="en-US" sz="2000" dirty="0" err="1"/>
              <a:t>yeteneği</a:t>
            </a:r>
            <a:r>
              <a:rPr lang="en-US" sz="2000" dirty="0"/>
              <a:t> </a:t>
            </a:r>
            <a:r>
              <a:rPr lang="en-US" sz="2000" dirty="0" err="1"/>
              <a:t>artar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Random Forest </a:t>
            </a:r>
            <a:r>
              <a:rPr lang="en-US" sz="2000" dirty="0" err="1"/>
              <a:t>yöntemi</a:t>
            </a:r>
            <a:r>
              <a:rPr lang="en-US" sz="2000" dirty="0"/>
              <a:t>; </a:t>
            </a:r>
            <a:r>
              <a:rPr lang="en-US" sz="2000" dirty="0" err="1"/>
              <a:t>overfitting'i</a:t>
            </a:r>
            <a:r>
              <a:rPr lang="en-US" sz="2000" dirty="0"/>
              <a:t> </a:t>
            </a:r>
            <a:r>
              <a:rPr lang="en-US" sz="2000" dirty="0" err="1" smtClean="0"/>
              <a:t>engeller</a:t>
            </a:r>
            <a:r>
              <a:rPr lang="tr-TR" sz="2000" dirty="0" smtClean="0"/>
              <a:t> </a:t>
            </a:r>
            <a:r>
              <a:rPr lang="en-US" sz="2000" dirty="0" err="1" smtClean="0"/>
              <a:t>ve</a:t>
            </a:r>
            <a:r>
              <a:rPr lang="en-US" sz="2000" dirty="0" smtClean="0"/>
              <a:t> 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performanslı</a:t>
            </a:r>
            <a:r>
              <a:rPr lang="en-US" sz="2000" dirty="0"/>
              <a:t>, </a:t>
            </a:r>
            <a:r>
              <a:rPr lang="en-US" sz="2000" dirty="0" err="1"/>
              <a:t>istikrarlı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güvenilir</a:t>
            </a:r>
            <a:r>
              <a:rPr lang="en-US" sz="2000" dirty="0"/>
              <a:t> </a:t>
            </a:r>
            <a:r>
              <a:rPr lang="en-US" sz="2000" dirty="0" err="1"/>
              <a:t>tahminler</a:t>
            </a:r>
            <a:r>
              <a:rPr lang="en-US" sz="2000" dirty="0"/>
              <a:t> </a:t>
            </a:r>
            <a:r>
              <a:rPr lang="en-US" sz="2000" dirty="0" err="1"/>
              <a:t>sağlar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453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D635EE-B09D-79DE-C947-58BB662BB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Ormanları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A9B8F30-3FDD-BCA6-8152-1EBEEA821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7246"/>
            <a:ext cx="4482353" cy="1790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271CBD1-6BB8-67DB-C020-E1E111B2C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371" y="2402618"/>
            <a:ext cx="3903631" cy="26089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50AE684-9CE2-7AD9-1262-BCF469FED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659" y="3761414"/>
            <a:ext cx="4092386" cy="2782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85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0AC5C37-14FD-86B4-7850-BDAD35F0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 smtClean="0"/>
              <a:t>Ormanları</a:t>
            </a:r>
            <a:r>
              <a:rPr lang="tr-TR" dirty="0" smtClean="0"/>
              <a:t> - Pseudokod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50FCB29-6E49-BD95-F1BA-AA18D5294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64406"/>
            <a:ext cx="8596668" cy="4636394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RandomForest</a:t>
            </a:r>
            <a:r>
              <a:rPr lang="en-US" dirty="0" smtClean="0"/>
              <a:t>(</a:t>
            </a:r>
            <a:r>
              <a:rPr lang="en-US" dirty="0" err="1" smtClean="0"/>
              <a:t>trainData</a:t>
            </a:r>
            <a:r>
              <a:rPr lang="en-US" dirty="0"/>
              <a:t>, </a:t>
            </a:r>
            <a:r>
              <a:rPr lang="en-US" dirty="0" err="1"/>
              <a:t>numTrees</a:t>
            </a:r>
            <a:r>
              <a:rPr lang="en-US" dirty="0"/>
              <a:t>, features):</a:t>
            </a:r>
          </a:p>
          <a:p>
            <a:r>
              <a:rPr lang="en-US" dirty="0"/>
              <a:t>    trees = []</a:t>
            </a:r>
          </a:p>
          <a:p>
            <a:r>
              <a:rPr lang="en-US" dirty="0"/>
              <a:t>    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numTrees</a:t>
            </a:r>
            <a:r>
              <a:rPr lang="en-US" dirty="0"/>
              <a:t>):</a:t>
            </a:r>
          </a:p>
          <a:p>
            <a:r>
              <a:rPr lang="en-US" dirty="0"/>
              <a:t>        #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 smtClean="0"/>
              <a:t>örneklem</a:t>
            </a:r>
            <a:r>
              <a:rPr lang="en-US" dirty="0" smtClean="0"/>
              <a:t> </a:t>
            </a:r>
            <a:r>
              <a:rPr lang="en-US" dirty="0"/>
              <a:t>alma</a:t>
            </a:r>
          </a:p>
          <a:p>
            <a:r>
              <a:rPr lang="en-US" dirty="0"/>
              <a:t>        </a:t>
            </a:r>
            <a:r>
              <a:rPr lang="en-US" dirty="0" err="1"/>
              <a:t>rndData</a:t>
            </a:r>
            <a:r>
              <a:rPr lang="en-US" dirty="0"/>
              <a:t> = </a:t>
            </a:r>
            <a:r>
              <a:rPr lang="en-US" dirty="0" err="1"/>
              <a:t>random_sampling</a:t>
            </a:r>
            <a:r>
              <a:rPr lang="en-US" dirty="0"/>
              <a:t>(</a:t>
            </a:r>
            <a:r>
              <a:rPr lang="en-US" dirty="0" err="1"/>
              <a:t>trainData</a:t>
            </a:r>
            <a:r>
              <a:rPr lang="en-US" dirty="0"/>
              <a:t>)        </a:t>
            </a:r>
          </a:p>
          <a:p>
            <a:r>
              <a:rPr lang="en-US" dirty="0"/>
              <a:t>        #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özellik</a:t>
            </a:r>
            <a:r>
              <a:rPr lang="en-US" dirty="0"/>
              <a:t> </a:t>
            </a:r>
            <a:r>
              <a:rPr lang="en-US" dirty="0" err="1"/>
              <a:t>seçme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selectedFeatures</a:t>
            </a:r>
            <a:r>
              <a:rPr lang="en-US" dirty="0"/>
              <a:t> = </a:t>
            </a:r>
            <a:r>
              <a:rPr lang="en-US" dirty="0" err="1"/>
              <a:t>random_selection</a:t>
            </a:r>
            <a:r>
              <a:rPr lang="en-US" dirty="0"/>
              <a:t>(features)        </a:t>
            </a:r>
          </a:p>
          <a:p>
            <a:r>
              <a:rPr lang="en-US" dirty="0"/>
              <a:t>        #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r>
              <a:rPr lang="en-US" dirty="0"/>
              <a:t> </a:t>
            </a:r>
            <a:r>
              <a:rPr lang="en-US" dirty="0" err="1"/>
              <a:t>oluşturma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eğitim</a:t>
            </a:r>
            <a:endParaRPr lang="en-US" dirty="0"/>
          </a:p>
          <a:p>
            <a:r>
              <a:rPr lang="en-US" dirty="0"/>
              <a:t>        tree = </a:t>
            </a:r>
            <a:r>
              <a:rPr lang="en-US" dirty="0" err="1"/>
              <a:t>DecisionTree</a:t>
            </a:r>
            <a:r>
              <a:rPr lang="en-US" dirty="0"/>
              <a:t>(</a:t>
            </a:r>
            <a:r>
              <a:rPr lang="en-US" dirty="0" err="1"/>
              <a:t>rndData</a:t>
            </a:r>
            <a:r>
              <a:rPr lang="en-US" dirty="0"/>
              <a:t>, </a:t>
            </a:r>
            <a:r>
              <a:rPr lang="en-US" dirty="0" err="1"/>
              <a:t>selectedFeatures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tree.train</a:t>
            </a:r>
            <a:r>
              <a:rPr lang="en-US" dirty="0"/>
              <a:t>()        </a:t>
            </a:r>
          </a:p>
          <a:p>
            <a:r>
              <a:rPr lang="en-US" dirty="0"/>
              <a:t>        </a:t>
            </a:r>
            <a:r>
              <a:rPr lang="en-US" dirty="0" err="1"/>
              <a:t>trees.append</a:t>
            </a:r>
            <a:r>
              <a:rPr lang="en-US" dirty="0"/>
              <a:t>(tree)    </a:t>
            </a:r>
          </a:p>
          <a:p>
            <a:r>
              <a:rPr lang="en-US" dirty="0"/>
              <a:t>    return trees</a:t>
            </a:r>
          </a:p>
        </p:txBody>
      </p:sp>
    </p:spTree>
    <p:extLst>
      <p:ext uri="{BB962C8B-B14F-4D97-AF65-F5344CB8AC3E}">
        <p14:creationId xmlns:p14="http://schemas.microsoft.com/office/powerpoint/2010/main" val="2577194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ABF5D9-CD71-DEB9-E192-2A8F9641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 smtClean="0"/>
              <a:t>Ormanları</a:t>
            </a:r>
            <a:r>
              <a:rPr lang="tr-TR" dirty="0"/>
              <a:t> - Pseudokod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0BB228A-6323-ACB1-76B0-301D44D98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317484"/>
          </a:xfrm>
        </p:spPr>
        <p:txBody>
          <a:bodyPr/>
          <a:lstStyle/>
          <a:p>
            <a:r>
              <a:rPr lang="en-US" dirty="0" err="1"/>
              <a:t>RandomForest_Predict</a:t>
            </a:r>
            <a:r>
              <a:rPr lang="en-US" dirty="0"/>
              <a:t>(</a:t>
            </a:r>
            <a:r>
              <a:rPr lang="en-US" dirty="0" err="1"/>
              <a:t>validationDatum</a:t>
            </a:r>
            <a:r>
              <a:rPr lang="en-US" dirty="0"/>
              <a:t>, trees):</a:t>
            </a:r>
          </a:p>
          <a:p>
            <a:r>
              <a:rPr lang="en-US" dirty="0"/>
              <a:t>    # 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karar</a:t>
            </a:r>
            <a:r>
              <a:rPr lang="en-US" dirty="0"/>
              <a:t> </a:t>
            </a:r>
            <a:r>
              <a:rPr lang="en-US" dirty="0" err="1"/>
              <a:t>ağacı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tahmin</a:t>
            </a:r>
            <a:r>
              <a:rPr lang="en-US" dirty="0"/>
              <a:t> </a:t>
            </a:r>
            <a:r>
              <a:rPr lang="en-US" dirty="0" err="1"/>
              <a:t>yapma</a:t>
            </a:r>
            <a:endParaRPr lang="en-US" dirty="0"/>
          </a:p>
          <a:p>
            <a:r>
              <a:rPr lang="en-US" dirty="0"/>
              <a:t>    results = []</a:t>
            </a:r>
          </a:p>
          <a:p>
            <a:r>
              <a:rPr lang="en-US" dirty="0"/>
              <a:t>    </a:t>
            </a:r>
            <a:r>
              <a:rPr lang="en-US" dirty="0" smtClean="0"/>
              <a:t>for</a:t>
            </a:r>
            <a:r>
              <a:rPr lang="tr-TR" dirty="0" smtClean="0"/>
              <a:t>each</a:t>
            </a:r>
            <a:r>
              <a:rPr lang="en-US" dirty="0" smtClean="0"/>
              <a:t> </a:t>
            </a:r>
            <a:r>
              <a:rPr lang="en-US" dirty="0"/>
              <a:t>tree in trees:</a:t>
            </a:r>
          </a:p>
          <a:p>
            <a:r>
              <a:rPr lang="en-US" dirty="0"/>
              <a:t>        result = </a:t>
            </a:r>
            <a:r>
              <a:rPr lang="en-US" dirty="0" err="1"/>
              <a:t>tree.predict</a:t>
            </a:r>
            <a:r>
              <a:rPr lang="en-US" dirty="0"/>
              <a:t>(</a:t>
            </a:r>
            <a:r>
              <a:rPr lang="en-US" dirty="0" err="1"/>
              <a:t>validationDatum</a:t>
            </a:r>
            <a:r>
              <a:rPr lang="en-US" dirty="0"/>
              <a:t>)</a:t>
            </a:r>
          </a:p>
          <a:p>
            <a:r>
              <a:rPr lang="en-US" dirty="0"/>
              <a:t>        </a:t>
            </a:r>
            <a:r>
              <a:rPr lang="en-US" dirty="0" err="1"/>
              <a:t>results.append</a:t>
            </a:r>
            <a:r>
              <a:rPr lang="en-US" dirty="0"/>
              <a:t>(result)        </a:t>
            </a:r>
          </a:p>
          <a:p>
            <a:r>
              <a:rPr lang="en-US" dirty="0"/>
              <a:t>    # </a:t>
            </a:r>
            <a:r>
              <a:rPr lang="en-US" dirty="0" err="1"/>
              <a:t>ortalama</a:t>
            </a:r>
            <a:r>
              <a:rPr lang="en-US" dirty="0"/>
              <a:t> </a:t>
            </a:r>
          </a:p>
          <a:p>
            <a:r>
              <a:rPr lang="en-US" dirty="0"/>
              <a:t>    </a:t>
            </a:r>
            <a:r>
              <a:rPr lang="en-US" dirty="0" err="1"/>
              <a:t>finalPrediction</a:t>
            </a:r>
            <a:r>
              <a:rPr lang="en-US" dirty="0"/>
              <a:t> = </a:t>
            </a:r>
            <a:r>
              <a:rPr lang="en-US" dirty="0" err="1"/>
              <a:t>majority_voting</a:t>
            </a:r>
            <a:r>
              <a:rPr lang="en-US" dirty="0"/>
              <a:t>(results)        </a:t>
            </a:r>
          </a:p>
          <a:p>
            <a:r>
              <a:rPr lang="en-US" dirty="0"/>
              <a:t>return </a:t>
            </a:r>
            <a:r>
              <a:rPr lang="en-US" dirty="0" err="1"/>
              <a:t>finalPrediction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96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085CA33-19BE-6D85-E1C5-80E7DB76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0"/>
            <a:ext cx="10076330" cy="949666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Artificial Neural Network - ANN (</a:t>
            </a:r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D376E5-2033-C020-EC11-D5B290738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433" y="949666"/>
            <a:ext cx="10076332" cy="516019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374151"/>
                </a:solidFill>
                <a:latin typeface="Söhne"/>
              </a:rPr>
              <a:t>ANN,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insan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beynindeki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nöronların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çalışma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şeklinden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esinlenilerek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2000" dirty="0" err="1">
                <a:solidFill>
                  <a:srgbClr val="374151"/>
                </a:solidFill>
                <a:latin typeface="Söhne"/>
              </a:rPr>
              <a:t>geliştirilmiştir</a:t>
            </a:r>
            <a:r>
              <a:rPr lang="en-US" sz="2000" dirty="0">
                <a:solidFill>
                  <a:srgbClr val="374151"/>
                </a:solidFill>
                <a:latin typeface="Söhne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tr-TR" sz="1800" dirty="0" smtClean="0">
                <a:solidFill>
                  <a:srgbClr val="374151"/>
                </a:solidFill>
                <a:latin typeface="Söhne"/>
              </a:rPr>
              <a:t>Artık </a:t>
            </a:r>
            <a:r>
              <a:rPr lang="tr-TR" sz="1800" dirty="0">
                <a:solidFill>
                  <a:srgbClr val="374151"/>
                </a:solidFill>
                <a:latin typeface="Söhne"/>
              </a:rPr>
              <a:t>mantar substratının microdalga ışınımı ile </a:t>
            </a:r>
            <a:r>
              <a:rPr lang="tr-TR" sz="1800" dirty="0" smtClean="0">
                <a:solidFill>
                  <a:srgbClr val="374151"/>
                </a:solidFill>
                <a:latin typeface="Söhne"/>
              </a:rPr>
              <a:t>biyokömürleştirme </a:t>
            </a:r>
            <a:r>
              <a:rPr lang="tr-TR" sz="1800" dirty="0">
                <a:solidFill>
                  <a:srgbClr val="374151"/>
                </a:solidFill>
                <a:latin typeface="Söhne"/>
              </a:rPr>
              <a:t>ile biyoyakıt üretiminin öngörüsü ve </a:t>
            </a:r>
            <a:r>
              <a:rPr lang="tr-TR" sz="1800" dirty="0" smtClean="0">
                <a:solidFill>
                  <a:srgbClr val="374151"/>
                </a:solidFill>
                <a:latin typeface="Söhne"/>
              </a:rPr>
              <a:t>optimizasyonu </a:t>
            </a:r>
            <a:r>
              <a:rPr lang="tr-TR" sz="1800" baseline="30000" dirty="0" smtClean="0">
                <a:solidFill>
                  <a:srgbClr val="374151"/>
                </a:solidFill>
                <a:latin typeface="Söhne"/>
              </a:rPr>
              <a:t>[2]</a:t>
            </a:r>
          </a:p>
          <a:p>
            <a:pPr lvl="2">
              <a:lnSpc>
                <a:spcPct val="150000"/>
              </a:lnSpc>
            </a:pPr>
            <a:r>
              <a:rPr lang="tr-TR" sz="1600" dirty="0" smtClean="0">
                <a:solidFill>
                  <a:srgbClr val="374151"/>
                </a:solidFill>
                <a:latin typeface="Söhne"/>
              </a:rPr>
              <a:t>Taguchi deney tasarımı</a:t>
            </a:r>
          </a:p>
          <a:p>
            <a:pPr lvl="2">
              <a:lnSpc>
                <a:spcPct val="150000"/>
              </a:lnSpc>
            </a:pPr>
            <a:r>
              <a:rPr lang="en-US" sz="1600" dirty="0"/>
              <a:t>R</a:t>
            </a:r>
            <a:r>
              <a:rPr lang="en-US" sz="1600" baseline="30000" dirty="0"/>
              <a:t>2</a:t>
            </a:r>
            <a:r>
              <a:rPr lang="en-US" sz="1600" dirty="0"/>
              <a:t>: ~</a:t>
            </a:r>
            <a:r>
              <a:rPr lang="tr-TR" sz="1600" dirty="0" smtClean="0"/>
              <a:t>99</a:t>
            </a:r>
            <a:r>
              <a:rPr lang="en-US" sz="1600" dirty="0" smtClean="0"/>
              <a:t> %</a:t>
            </a:r>
            <a:endParaRPr lang="tr-TR" sz="1600" dirty="0" smtClean="0">
              <a:solidFill>
                <a:srgbClr val="374151"/>
              </a:solidFill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en-US" sz="1800" dirty="0" smtClean="0">
                <a:solidFill>
                  <a:srgbClr val="374151"/>
                </a:solidFill>
                <a:latin typeface="Söhne"/>
              </a:rPr>
              <a:t>H</a:t>
            </a:r>
            <a:r>
              <a:rPr lang="en-US" sz="1800" b="0" i="0" dirty="0" smtClean="0">
                <a:solidFill>
                  <a:srgbClr val="374151"/>
                </a:solidFill>
                <a:effectLst/>
                <a:latin typeface="Söhne"/>
              </a:rPr>
              <a:t>am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yaklaşık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analiz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sonuçları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(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sabit-karbon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uçucu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madde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kül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değerleri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)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deneysel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koşullar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smtClean="0">
                <a:solidFill>
                  <a:srgbClr val="374151"/>
                </a:solidFill>
                <a:effectLst/>
                <a:latin typeface="Söhne"/>
              </a:rPr>
              <a:t>(</a:t>
            </a:r>
            <a:r>
              <a:rPr lang="tr-TR" sz="1800" dirty="0">
                <a:solidFill>
                  <a:srgbClr val="374151"/>
                </a:solidFill>
                <a:latin typeface="Söhne"/>
              </a:rPr>
              <a:t>biyokömürleştirme </a:t>
            </a:r>
            <a:r>
              <a:rPr lang="en-US" sz="1800" b="0" i="0" dirty="0" err="1" smtClean="0">
                <a:solidFill>
                  <a:srgbClr val="374151"/>
                </a:solidFill>
                <a:effectLst/>
                <a:latin typeface="Söhne"/>
              </a:rPr>
              <a:t>sıcaklığı</a:t>
            </a:r>
            <a:r>
              <a:rPr lang="en-US" sz="1800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süresi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)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temel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alınarak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1800" b="0" i="0" dirty="0" smtClean="0">
                <a:solidFill>
                  <a:srgbClr val="374151"/>
                </a:solidFill>
                <a:effectLst/>
                <a:latin typeface="Söhne"/>
              </a:rPr>
              <a:t>karbonlaştırılmış</a:t>
            </a:r>
            <a:r>
              <a:rPr lang="en-US" sz="1800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karbon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hidrojen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oksijen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içeriği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yüksek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ısıl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1800" b="0" i="0" dirty="0" err="1">
                <a:solidFill>
                  <a:srgbClr val="374151"/>
                </a:solidFill>
                <a:effectLst/>
                <a:latin typeface="Söhne"/>
              </a:rPr>
              <a:t>değeri</a:t>
            </a:r>
            <a:r>
              <a:rPr lang="en-US" sz="1800" b="0" i="0" dirty="0">
                <a:solidFill>
                  <a:srgbClr val="374151"/>
                </a:solidFill>
                <a:effectLst/>
                <a:latin typeface="Söhne"/>
              </a:rPr>
              <a:t> (HHV) </a:t>
            </a:r>
            <a:r>
              <a:rPr lang="tr-TR" sz="1800" b="0" i="0" dirty="0" smtClean="0">
                <a:solidFill>
                  <a:srgbClr val="374151"/>
                </a:solidFill>
                <a:effectLst/>
                <a:latin typeface="Söhne"/>
              </a:rPr>
              <a:t>öngörüsü</a:t>
            </a:r>
            <a:r>
              <a:rPr lang="en-US" sz="1800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sz="18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[</a:t>
            </a:r>
            <a:r>
              <a:rPr lang="tr-TR" sz="18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3</a:t>
            </a:r>
            <a:r>
              <a:rPr lang="en-US" sz="18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]</a:t>
            </a:r>
            <a:endParaRPr lang="en-US" sz="1800" baseline="30000" dirty="0"/>
          </a:p>
          <a:p>
            <a:pPr lvl="2">
              <a:lnSpc>
                <a:spcPct val="150000"/>
              </a:lnSpc>
            </a:pPr>
            <a:r>
              <a:rPr lang="tr-TR" sz="1600" dirty="0"/>
              <a:t>Literatür taraması yoluyla </a:t>
            </a:r>
            <a:r>
              <a:rPr lang="tr-TR" sz="1600" dirty="0" smtClean="0"/>
              <a:t>61 çalışmadan toplanan veri</a:t>
            </a:r>
          </a:p>
          <a:p>
            <a:pPr lvl="2">
              <a:lnSpc>
                <a:spcPct val="150000"/>
              </a:lnSpc>
            </a:pPr>
            <a:r>
              <a:rPr lang="en-US" sz="1600" dirty="0" smtClean="0"/>
              <a:t>R</a:t>
            </a:r>
            <a:r>
              <a:rPr lang="en-US" sz="1600" baseline="30000" dirty="0" smtClean="0"/>
              <a:t>2</a:t>
            </a:r>
            <a:r>
              <a:rPr lang="en-US" sz="1600" dirty="0"/>
              <a:t>: (83.70 – 91.79) %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8CE7516-31EF-2BED-F42E-61B4060F70B3}"/>
              </a:ext>
            </a:extLst>
          </p:cNvPr>
          <p:cNvSpPr txBox="1"/>
          <p:nvPr/>
        </p:nvSpPr>
        <p:spPr>
          <a:xfrm>
            <a:off x="0" y="6565055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3</a:t>
            </a:r>
            <a:r>
              <a:rPr lang="en-US" sz="1200" dirty="0" smtClean="0"/>
              <a:t>]: </a:t>
            </a:r>
            <a:r>
              <a:rPr lang="en-US" sz="1200" dirty="0" err="1"/>
              <a:t>Kartal,F</a:t>
            </a:r>
            <a:r>
              <a:rPr lang="en-US" sz="1200" dirty="0"/>
              <a:t>., </a:t>
            </a:r>
            <a:r>
              <a:rPr lang="en-US" sz="1200" dirty="0" err="1"/>
              <a:t>Özveren,U</a:t>
            </a:r>
            <a:r>
              <a:rPr lang="en-US" sz="1200" dirty="0"/>
              <a:t>., </a:t>
            </a:r>
            <a:r>
              <a:rPr lang="en-US" sz="1200" i="1" dirty="0"/>
              <a:t>Prediction of torrefied biomass properties from raw biomass, </a:t>
            </a:r>
            <a:r>
              <a:rPr lang="en-US" sz="1200" dirty="0"/>
              <a:t>“Renewable Energy”, 182(2022)578-591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1663A3-866B-95B9-9C6F-6A3D016DF4DB}"/>
              </a:ext>
            </a:extLst>
          </p:cNvPr>
          <p:cNvSpPr txBox="1"/>
          <p:nvPr/>
        </p:nvSpPr>
        <p:spPr>
          <a:xfrm>
            <a:off x="-1" y="6103390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2</a:t>
            </a:r>
            <a:r>
              <a:rPr lang="en-US" sz="1200" dirty="0" smtClean="0"/>
              <a:t>]: </a:t>
            </a:r>
            <a:r>
              <a:rPr lang="en-US" sz="1200" dirty="0" err="1"/>
              <a:t>Aniza,R</a:t>
            </a:r>
            <a:r>
              <a:rPr lang="en-US" sz="1200" dirty="0"/>
              <a:t>., </a:t>
            </a:r>
            <a:r>
              <a:rPr lang="en-US" sz="1200" dirty="0" err="1"/>
              <a:t>Chen,W</a:t>
            </a:r>
            <a:r>
              <a:rPr lang="en-US" sz="1200" dirty="0"/>
              <a:t>., </a:t>
            </a:r>
            <a:r>
              <a:rPr lang="en-US" sz="1200" dirty="0" err="1"/>
              <a:t>Yang,F</a:t>
            </a:r>
            <a:r>
              <a:rPr lang="en-US" sz="1200" dirty="0"/>
              <a:t>., </a:t>
            </a:r>
            <a:r>
              <a:rPr lang="en-US" sz="1200" i="1" dirty="0" err="1"/>
              <a:t>Pugazhendh,A</a:t>
            </a:r>
            <a:r>
              <a:rPr lang="en-US" sz="1200" i="1" dirty="0"/>
              <a:t>., </a:t>
            </a:r>
            <a:r>
              <a:rPr lang="en-US" sz="1200" i="1" dirty="0" err="1"/>
              <a:t>Singh,Y</a:t>
            </a:r>
            <a:r>
              <a:rPr lang="en-US" sz="1200" i="1" dirty="0"/>
              <a:t>., Integrating Taguchi method and artificial neural network for predicting and maximizing biofuel production via </a:t>
            </a:r>
            <a:r>
              <a:rPr lang="en-US" sz="1200" i="1" dirty="0" err="1"/>
              <a:t>torrefaction</a:t>
            </a:r>
            <a:r>
              <a:rPr lang="en-US" sz="1200" i="1" dirty="0"/>
              <a:t> and pyrolysis</a:t>
            </a:r>
            <a:r>
              <a:rPr lang="en-US" sz="1200" dirty="0"/>
              <a:t>, "</a:t>
            </a:r>
            <a:r>
              <a:rPr lang="en-US" sz="1200" dirty="0" err="1"/>
              <a:t>Bioresource</a:t>
            </a:r>
            <a:r>
              <a:rPr lang="en-US" sz="1200" dirty="0"/>
              <a:t> Technology", 343(2022)126140</a:t>
            </a:r>
          </a:p>
        </p:txBody>
      </p:sp>
    </p:spTree>
    <p:extLst>
      <p:ext uri="{BB962C8B-B14F-4D97-AF65-F5344CB8AC3E}">
        <p14:creationId xmlns:p14="http://schemas.microsoft.com/office/powerpoint/2010/main" val="313441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A7021FA-8AC3-5873-8CA7-073C9714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84729"/>
          </a:xfrm>
        </p:spPr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855" y="1694329"/>
            <a:ext cx="690562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11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0A6FD1-BBE9-1787-B8C0-56EF1F31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2381CB-9F03-D997-A4E8-1B8EED015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Modelin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eğitilmesi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bir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optimizasyon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işlemidir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pPr>
              <a:lnSpc>
                <a:spcPct val="150000"/>
              </a:lnSpc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Optimizasyon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işlemindeki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her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bir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döngü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iki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işlemden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oluşur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:</a:t>
            </a: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solidFill>
                  <a:srgbClr val="374151"/>
                </a:solidFill>
                <a:latin typeface="Söhne"/>
              </a:rPr>
              <a:t>Forward Propagation</a:t>
            </a:r>
          </a:p>
          <a:p>
            <a:pPr lvl="2">
              <a:lnSpc>
                <a:spcPct val="150000"/>
              </a:lnSpc>
            </a:pP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Algoritma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tarafında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n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belirlenen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bias(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dürtü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)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değerleriyle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tr-TR" dirty="0" smtClean="0">
                <a:solidFill>
                  <a:srgbClr val="374151"/>
                </a:solidFill>
                <a:latin typeface="Söhne"/>
              </a:rPr>
              <a:t>sonuç </a:t>
            </a:r>
            <a:r>
              <a:rPr lang="en-US" dirty="0" err="1" smtClean="0">
                <a:solidFill>
                  <a:srgbClr val="374151"/>
                </a:solidFill>
                <a:latin typeface="Söhne"/>
              </a:rPr>
              <a:t>değişkenler</a:t>
            </a:r>
            <a:r>
              <a:rPr lang="en-US" dirty="0" smtClean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hesaplanır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Backward Propagation</a:t>
            </a:r>
          </a:p>
          <a:p>
            <a:pPr lvl="2">
              <a:lnSpc>
                <a:spcPct val="150000"/>
              </a:lnSpc>
            </a:pPr>
            <a:r>
              <a:rPr lang="en-US" dirty="0">
                <a:solidFill>
                  <a:srgbClr val="374151"/>
                </a:solidFill>
                <a:latin typeface="Söhne"/>
              </a:rPr>
              <a:t>MSE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minimizasyonu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yapacak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şekilde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bias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değerleri</a:t>
            </a:r>
            <a:r>
              <a:rPr lang="en-US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dirty="0" err="1">
                <a:solidFill>
                  <a:srgbClr val="374151"/>
                </a:solidFill>
                <a:latin typeface="Söhne"/>
              </a:rPr>
              <a:t>belirlenir</a:t>
            </a:r>
            <a:endParaRPr lang="en-US" dirty="0">
              <a:solidFill>
                <a:srgbClr val="374151"/>
              </a:solidFill>
              <a:latin typeface="Söhne"/>
            </a:endParaRPr>
          </a:p>
          <a:p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781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0A6FD1-BBE9-1787-B8C0-56EF1F31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Yapay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Ağları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E2381CB-9F03-D997-A4E8-1B8EED015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322" y="1678467"/>
            <a:ext cx="8596668" cy="4708685"/>
          </a:xfrm>
        </p:spPr>
        <p:txBody>
          <a:bodyPr>
            <a:normAutofit/>
          </a:bodyPr>
          <a:lstStyle/>
          <a:p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Modelin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başarısını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etkileyen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hiper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parametreler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lvl="1"/>
            <a:r>
              <a:rPr lang="en-US" sz="1800" dirty="0" err="1">
                <a:solidFill>
                  <a:srgbClr val="374151"/>
                </a:solidFill>
                <a:latin typeface="Söhne"/>
              </a:rPr>
              <a:t>Katman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sayısı</a:t>
            </a:r>
            <a:endParaRPr lang="en-US" sz="1800" dirty="0">
              <a:solidFill>
                <a:srgbClr val="374151"/>
              </a:solidFill>
              <a:latin typeface="Söhne"/>
            </a:endParaRPr>
          </a:p>
          <a:p>
            <a:pPr lvl="1"/>
            <a:r>
              <a:rPr lang="en-US" sz="1800" dirty="0" err="1">
                <a:solidFill>
                  <a:srgbClr val="374151"/>
                </a:solidFill>
                <a:latin typeface="Söhne"/>
              </a:rPr>
              <a:t>Katmanlarda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bulunan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nöron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sayısı</a:t>
            </a:r>
            <a:endParaRPr lang="en-US" sz="1800" dirty="0">
              <a:solidFill>
                <a:srgbClr val="374151"/>
              </a:solidFill>
              <a:latin typeface="Söhne"/>
            </a:endParaRPr>
          </a:p>
          <a:p>
            <a:pPr lvl="1"/>
            <a:r>
              <a:rPr lang="en-US" sz="1800" dirty="0" err="1">
                <a:solidFill>
                  <a:srgbClr val="374151"/>
                </a:solidFill>
                <a:latin typeface="Söhne"/>
              </a:rPr>
              <a:t>Aktivasyon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fonksiyonu</a:t>
            </a:r>
            <a:endParaRPr lang="en-US" sz="1800" dirty="0">
              <a:solidFill>
                <a:srgbClr val="374151"/>
              </a:solidFill>
              <a:latin typeface="Söhne"/>
            </a:endParaRPr>
          </a:p>
          <a:p>
            <a:pPr lvl="2"/>
            <a:r>
              <a:rPr lang="en-US" sz="1600" dirty="0">
                <a:solidFill>
                  <a:srgbClr val="374151"/>
                </a:solidFill>
                <a:latin typeface="Söhne"/>
              </a:rPr>
              <a:t>Sigmoid(0,1),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TanH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(-1,1),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ReLu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(0,∞)</a:t>
            </a:r>
          </a:p>
          <a:p>
            <a:pPr lvl="2"/>
            <a:r>
              <a:rPr lang="en-US" sz="1600" dirty="0" err="1">
                <a:solidFill>
                  <a:srgbClr val="374151"/>
                </a:solidFill>
                <a:latin typeface="Söhne"/>
              </a:rPr>
              <a:t>Softmax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(0,1)</a:t>
            </a:r>
          </a:p>
          <a:p>
            <a:pPr lvl="1"/>
            <a:r>
              <a:rPr lang="en-US" sz="1800" dirty="0" err="1">
                <a:solidFill>
                  <a:srgbClr val="374151"/>
                </a:solidFill>
                <a:latin typeface="Söhne"/>
              </a:rPr>
              <a:t>Optimizasyon</a:t>
            </a:r>
            <a:r>
              <a:rPr lang="en-US" sz="18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800" dirty="0" err="1">
                <a:solidFill>
                  <a:srgbClr val="374151"/>
                </a:solidFill>
                <a:latin typeface="Söhne"/>
              </a:rPr>
              <a:t>yöntemi</a:t>
            </a:r>
            <a:endParaRPr lang="en-US" sz="1800" dirty="0">
              <a:solidFill>
                <a:srgbClr val="374151"/>
              </a:solidFill>
              <a:latin typeface="Söhne"/>
            </a:endParaRPr>
          </a:p>
          <a:p>
            <a:pPr lvl="2"/>
            <a:r>
              <a:rPr lang="en-US" sz="1600" dirty="0">
                <a:solidFill>
                  <a:srgbClr val="374151"/>
                </a:solidFill>
                <a:latin typeface="Söhne"/>
              </a:rPr>
              <a:t>Gradient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tabanlı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yöntemler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lvl="2"/>
            <a:r>
              <a:rPr lang="en-US" sz="1600" dirty="0">
                <a:solidFill>
                  <a:srgbClr val="374151"/>
                </a:solidFill>
                <a:latin typeface="Söhne"/>
              </a:rPr>
              <a:t>“Pattern Search”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yöntemler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lvl="2"/>
            <a:r>
              <a:rPr lang="en-US" sz="1600" dirty="0" err="1">
                <a:solidFill>
                  <a:srgbClr val="374151"/>
                </a:solidFill>
                <a:latin typeface="Söhne"/>
              </a:rPr>
              <a:t>Stokastik</a:t>
            </a:r>
            <a:r>
              <a:rPr lang="en-US" sz="1600" dirty="0">
                <a:solidFill>
                  <a:srgbClr val="374151"/>
                </a:solidFill>
                <a:latin typeface="Söhne"/>
              </a:rPr>
              <a:t> </a:t>
            </a:r>
            <a:r>
              <a:rPr lang="en-US" sz="1600" dirty="0" err="1">
                <a:solidFill>
                  <a:srgbClr val="374151"/>
                </a:solidFill>
                <a:latin typeface="Söhne"/>
              </a:rPr>
              <a:t>yöntemler</a:t>
            </a:r>
            <a:endParaRPr lang="en-US" sz="1600" dirty="0">
              <a:solidFill>
                <a:srgbClr val="374151"/>
              </a:solidFill>
              <a:latin typeface="Söhne"/>
            </a:endParaRPr>
          </a:p>
          <a:p>
            <a:pPr lvl="1"/>
            <a:endParaRPr lang="en-US" sz="1800" dirty="0">
              <a:solidFill>
                <a:srgbClr val="374151"/>
              </a:solidFill>
              <a:latin typeface="Söhne"/>
            </a:endParaRPr>
          </a:p>
          <a:p>
            <a:endParaRPr lang="en-US" sz="2000" b="0" i="0" dirty="0">
              <a:solidFill>
                <a:srgbClr val="374151"/>
              </a:solidFill>
              <a:effectLst/>
              <a:latin typeface="Söhne"/>
            </a:endParaRPr>
          </a:p>
          <a:p>
            <a:pPr lvl="1"/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820" y="2238232"/>
            <a:ext cx="4744947" cy="322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74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50FCC9-F388-BC05-C530-A584D058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7762"/>
            <a:ext cx="8596668" cy="937399"/>
          </a:xfrm>
        </p:spPr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Yöntemleri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A5C085-DE8D-6684-9F91-CEEF909D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80315"/>
            <a:ext cx="9544840" cy="35074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Support Vector Regression - SVR (</a:t>
            </a:r>
            <a:r>
              <a:rPr lang="en-US" sz="2400" dirty="0" err="1"/>
              <a:t>Destek</a:t>
            </a:r>
            <a:r>
              <a:rPr lang="en-US" sz="2400" dirty="0"/>
              <a:t> </a:t>
            </a:r>
            <a:r>
              <a:rPr lang="en-US" sz="2400" dirty="0" err="1"/>
              <a:t>Vektör</a:t>
            </a:r>
            <a:r>
              <a:rPr lang="en-US" sz="2400" dirty="0"/>
              <a:t> </a:t>
            </a:r>
            <a:r>
              <a:rPr lang="en-US" sz="2400" dirty="0" err="1"/>
              <a:t>Regresyonu</a:t>
            </a:r>
            <a:r>
              <a:rPr lang="en-US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Biyokütlenin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hızlı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piroliz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sürecinde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üç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fazlı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ürün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dağılımı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biyoyakıt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ısıl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değerinin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2000" dirty="0">
                <a:solidFill>
                  <a:srgbClr val="374151"/>
                </a:solidFill>
                <a:latin typeface="Söhne"/>
              </a:rPr>
              <a:t>öngörüsü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[</a:t>
            </a:r>
            <a:r>
              <a:rPr lang="tr-TR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4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]</a:t>
            </a:r>
            <a:endParaRPr lang="tr-TR" sz="2000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tr-TR" sz="2000" dirty="0" smtClean="0">
                <a:solidFill>
                  <a:srgbClr val="374151"/>
                </a:solidFill>
                <a:latin typeface="Söhne"/>
              </a:rPr>
              <a:t>Literatürden toplanan 122 adet veri seti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</a:t>
            </a:r>
            <a:r>
              <a:rPr lang="en-US" sz="2000" baseline="30000" dirty="0"/>
              <a:t>2</a:t>
            </a:r>
            <a:r>
              <a:rPr lang="en-US" sz="2000" dirty="0"/>
              <a:t>: </a:t>
            </a:r>
            <a:r>
              <a:rPr lang="en-US" sz="2000" dirty="0" smtClean="0"/>
              <a:t>(</a:t>
            </a:r>
            <a:r>
              <a:rPr lang="tr-TR" sz="2000" dirty="0" smtClean="0"/>
              <a:t>70</a:t>
            </a:r>
            <a:r>
              <a:rPr lang="en-US" sz="2000" dirty="0" smtClean="0"/>
              <a:t> </a:t>
            </a:r>
            <a:r>
              <a:rPr lang="en-US" sz="2000" dirty="0"/>
              <a:t>– </a:t>
            </a:r>
            <a:r>
              <a:rPr lang="tr-TR" sz="2000" dirty="0" smtClean="0"/>
              <a:t>80</a:t>
            </a:r>
            <a:r>
              <a:rPr lang="en-US" sz="2000" dirty="0" smtClean="0"/>
              <a:t>) %</a:t>
            </a:r>
            <a:endParaRPr lang="tr-TR" sz="2000" dirty="0" smtClean="0">
              <a:solidFill>
                <a:srgbClr val="374151"/>
              </a:solidFill>
              <a:latin typeface="Söhne"/>
            </a:endParaRPr>
          </a:p>
          <a:p>
            <a:pPr lvl="1"/>
            <a:endParaRPr lang="tr-TR" sz="2000" dirty="0" smtClean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E13A160-BD9D-0B82-3E31-EADC85C2D9C3}"/>
              </a:ext>
            </a:extLst>
          </p:cNvPr>
          <p:cNvSpPr txBox="1"/>
          <p:nvPr/>
        </p:nvSpPr>
        <p:spPr>
          <a:xfrm>
            <a:off x="0" y="632518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4</a:t>
            </a:r>
            <a:r>
              <a:rPr lang="en-US" sz="1200" dirty="0" smtClean="0"/>
              <a:t>]: </a:t>
            </a:r>
            <a:r>
              <a:rPr lang="en-US" sz="1200" dirty="0" err="1"/>
              <a:t>Leng,E</a:t>
            </a:r>
            <a:r>
              <a:rPr lang="en-US" sz="1200" dirty="0"/>
              <a:t>., </a:t>
            </a:r>
            <a:r>
              <a:rPr lang="en-US" sz="1200" dirty="0" err="1"/>
              <a:t>He,B</a:t>
            </a:r>
            <a:r>
              <a:rPr lang="en-US" sz="1200" dirty="0"/>
              <a:t>., </a:t>
            </a:r>
            <a:r>
              <a:rPr lang="en-US" sz="1200" dirty="0" err="1"/>
              <a:t>Chen,J</a:t>
            </a:r>
            <a:r>
              <a:rPr lang="en-US" sz="1200" dirty="0"/>
              <a:t>., </a:t>
            </a:r>
            <a:r>
              <a:rPr lang="en-US" sz="1200" dirty="0" err="1"/>
              <a:t>Liao,G</a:t>
            </a:r>
            <a:r>
              <a:rPr lang="en-US" sz="1200" dirty="0"/>
              <a:t>., </a:t>
            </a:r>
            <a:r>
              <a:rPr lang="en-US" sz="1200" dirty="0" err="1"/>
              <a:t>Ma,Y</a:t>
            </a:r>
            <a:r>
              <a:rPr lang="en-US" sz="1200" dirty="0"/>
              <a:t>., </a:t>
            </a:r>
            <a:r>
              <a:rPr lang="en-US" sz="1200" dirty="0" err="1"/>
              <a:t>Zhang,F</a:t>
            </a:r>
            <a:r>
              <a:rPr lang="en-US" sz="1200" dirty="0"/>
              <a:t>., </a:t>
            </a:r>
            <a:r>
              <a:rPr lang="en-US" sz="1200" dirty="0" err="1"/>
              <a:t>Liu,S</a:t>
            </a:r>
            <a:r>
              <a:rPr lang="en-US" sz="1200" dirty="0"/>
              <a:t>., E,J., </a:t>
            </a:r>
            <a:r>
              <a:rPr lang="en-US" sz="1200" i="1" dirty="0"/>
              <a:t>Prediction of three-phased product distribution and bio-oil heating value of biomass fast pyrolysis based on machine learning, </a:t>
            </a:r>
            <a:r>
              <a:rPr lang="en-US" sz="1200" dirty="0"/>
              <a:t>“Energy”, 236(2021)121401.</a:t>
            </a:r>
          </a:p>
        </p:txBody>
      </p:sp>
    </p:spTree>
    <p:extLst>
      <p:ext uri="{BB962C8B-B14F-4D97-AF65-F5344CB8AC3E}">
        <p14:creationId xmlns:p14="http://schemas.microsoft.com/office/powerpoint/2010/main" val="163451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50FCC9-F388-BC05-C530-A584D058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7762"/>
            <a:ext cx="8596668" cy="937399"/>
          </a:xfrm>
        </p:spPr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Yöntemleri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A5C085-DE8D-6684-9F91-CEEF909D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5" y="1931831"/>
            <a:ext cx="9408362" cy="36748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0" i="0" dirty="0" smtClean="0">
                <a:solidFill>
                  <a:srgbClr val="374151"/>
                </a:solidFill>
                <a:effectLst/>
                <a:latin typeface="+mj-lt"/>
              </a:rPr>
              <a:t>Multivariate </a:t>
            </a:r>
            <a:r>
              <a:rPr lang="en-US" sz="2400" b="0" i="0" dirty="0">
                <a:solidFill>
                  <a:srgbClr val="374151"/>
                </a:solidFill>
                <a:effectLst/>
                <a:latin typeface="+mj-lt"/>
              </a:rPr>
              <a:t>Adaptive Regression Splines – MARS </a:t>
            </a:r>
          </a:p>
          <a:p>
            <a:pPr lvl="1">
              <a:lnSpc>
                <a:spcPct val="150000"/>
              </a:lnSpc>
            </a:pPr>
            <a:r>
              <a:rPr lang="tr-TR" sz="2000" b="0" i="0" dirty="0" smtClean="0">
                <a:solidFill>
                  <a:srgbClr val="374151"/>
                </a:solidFill>
                <a:effectLst/>
                <a:latin typeface="Söhne"/>
              </a:rPr>
              <a:t>Karbonlaşmış </a:t>
            </a:r>
            <a:r>
              <a:rPr lang="en-US" sz="2000" b="0" i="0" dirty="0" err="1" smtClean="0">
                <a:solidFill>
                  <a:srgbClr val="374151"/>
                </a:solidFill>
                <a:effectLst/>
                <a:latin typeface="Söhne"/>
              </a:rPr>
              <a:t>biyokütle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için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2000" b="0" i="0" dirty="0" smtClean="0">
                <a:solidFill>
                  <a:srgbClr val="374151"/>
                </a:solidFill>
                <a:effectLst/>
                <a:latin typeface="Söhne"/>
              </a:rPr>
              <a:t>kütle kaybı ve biyokömür üretim verimi öngörüsü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. 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[</a:t>
            </a:r>
            <a:r>
              <a:rPr lang="tr-TR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5</a:t>
            </a:r>
            <a:r>
              <a:rPr lang="en-US" sz="2000" b="0" i="0" baseline="30000" dirty="0" smtClean="0">
                <a:solidFill>
                  <a:srgbClr val="374151"/>
                </a:solidFill>
                <a:effectLst/>
                <a:latin typeface="Söhne"/>
              </a:rPr>
              <a:t>]</a:t>
            </a:r>
            <a:endParaRPr lang="tr-TR" sz="2000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tr-TR" sz="2000" dirty="0">
                <a:solidFill>
                  <a:srgbClr val="374151"/>
                </a:solidFill>
                <a:latin typeface="Söhne"/>
              </a:rPr>
              <a:t>Literatürden toplanan </a:t>
            </a:r>
            <a:r>
              <a:rPr lang="tr-TR" sz="2000" dirty="0" smtClean="0">
                <a:solidFill>
                  <a:srgbClr val="374151"/>
                </a:solidFill>
                <a:latin typeface="Söhne"/>
              </a:rPr>
              <a:t>1626 adet </a:t>
            </a:r>
            <a:r>
              <a:rPr lang="tr-TR" sz="2000" dirty="0">
                <a:solidFill>
                  <a:srgbClr val="374151"/>
                </a:solidFill>
                <a:latin typeface="Söhne"/>
              </a:rPr>
              <a:t>veri seti</a:t>
            </a:r>
          </a:p>
          <a:p>
            <a:pPr lvl="1">
              <a:lnSpc>
                <a:spcPct val="150000"/>
              </a:lnSpc>
            </a:pPr>
            <a:r>
              <a:rPr lang="en-US" sz="2000" dirty="0" smtClean="0"/>
              <a:t>R</a:t>
            </a:r>
            <a:r>
              <a:rPr lang="en-US" sz="2000" baseline="30000" dirty="0" smtClean="0"/>
              <a:t>2</a:t>
            </a:r>
            <a:r>
              <a:rPr lang="en-US" sz="2000" dirty="0"/>
              <a:t>: </a:t>
            </a:r>
            <a:r>
              <a:rPr lang="en-US" sz="2000" dirty="0" smtClean="0"/>
              <a:t>~</a:t>
            </a:r>
            <a:r>
              <a:rPr lang="tr-TR" sz="2000" dirty="0" smtClean="0"/>
              <a:t>98</a:t>
            </a:r>
            <a:r>
              <a:rPr lang="en-US" sz="2000" dirty="0" smtClean="0"/>
              <a:t> %</a:t>
            </a:r>
            <a:endParaRPr lang="en-US" sz="20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1E69245-9FB8-BA07-9476-EC65C1DBF897}"/>
              </a:ext>
            </a:extLst>
          </p:cNvPr>
          <p:cNvSpPr txBox="1"/>
          <p:nvPr/>
        </p:nvSpPr>
        <p:spPr>
          <a:xfrm>
            <a:off x="0" y="6325187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5</a:t>
            </a:r>
            <a:r>
              <a:rPr lang="en-US" sz="1200" dirty="0" smtClean="0"/>
              <a:t>]: </a:t>
            </a:r>
            <a:r>
              <a:rPr lang="en-US" sz="1200" dirty="0" err="1"/>
              <a:t>Chen,W</a:t>
            </a:r>
            <a:r>
              <a:rPr lang="en-US" sz="1200" dirty="0"/>
              <a:t>., </a:t>
            </a:r>
            <a:r>
              <a:rPr lang="en-US" sz="1200" dirty="0" err="1"/>
              <a:t>Aniza,R</a:t>
            </a:r>
            <a:r>
              <a:rPr lang="en-US" sz="1200" dirty="0"/>
              <a:t>., </a:t>
            </a:r>
            <a:r>
              <a:rPr lang="en-US" sz="1200" dirty="0" err="1"/>
              <a:t>Arpia,A.A</a:t>
            </a:r>
            <a:r>
              <a:rPr lang="en-US" sz="1200" dirty="0"/>
              <a:t>., </a:t>
            </a:r>
            <a:r>
              <a:rPr lang="en-US" sz="1200" dirty="0" err="1"/>
              <a:t>Lo,H</a:t>
            </a:r>
            <a:r>
              <a:rPr lang="en-US" sz="1200" dirty="0"/>
              <a:t>., </a:t>
            </a:r>
            <a:r>
              <a:rPr lang="en-US" sz="1200" dirty="0" err="1"/>
              <a:t>Hoang,A.T</a:t>
            </a:r>
            <a:r>
              <a:rPr lang="en-US" sz="1200" dirty="0"/>
              <a:t>., </a:t>
            </a:r>
            <a:r>
              <a:rPr lang="en-US" sz="1200" dirty="0" err="1"/>
              <a:t>Goodarzi,V</a:t>
            </a:r>
            <a:r>
              <a:rPr lang="en-US" sz="1200" dirty="0"/>
              <a:t>., </a:t>
            </a:r>
            <a:r>
              <a:rPr lang="en-US" sz="1200" dirty="0" err="1"/>
              <a:t>Gao,J</a:t>
            </a:r>
            <a:r>
              <a:rPr lang="en-US" sz="1200" dirty="0"/>
              <a:t>., </a:t>
            </a:r>
            <a:r>
              <a:rPr lang="en-US" sz="1200" i="1" dirty="0"/>
              <a:t>A comparative analysis of biomass torrefaction severity index prediction from machine learning, </a:t>
            </a:r>
            <a:r>
              <a:rPr lang="en-US" sz="1200" dirty="0"/>
              <a:t>“Applied Energy”, 324(2022)119689.</a:t>
            </a:r>
          </a:p>
        </p:txBody>
      </p:sp>
    </p:spTree>
    <p:extLst>
      <p:ext uri="{BB962C8B-B14F-4D97-AF65-F5344CB8AC3E}">
        <p14:creationId xmlns:p14="http://schemas.microsoft.com/office/powerpoint/2010/main" val="299471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50FCC9-F388-BC05-C530-A584D0583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27762"/>
            <a:ext cx="8596668" cy="937399"/>
          </a:xfrm>
        </p:spPr>
        <p:txBody>
          <a:bodyPr/>
          <a:lstStyle/>
          <a:p>
            <a:r>
              <a:rPr lang="en-US" dirty="0" err="1"/>
              <a:t>Makine</a:t>
            </a:r>
            <a:r>
              <a:rPr lang="en-US" dirty="0"/>
              <a:t> </a:t>
            </a:r>
            <a:r>
              <a:rPr lang="en-US" dirty="0" err="1"/>
              <a:t>Öğrenmesi</a:t>
            </a:r>
            <a:r>
              <a:rPr lang="en-US" dirty="0"/>
              <a:t> </a:t>
            </a:r>
            <a:r>
              <a:rPr lang="en-US" dirty="0" err="1"/>
              <a:t>Yöntemleri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A5C085-DE8D-6684-9F91-CEEF909DE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54558"/>
            <a:ext cx="8951576" cy="353323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Gradient </a:t>
            </a:r>
            <a:r>
              <a:rPr lang="en-US" sz="2400" dirty="0"/>
              <a:t>Tree Boosting – GTB</a:t>
            </a:r>
          </a:p>
          <a:p>
            <a:pPr lvl="1"/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Yaklaşık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analiz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,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elementel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analiz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ve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2000" b="0" i="0" dirty="0" smtClean="0">
                <a:solidFill>
                  <a:srgbClr val="374151"/>
                </a:solidFill>
                <a:effectLst/>
                <a:latin typeface="Söhne"/>
              </a:rPr>
              <a:t>proses </a:t>
            </a:r>
            <a:r>
              <a:rPr lang="en-US" sz="2000" b="0" i="0" dirty="0" err="1" smtClean="0">
                <a:solidFill>
                  <a:srgbClr val="374151"/>
                </a:solidFill>
                <a:effectLst/>
                <a:latin typeface="Söhne"/>
              </a:rPr>
              <a:t>koşullarından</a:t>
            </a:r>
            <a:r>
              <a:rPr lang="en-US" sz="2000" b="0" i="0" dirty="0" smtClean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katı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biyokömür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en-US" sz="2000" b="0" i="0" dirty="0" err="1">
                <a:solidFill>
                  <a:srgbClr val="374151"/>
                </a:solidFill>
                <a:effectLst/>
                <a:latin typeface="Söhne"/>
              </a:rPr>
              <a:t>verimi</a:t>
            </a:r>
            <a:r>
              <a:rPr lang="en-US" sz="20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tr-TR" sz="2000" dirty="0">
                <a:solidFill>
                  <a:srgbClr val="374151"/>
                </a:solidFill>
                <a:latin typeface="Söhne"/>
              </a:rPr>
              <a:t>öngörüsü</a:t>
            </a:r>
            <a:r>
              <a:rPr lang="en-US" sz="2000" dirty="0" smtClean="0">
                <a:solidFill>
                  <a:srgbClr val="374151"/>
                </a:solidFill>
                <a:latin typeface="Söhne"/>
              </a:rPr>
              <a:t>. </a:t>
            </a:r>
            <a:r>
              <a:rPr lang="en-US" sz="2000" baseline="30000" dirty="0" smtClean="0">
                <a:solidFill>
                  <a:srgbClr val="374151"/>
                </a:solidFill>
                <a:latin typeface="Söhne"/>
              </a:rPr>
              <a:t>[</a:t>
            </a:r>
            <a:r>
              <a:rPr lang="tr-TR" sz="2000" baseline="30000" dirty="0" smtClean="0">
                <a:solidFill>
                  <a:srgbClr val="374151"/>
                </a:solidFill>
                <a:latin typeface="Söhne"/>
              </a:rPr>
              <a:t>6</a:t>
            </a:r>
            <a:r>
              <a:rPr lang="en-US" sz="2000" baseline="30000" dirty="0" smtClean="0">
                <a:solidFill>
                  <a:srgbClr val="374151"/>
                </a:solidFill>
                <a:latin typeface="Söhne"/>
              </a:rPr>
              <a:t>]</a:t>
            </a:r>
            <a:endParaRPr lang="tr-TR" sz="2000" dirty="0">
              <a:solidFill>
                <a:srgbClr val="374151"/>
              </a:solidFill>
              <a:latin typeface="Söhne"/>
            </a:endParaRPr>
          </a:p>
          <a:p>
            <a:pPr lvl="1">
              <a:lnSpc>
                <a:spcPct val="150000"/>
              </a:lnSpc>
            </a:pPr>
            <a:r>
              <a:rPr lang="tr-TR" sz="2000" dirty="0">
                <a:solidFill>
                  <a:srgbClr val="374151"/>
                </a:solidFill>
                <a:latin typeface="Söhne"/>
              </a:rPr>
              <a:t>Literatürden toplanan </a:t>
            </a:r>
            <a:r>
              <a:rPr lang="tr-TR" sz="2000" dirty="0" smtClean="0">
                <a:solidFill>
                  <a:srgbClr val="374151"/>
                </a:solidFill>
                <a:latin typeface="Söhne"/>
              </a:rPr>
              <a:t>800 adet </a:t>
            </a:r>
            <a:r>
              <a:rPr lang="tr-TR" sz="2000" dirty="0">
                <a:solidFill>
                  <a:srgbClr val="374151"/>
                </a:solidFill>
                <a:latin typeface="Söhne"/>
              </a:rPr>
              <a:t>veri seti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</a:t>
            </a:r>
            <a:r>
              <a:rPr lang="en-US" sz="2000" baseline="30000" dirty="0"/>
              <a:t>2</a:t>
            </a:r>
            <a:r>
              <a:rPr lang="en-US" sz="2000" dirty="0"/>
              <a:t>: ~</a:t>
            </a:r>
            <a:r>
              <a:rPr lang="tr-TR" sz="2000" dirty="0" smtClean="0"/>
              <a:t>90</a:t>
            </a:r>
            <a:r>
              <a:rPr lang="en-US" sz="2000" dirty="0" smtClean="0"/>
              <a:t> </a:t>
            </a:r>
            <a:r>
              <a:rPr lang="en-US" sz="2000" dirty="0"/>
              <a:t>%</a:t>
            </a:r>
            <a:endParaRPr lang="en-US" sz="2000" baseline="30000" dirty="0"/>
          </a:p>
          <a:p>
            <a:pPr lvl="1"/>
            <a:endParaRPr lang="tr-TR" sz="2000" dirty="0" smtClean="0">
              <a:solidFill>
                <a:srgbClr val="374151"/>
              </a:solidFill>
              <a:latin typeface="Söhne"/>
            </a:endParaRPr>
          </a:p>
          <a:p>
            <a:pPr lvl="1"/>
            <a:endParaRPr lang="tr-TR" sz="2000" dirty="0" smtClean="0">
              <a:solidFill>
                <a:srgbClr val="374151"/>
              </a:solidFill>
              <a:latin typeface="Söhn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F370765F-61E7-842D-78F6-371ABB0D46A2}"/>
              </a:ext>
            </a:extLst>
          </p:cNvPr>
          <p:cNvSpPr txBox="1"/>
          <p:nvPr/>
        </p:nvSpPr>
        <p:spPr>
          <a:xfrm>
            <a:off x="0" y="6581001"/>
            <a:ext cx="1219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6</a:t>
            </a:r>
            <a:r>
              <a:rPr lang="en-US" sz="1200" dirty="0" smtClean="0"/>
              <a:t>]: </a:t>
            </a:r>
            <a:r>
              <a:rPr lang="en-US" sz="1200" dirty="0" err="1"/>
              <a:t>Onsree,T</a:t>
            </a:r>
            <a:r>
              <a:rPr lang="en-US" sz="1200" dirty="0"/>
              <a:t>., </a:t>
            </a:r>
            <a:r>
              <a:rPr lang="en-US" sz="1200" dirty="0" err="1"/>
              <a:t>Tippayawong,N</a:t>
            </a:r>
            <a:r>
              <a:rPr lang="en-US" sz="1200" dirty="0"/>
              <a:t>., </a:t>
            </a:r>
            <a:r>
              <a:rPr lang="en-US" sz="1200" i="1" dirty="0"/>
              <a:t>Machine learning application to predict yields of solid products from biomass torrefaction, </a:t>
            </a:r>
            <a:r>
              <a:rPr lang="en-US" sz="1200" dirty="0"/>
              <a:t>“Renewable Energy”, 167(2021)425-432.</a:t>
            </a:r>
          </a:p>
        </p:txBody>
      </p:sp>
    </p:spTree>
    <p:extLst>
      <p:ext uri="{BB962C8B-B14F-4D97-AF65-F5344CB8AC3E}">
        <p14:creationId xmlns:p14="http://schemas.microsoft.com/office/powerpoint/2010/main" val="75441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255068-C9F6-4FAC-1664-BA0A54051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5401494" cy="2819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4000" dirty="0" smtClean="0"/>
              <a:t>Örnek Çalışma</a:t>
            </a:r>
            <a:r>
              <a:rPr lang="en-US" sz="4000" dirty="0" smtClean="0"/>
              <a:t>:</a:t>
            </a:r>
            <a:r>
              <a:rPr lang="en-US" sz="4000" dirty="0"/>
              <a:t/>
            </a:r>
            <a:br>
              <a:rPr lang="en-US" sz="4000" dirty="0"/>
            </a:br>
            <a:r>
              <a:rPr lang="tr-TR" sz="4000" dirty="0" smtClean="0"/>
              <a:t>Biyokömürleştirme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81017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Piroliz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Piroliz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maddenin</a:t>
            </a:r>
            <a:r>
              <a:rPr lang="en-US" sz="2400" dirty="0"/>
              <a:t> </a:t>
            </a:r>
            <a:r>
              <a:rPr lang="en-US" sz="2400" dirty="0" err="1"/>
              <a:t>oksijen</a:t>
            </a:r>
            <a:r>
              <a:rPr lang="en-US" sz="2400" dirty="0"/>
              <a:t> </a:t>
            </a:r>
            <a:r>
              <a:rPr lang="en-US" sz="2400" dirty="0" err="1"/>
              <a:t>yokluğunda</a:t>
            </a:r>
            <a:r>
              <a:rPr lang="en-US" sz="2400" dirty="0"/>
              <a:t> </a:t>
            </a:r>
            <a:r>
              <a:rPr lang="en-US" sz="2400" dirty="0" err="1"/>
              <a:t>ısı</a:t>
            </a:r>
            <a:r>
              <a:rPr lang="en-US" sz="2400" dirty="0"/>
              <a:t> </a:t>
            </a:r>
            <a:r>
              <a:rPr lang="en-US" sz="2400" dirty="0" err="1"/>
              <a:t>ile</a:t>
            </a:r>
            <a:r>
              <a:rPr lang="en-US" sz="2400" dirty="0"/>
              <a:t> </a:t>
            </a:r>
            <a:r>
              <a:rPr lang="en-US" sz="2400" dirty="0" err="1"/>
              <a:t>kimyasal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ayrıştırılması</a:t>
            </a:r>
            <a:r>
              <a:rPr lang="en-US" sz="2400" dirty="0"/>
              <a:t> </a:t>
            </a:r>
            <a:r>
              <a:rPr lang="en-US" sz="2400" dirty="0" err="1"/>
              <a:t>sürecidir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Piroliz</a:t>
            </a:r>
            <a:r>
              <a:rPr lang="en-US" sz="2400" dirty="0"/>
              <a:t> </a:t>
            </a:r>
            <a:r>
              <a:rPr lang="en-US" sz="2400" dirty="0" err="1"/>
              <a:t>sırasında</a:t>
            </a:r>
            <a:r>
              <a:rPr lang="en-US" sz="2400" dirty="0"/>
              <a:t>, </a:t>
            </a:r>
            <a:r>
              <a:rPr lang="en-US" sz="2400" dirty="0" err="1"/>
              <a:t>ısı</a:t>
            </a:r>
            <a:r>
              <a:rPr lang="en-US" sz="2400" dirty="0"/>
              <a:t> </a:t>
            </a:r>
            <a:r>
              <a:rPr lang="en-US" sz="2400" dirty="0" err="1"/>
              <a:t>uygulandığında</a:t>
            </a:r>
            <a:r>
              <a:rPr lang="en-US" sz="2400" dirty="0"/>
              <a:t> </a:t>
            </a:r>
            <a:r>
              <a:rPr lang="en-US" sz="2400" dirty="0" err="1"/>
              <a:t>kimyasal</a:t>
            </a:r>
            <a:r>
              <a:rPr lang="en-US" sz="2400" dirty="0"/>
              <a:t> </a:t>
            </a:r>
            <a:r>
              <a:rPr lang="en-US" sz="2400" dirty="0" err="1"/>
              <a:t>bağlar</a:t>
            </a:r>
            <a:r>
              <a:rPr lang="en-US" sz="2400" dirty="0"/>
              <a:t> </a:t>
            </a:r>
            <a:r>
              <a:rPr lang="en-US" sz="2400" dirty="0" err="1"/>
              <a:t>kopar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maddenin</a:t>
            </a:r>
            <a:r>
              <a:rPr lang="en-US" sz="2400" dirty="0"/>
              <a:t> </a:t>
            </a:r>
            <a:r>
              <a:rPr lang="en-US" sz="2400" dirty="0" err="1"/>
              <a:t>kimyasal</a:t>
            </a:r>
            <a:r>
              <a:rPr lang="en-US" sz="2400" dirty="0"/>
              <a:t> </a:t>
            </a:r>
            <a:r>
              <a:rPr lang="en-US" sz="2400" dirty="0" err="1"/>
              <a:t>bileşimi</a:t>
            </a:r>
            <a:r>
              <a:rPr lang="en-US" sz="2400" dirty="0"/>
              <a:t> </a:t>
            </a:r>
            <a:r>
              <a:rPr lang="en-US" sz="2400" dirty="0" err="1"/>
              <a:t>değişir</a:t>
            </a:r>
            <a:r>
              <a:rPr lang="en-US" sz="2400" dirty="0"/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Piroliz</a:t>
            </a:r>
            <a:r>
              <a:rPr lang="en-US" sz="2400" dirty="0"/>
              <a:t> </a:t>
            </a:r>
            <a:r>
              <a:rPr lang="en-US" sz="2400" dirty="0" err="1"/>
              <a:t>genellikle</a:t>
            </a:r>
            <a:r>
              <a:rPr lang="en-US" sz="2400" dirty="0"/>
              <a:t> </a:t>
            </a:r>
            <a:r>
              <a:rPr lang="en-US" sz="2400" dirty="0" err="1"/>
              <a:t>termokimyasal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dönüşüm</a:t>
            </a:r>
            <a:r>
              <a:rPr lang="en-US" sz="2400" dirty="0"/>
              <a:t> </a:t>
            </a:r>
            <a:r>
              <a:rPr lang="en-US" sz="2400" dirty="0" err="1"/>
              <a:t>süreci</a:t>
            </a:r>
            <a:r>
              <a:rPr lang="en-US" sz="2400" dirty="0"/>
              <a:t> </a:t>
            </a:r>
            <a:r>
              <a:rPr lang="en-US" sz="2400" dirty="0" err="1"/>
              <a:t>olarak</a:t>
            </a:r>
            <a:r>
              <a:rPr lang="en-US" sz="2400" dirty="0"/>
              <a:t> </a:t>
            </a:r>
            <a:r>
              <a:rPr lang="en-US" sz="2400" dirty="0" err="1"/>
              <a:t>kabul</a:t>
            </a:r>
            <a:r>
              <a:rPr lang="en-US" sz="2400" dirty="0"/>
              <a:t> </a:t>
            </a:r>
            <a:r>
              <a:rPr lang="en-US" sz="2400" dirty="0" err="1"/>
              <a:t>edilir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265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Piroliz ile Biyokömürleştirme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953" y="1761368"/>
            <a:ext cx="4767502" cy="42515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Piroliz</a:t>
            </a:r>
            <a:r>
              <a:rPr lang="en-US" sz="2000" dirty="0" smtClean="0"/>
              <a:t> </a:t>
            </a:r>
            <a:r>
              <a:rPr lang="en-US" sz="2000" dirty="0" err="1"/>
              <a:t>sırasında</a:t>
            </a:r>
            <a:r>
              <a:rPr lang="en-US" sz="2000" dirty="0"/>
              <a:t>, </a:t>
            </a:r>
            <a:r>
              <a:rPr lang="en-US" sz="2000" dirty="0" err="1"/>
              <a:t>biyokütle</a:t>
            </a:r>
            <a:r>
              <a:rPr lang="en-US" sz="2000" dirty="0"/>
              <a:t> </a:t>
            </a:r>
            <a:r>
              <a:rPr lang="en-US" sz="2000" dirty="0" err="1"/>
              <a:t>içindeki</a:t>
            </a:r>
            <a:r>
              <a:rPr lang="en-US" sz="2000" dirty="0"/>
              <a:t> </a:t>
            </a:r>
            <a:r>
              <a:rPr lang="en-US" sz="2000" dirty="0" err="1"/>
              <a:t>hemen</a:t>
            </a:r>
            <a:r>
              <a:rPr lang="en-US" sz="2000" dirty="0"/>
              <a:t> </a:t>
            </a:r>
            <a:r>
              <a:rPr lang="en-US" sz="2000" dirty="0" err="1"/>
              <a:t>hemen</a:t>
            </a:r>
            <a:r>
              <a:rPr lang="en-US" sz="2000" dirty="0"/>
              <a:t> </a:t>
            </a:r>
            <a:r>
              <a:rPr lang="en-US" sz="2000" dirty="0" err="1"/>
              <a:t>tüm</a:t>
            </a:r>
            <a:r>
              <a:rPr lang="en-US" sz="2000" dirty="0"/>
              <a:t> </a:t>
            </a:r>
            <a:r>
              <a:rPr lang="tr-TR" sz="2000" dirty="0" smtClean="0"/>
              <a:t>uçucu </a:t>
            </a:r>
            <a:r>
              <a:rPr lang="en-US" sz="2000" dirty="0" err="1" smtClean="0"/>
              <a:t>maddeler</a:t>
            </a:r>
            <a:r>
              <a:rPr lang="en-US" sz="2000" dirty="0" smtClean="0"/>
              <a:t> </a:t>
            </a:r>
            <a:r>
              <a:rPr lang="en-US" sz="2000" dirty="0" err="1" smtClean="0"/>
              <a:t>uçar</a:t>
            </a:r>
            <a:r>
              <a:rPr lang="en-US" sz="2000" dirty="0" smtClean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geriye</a:t>
            </a:r>
            <a:r>
              <a:rPr lang="en-US" sz="2000" dirty="0"/>
              <a:t> </a:t>
            </a:r>
            <a:r>
              <a:rPr lang="en-US" sz="2000" dirty="0" err="1"/>
              <a:t>büyük</a:t>
            </a:r>
            <a:r>
              <a:rPr lang="en-US" sz="2000" dirty="0"/>
              <a:t> </a:t>
            </a:r>
            <a:r>
              <a:rPr lang="en-US" sz="2000" dirty="0" err="1"/>
              <a:t>oranda</a:t>
            </a:r>
            <a:r>
              <a:rPr lang="en-US" sz="2000" dirty="0"/>
              <a:t> </a:t>
            </a:r>
            <a:r>
              <a:rPr lang="en-US" sz="2000" dirty="0" err="1"/>
              <a:t>karbon</a:t>
            </a:r>
            <a:r>
              <a:rPr lang="en-US" sz="2000" dirty="0"/>
              <a:t> </a:t>
            </a:r>
            <a:r>
              <a:rPr lang="en-US" sz="2000" dirty="0" err="1"/>
              <a:t>içeren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katı</a:t>
            </a:r>
            <a:r>
              <a:rPr lang="en-US" sz="2000" dirty="0"/>
              <a:t> </a:t>
            </a:r>
            <a:r>
              <a:rPr lang="en-US" sz="2000" dirty="0" err="1"/>
              <a:t>madde</a:t>
            </a:r>
            <a:r>
              <a:rPr lang="en-US" sz="2000" dirty="0"/>
              <a:t> </a:t>
            </a:r>
            <a:r>
              <a:rPr lang="en-US" sz="2000" dirty="0" err="1"/>
              <a:t>kalır</a:t>
            </a:r>
            <a:r>
              <a:rPr lang="en-US" sz="2000" dirty="0"/>
              <a:t>. </a:t>
            </a:r>
            <a:endParaRPr lang="tr-TR" sz="2000" dirty="0" smtClean="0"/>
          </a:p>
          <a:p>
            <a:pPr>
              <a:lnSpc>
                <a:spcPct val="150000"/>
              </a:lnSpc>
            </a:pPr>
            <a:r>
              <a:rPr lang="en-US" sz="2000" dirty="0" smtClean="0"/>
              <a:t>Bu </a:t>
            </a:r>
            <a:r>
              <a:rPr lang="en-US" sz="2000" dirty="0" err="1"/>
              <a:t>katı</a:t>
            </a:r>
            <a:r>
              <a:rPr lang="en-US" sz="2000" dirty="0"/>
              <a:t> </a:t>
            </a:r>
            <a:r>
              <a:rPr lang="en-US" sz="2000" dirty="0" err="1"/>
              <a:t>madde</a:t>
            </a:r>
            <a:r>
              <a:rPr lang="en-US" sz="2000" dirty="0"/>
              <a:t>, </a:t>
            </a:r>
            <a:r>
              <a:rPr lang="en-US" sz="2000" dirty="0" err="1"/>
              <a:t>biyokömür</a:t>
            </a:r>
            <a:r>
              <a:rPr lang="en-US" sz="2000" dirty="0"/>
              <a:t>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bilinir</a:t>
            </a:r>
            <a:r>
              <a:rPr lang="en-US" sz="2000" dirty="0"/>
              <a:t>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836" y="1930400"/>
            <a:ext cx="455295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1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4B05361-1B0E-D5B1-9B1D-02696C1F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9251CA-F3D6-C835-D9CF-78DA585D0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4901"/>
            <a:ext cx="8596668" cy="4526462"/>
          </a:xfrm>
        </p:spPr>
        <p:txBody>
          <a:bodyPr>
            <a:normAutofit/>
          </a:bodyPr>
          <a:lstStyle/>
          <a:p>
            <a:r>
              <a:rPr lang="en-US" sz="2400" dirty="0"/>
              <a:t>Pamuk </a:t>
            </a:r>
            <a:r>
              <a:rPr lang="en-US" sz="2400" dirty="0" err="1"/>
              <a:t>sapından</a:t>
            </a:r>
            <a:r>
              <a:rPr lang="en-US" sz="2400" dirty="0"/>
              <a:t> </a:t>
            </a:r>
            <a:r>
              <a:rPr lang="en-US" sz="2400" dirty="0" err="1"/>
              <a:t>biyokömür</a:t>
            </a:r>
            <a:r>
              <a:rPr lang="en-US" sz="2400" dirty="0"/>
              <a:t> </a:t>
            </a:r>
            <a:r>
              <a:rPr lang="en-US" sz="2400" dirty="0" err="1"/>
              <a:t>üretimi</a:t>
            </a:r>
            <a:r>
              <a:rPr lang="en-US" sz="2400" dirty="0"/>
              <a:t> </a:t>
            </a:r>
            <a:r>
              <a:rPr lang="en-US" sz="2400" baseline="30000" dirty="0" smtClean="0"/>
              <a:t>[</a:t>
            </a:r>
            <a:r>
              <a:rPr lang="tr-TR" sz="2400" baseline="30000" dirty="0" smtClean="0"/>
              <a:t>7</a:t>
            </a:r>
            <a:r>
              <a:rPr lang="en-US" sz="2400" baseline="30000" dirty="0" smtClean="0"/>
              <a:t>]</a:t>
            </a:r>
            <a:endParaRPr lang="en-US" sz="2400" baseline="30000" dirty="0"/>
          </a:p>
          <a:p>
            <a:r>
              <a:rPr lang="en-US" sz="2400" dirty="0" err="1"/>
              <a:t>Deney</a:t>
            </a:r>
            <a:r>
              <a:rPr lang="en-US" sz="2400" dirty="0"/>
              <a:t> </a:t>
            </a:r>
            <a:r>
              <a:rPr lang="en-US" sz="2400" dirty="0" err="1"/>
              <a:t>Setleri</a:t>
            </a:r>
            <a:r>
              <a:rPr lang="en-US" sz="2400" dirty="0"/>
              <a:t>:</a:t>
            </a:r>
          </a:p>
          <a:p>
            <a:pPr lvl="1"/>
            <a:r>
              <a:rPr lang="en-US" sz="2000" b="0" i="0" u="none" strike="noStrike" baseline="0" dirty="0"/>
              <a:t>Box-Behnken </a:t>
            </a:r>
            <a:r>
              <a:rPr lang="en-US" sz="2000" b="0" i="0" u="none" strike="noStrike" baseline="0" dirty="0" err="1"/>
              <a:t>tasarım</a:t>
            </a:r>
            <a:r>
              <a:rPr lang="en-US" sz="2000" b="0" i="0" u="none" strike="noStrike" baseline="0" dirty="0"/>
              <a:t> </a:t>
            </a:r>
            <a:r>
              <a:rPr lang="en-US" sz="2000" b="0" i="0" u="none" strike="noStrike" baseline="0" dirty="0" err="1"/>
              <a:t>modeli</a:t>
            </a:r>
            <a:r>
              <a:rPr lang="en-US" sz="2000" b="0" i="0" u="none" strike="noStrike" baseline="0" dirty="0"/>
              <a:t> </a:t>
            </a:r>
          </a:p>
          <a:p>
            <a:pPr lvl="2"/>
            <a:r>
              <a:rPr lang="en-US" sz="1800" dirty="0" err="1"/>
              <a:t>Sıcaklık</a:t>
            </a:r>
            <a:r>
              <a:rPr lang="en-US" sz="1800" dirty="0"/>
              <a:t> (A): </a:t>
            </a:r>
            <a:r>
              <a:rPr lang="en-US" sz="1800" b="0" i="0" u="none" strike="noStrike" baseline="0" dirty="0"/>
              <a:t>260°C - 320°C</a:t>
            </a:r>
          </a:p>
          <a:p>
            <a:pPr lvl="2"/>
            <a:r>
              <a:rPr lang="en-US" sz="1800" dirty="0" err="1"/>
              <a:t>Bekletme</a:t>
            </a:r>
            <a:r>
              <a:rPr lang="en-US" sz="1800" dirty="0"/>
              <a:t> </a:t>
            </a:r>
            <a:r>
              <a:rPr lang="en-US" sz="1800" dirty="0" err="1"/>
              <a:t>süresi</a:t>
            </a:r>
            <a:r>
              <a:rPr lang="en-US" sz="1800" dirty="0"/>
              <a:t> (B): </a:t>
            </a:r>
            <a:r>
              <a:rPr lang="en-US" sz="1800" b="0" i="0" u="none" strike="noStrike" baseline="0" dirty="0"/>
              <a:t>10 </a:t>
            </a:r>
            <a:r>
              <a:rPr lang="en-US" sz="1800" b="0" i="0" u="none" strike="noStrike" baseline="0" dirty="0" err="1"/>
              <a:t>dakika</a:t>
            </a:r>
            <a:r>
              <a:rPr lang="en-US" sz="1800" b="0" i="0" u="none" strike="noStrike" baseline="0" dirty="0"/>
              <a:t> - 60 </a:t>
            </a:r>
            <a:r>
              <a:rPr lang="en-US" sz="1800" b="0" i="0" u="none" strike="noStrike" baseline="0" dirty="0" err="1"/>
              <a:t>dakika</a:t>
            </a:r>
            <a:endParaRPr lang="en-US" sz="1800" b="0" i="0" u="none" strike="noStrike" baseline="0" dirty="0"/>
          </a:p>
          <a:p>
            <a:pPr lvl="2"/>
            <a:r>
              <a:rPr lang="en-US" sz="1800" dirty="0" err="1"/>
              <a:t>Yoğunluk</a:t>
            </a:r>
            <a:r>
              <a:rPr lang="en-US" sz="1800" dirty="0"/>
              <a:t> (C): </a:t>
            </a:r>
            <a:r>
              <a:rPr lang="en-US" sz="1800" b="0" i="0" u="none" strike="noStrike" baseline="0" dirty="0"/>
              <a:t>125 kg/m3 - 175 </a:t>
            </a:r>
            <a:r>
              <a:rPr lang="en-US" sz="1800" b="0" i="0" u="none" strike="noStrike" baseline="0" dirty="0" smtClean="0"/>
              <a:t>kg/m3</a:t>
            </a:r>
            <a:endParaRPr lang="tr-TR" sz="1800" b="0" i="0" u="none" strike="noStrike" baseline="0" dirty="0" smtClean="0"/>
          </a:p>
          <a:p>
            <a:pPr lvl="2"/>
            <a:r>
              <a:rPr lang="tr-TR" sz="1800" dirty="0" smtClean="0"/>
              <a:t>Karbon yüzdesi: sonuç değişkeni</a:t>
            </a:r>
            <a:endParaRPr lang="en-US" sz="1800" b="0" i="0" u="none" strike="noStrike" baseline="0" dirty="0"/>
          </a:p>
          <a:p>
            <a:pPr lvl="1"/>
            <a:r>
              <a:rPr lang="en-US" sz="2000" dirty="0"/>
              <a:t>15 </a:t>
            </a:r>
            <a:r>
              <a:rPr lang="en-US" sz="2000" dirty="0" err="1"/>
              <a:t>adet</a:t>
            </a:r>
            <a:r>
              <a:rPr lang="en-US" sz="2000" dirty="0"/>
              <a:t> </a:t>
            </a:r>
            <a:r>
              <a:rPr lang="en-US" sz="2000" dirty="0" err="1"/>
              <a:t>deney</a:t>
            </a:r>
            <a:endParaRPr lang="en-US" sz="2000" dirty="0"/>
          </a:p>
          <a:p>
            <a:pPr lvl="2"/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: 10</a:t>
            </a:r>
          </a:p>
          <a:p>
            <a:pPr lvl="2"/>
            <a:r>
              <a:rPr lang="en-US" sz="1800" dirty="0" err="1"/>
              <a:t>Doğrulama</a:t>
            </a:r>
            <a:r>
              <a:rPr lang="en-US" sz="1800" dirty="0"/>
              <a:t> </a:t>
            </a:r>
            <a:r>
              <a:rPr lang="en-US" sz="1800" dirty="0" err="1"/>
              <a:t>verisi</a:t>
            </a:r>
            <a:r>
              <a:rPr lang="en-US" sz="1800" dirty="0"/>
              <a:t>: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E0073CC-1C74-7EC2-83FD-AD8E71ECF298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7</a:t>
            </a:r>
            <a:r>
              <a:rPr lang="en-US" sz="1200" dirty="0" smtClean="0"/>
              <a:t>]: </a:t>
            </a:r>
            <a:r>
              <a:rPr lang="en-US" sz="1200" dirty="0" err="1"/>
              <a:t>Kutlu,Ö</a:t>
            </a:r>
            <a:r>
              <a:rPr lang="en-US" sz="1200" dirty="0"/>
              <a:t>., </a:t>
            </a:r>
            <a:r>
              <a:rPr lang="en-US" sz="1200" dirty="0" err="1"/>
              <a:t>Koçar,G</a:t>
            </a:r>
            <a:r>
              <a:rPr lang="en-US" sz="1200" dirty="0"/>
              <a:t>., </a:t>
            </a:r>
            <a:r>
              <a:rPr lang="en-US" sz="1200" i="1" dirty="0"/>
              <a:t>Upgrading lignocellulosic waste to fuel by torrefaction: </a:t>
            </a:r>
            <a:r>
              <a:rPr lang="en-US" sz="1200" i="1" dirty="0" err="1"/>
              <a:t>Characterisation</a:t>
            </a:r>
            <a:r>
              <a:rPr lang="en-US" sz="1200" i="1" dirty="0"/>
              <a:t> and process optimization by response surface methodology. </a:t>
            </a:r>
            <a:r>
              <a:rPr lang="en-US" sz="1200" dirty="0"/>
              <a:t>“</a:t>
            </a:r>
            <a:r>
              <a:rPr lang="en-US" sz="1200" dirty="0" err="1"/>
              <a:t>Interational</a:t>
            </a:r>
            <a:r>
              <a:rPr lang="en-US" sz="1200" dirty="0"/>
              <a:t> Journal of Energy Research”, 42(2018)4746-4760.</a:t>
            </a:r>
          </a:p>
        </p:txBody>
      </p:sp>
    </p:spTree>
    <p:extLst>
      <p:ext uri="{BB962C8B-B14F-4D97-AF65-F5344CB8AC3E}">
        <p14:creationId xmlns:p14="http://schemas.microsoft.com/office/powerpoint/2010/main" val="279317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FC582FF-3235-772E-AD08-DBDCD6DC9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6862"/>
            <a:ext cx="8596668" cy="1033937"/>
          </a:xfrm>
        </p:spPr>
        <p:txBody>
          <a:bodyPr>
            <a:normAutofit/>
          </a:bodyPr>
          <a:lstStyle/>
          <a:p>
            <a:r>
              <a:rPr lang="en-US" dirty="0" err="1"/>
              <a:t>Deney</a:t>
            </a:r>
            <a:r>
              <a:rPr lang="en-US" dirty="0"/>
              <a:t> </a:t>
            </a:r>
            <a:r>
              <a:rPr lang="en-US" dirty="0" err="1"/>
              <a:t>Verisi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7ED14CB8-7566-701A-6F81-91FB64ABE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7405762"/>
              </p:ext>
            </p:extLst>
          </p:nvPr>
        </p:nvGraphicFramePr>
        <p:xfrm>
          <a:off x="1371599" y="1447793"/>
          <a:ext cx="6006355" cy="5123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271">
                  <a:extLst>
                    <a:ext uri="{9D8B030D-6E8A-4147-A177-3AD203B41FA5}">
                      <a16:colId xmlns:a16="http://schemas.microsoft.com/office/drawing/2014/main" xmlns="" val="3227421476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xmlns="" val="3595161848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xmlns="" val="294721987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xmlns="" val="1746299654"/>
                    </a:ext>
                  </a:extLst>
                </a:gridCol>
                <a:gridCol w="1201271">
                  <a:extLst>
                    <a:ext uri="{9D8B030D-6E8A-4147-A177-3AD203B41FA5}">
                      <a16:colId xmlns:a16="http://schemas.microsoft.com/office/drawing/2014/main" xmlns="" val="3954014627"/>
                    </a:ext>
                  </a:extLst>
                </a:gridCol>
              </a:tblGrid>
              <a:tr h="320209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Run</a:t>
                      </a:r>
                      <a:endParaRPr lang="en-U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Sıcaklık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Bekletme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Yoğunluk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Karbon%</a:t>
                      </a:r>
                      <a:endParaRPr lang="en-US" sz="11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868668825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09483886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586241090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726677082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350471776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290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773458450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514754406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150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207004165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402304569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702486271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436646345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366083546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631905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68.73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666467635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255867994"/>
                  </a:ext>
                </a:extLst>
              </a:tr>
              <a:tr h="320209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62.01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6183081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3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3ACC72C-DBF8-393B-ABED-98CD2B3E9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" y="1930400"/>
            <a:ext cx="11459411" cy="414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7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Neural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C24AB3F5-E2E8-A5DA-F555-AC2D1CBDA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6" y="1405496"/>
            <a:ext cx="9999561" cy="499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Neural Network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6E0E269-025D-C98A-A6AA-15EAF8F7A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74" y="1703301"/>
            <a:ext cx="10142338" cy="468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0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Random Forest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27A2778-EE98-115C-3121-D6728E6FE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08" y="1930399"/>
            <a:ext cx="10938784" cy="386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28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1D7C9FF-7BA5-D50B-2B83-F1B47EDC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Random Forest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106186-8E46-AC87-C799-141F1A3D3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129" y="1290919"/>
            <a:ext cx="10004612" cy="5082585"/>
          </a:xfrm>
        </p:spPr>
        <p:txBody>
          <a:bodyPr>
            <a:noAutofit/>
          </a:bodyPr>
          <a:lstStyle/>
          <a:p>
            <a:r>
              <a:rPr lang="en-US" sz="2400" dirty="0" err="1"/>
              <a:t>Hiper</a:t>
            </a:r>
            <a:r>
              <a:rPr lang="en-US" sz="2400" dirty="0"/>
              <a:t> </a:t>
            </a:r>
            <a:r>
              <a:rPr lang="en-US" sz="2400" dirty="0" err="1"/>
              <a:t>parametreler</a:t>
            </a:r>
            <a:r>
              <a:rPr lang="en-US" sz="2400" dirty="0"/>
              <a:t>:</a:t>
            </a:r>
          </a:p>
          <a:p>
            <a:pPr lvl="1"/>
            <a:r>
              <a:rPr lang="en-US" sz="2400" dirty="0" err="1"/>
              <a:t>n_estimators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 err="1"/>
              <a:t>Oluşturulacak</a:t>
            </a:r>
            <a:r>
              <a:rPr lang="en-US" sz="1800" dirty="0"/>
              <a:t> </a:t>
            </a:r>
            <a:r>
              <a:rPr lang="en-US" sz="1800" dirty="0" err="1"/>
              <a:t>karar</a:t>
            </a:r>
            <a:r>
              <a:rPr lang="en-US" sz="1800" dirty="0"/>
              <a:t> </a:t>
            </a:r>
            <a:r>
              <a:rPr lang="en-US" sz="1800" dirty="0" err="1"/>
              <a:t>ağacı</a:t>
            </a:r>
            <a:r>
              <a:rPr lang="en-US" sz="1800" dirty="0"/>
              <a:t> </a:t>
            </a:r>
            <a:r>
              <a:rPr lang="en-US" sz="1800" dirty="0" err="1"/>
              <a:t>sayısı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fazla</a:t>
            </a:r>
            <a:r>
              <a:rPr lang="en-US" sz="1800" dirty="0"/>
              <a:t> </a:t>
            </a:r>
            <a:r>
              <a:rPr lang="en-US" sz="1800" dirty="0" err="1"/>
              <a:t>ağaç</a:t>
            </a:r>
            <a:r>
              <a:rPr lang="en-US" sz="1800" dirty="0"/>
              <a:t> </a:t>
            </a:r>
            <a:r>
              <a:rPr lang="en-US" sz="1800" dirty="0" err="1"/>
              <a:t>genellikle</a:t>
            </a:r>
            <a:r>
              <a:rPr lang="en-US" sz="1800" dirty="0"/>
              <a:t> </a:t>
            </a:r>
            <a:r>
              <a:rPr lang="en-US" sz="1800" dirty="0" err="1"/>
              <a:t>daha</a:t>
            </a:r>
            <a:r>
              <a:rPr lang="en-US" sz="1800" dirty="0"/>
              <a:t> iyi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performans</a:t>
            </a:r>
            <a:r>
              <a:rPr lang="en-US" sz="1800" dirty="0"/>
              <a:t> </a:t>
            </a:r>
            <a:r>
              <a:rPr lang="en-US" sz="1800" dirty="0" err="1"/>
              <a:t>sağlar</a:t>
            </a:r>
            <a:r>
              <a:rPr lang="en-US" sz="1800" dirty="0"/>
              <a:t>, </a:t>
            </a:r>
            <a:r>
              <a:rPr lang="en-US" sz="1800" dirty="0" err="1"/>
              <a:t>ancak</a:t>
            </a:r>
            <a:r>
              <a:rPr lang="en-US" sz="1800" dirty="0"/>
              <a:t> </a:t>
            </a:r>
            <a:r>
              <a:rPr lang="en-US" sz="1800" dirty="0" err="1"/>
              <a:t>eğitim</a:t>
            </a:r>
            <a:r>
              <a:rPr lang="en-US" sz="1800" dirty="0"/>
              <a:t> </a:t>
            </a:r>
            <a:r>
              <a:rPr lang="en-US" sz="1800" dirty="0" err="1"/>
              <a:t>süresini</a:t>
            </a:r>
            <a:r>
              <a:rPr lang="en-US" sz="1800" dirty="0"/>
              <a:t> </a:t>
            </a:r>
            <a:r>
              <a:rPr lang="en-US" sz="1800" dirty="0" err="1"/>
              <a:t>uzatabilir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100</a:t>
            </a:r>
          </a:p>
          <a:p>
            <a:pPr lvl="1"/>
            <a:r>
              <a:rPr lang="en-US" sz="2400" dirty="0" err="1"/>
              <a:t>max_depth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 err="1"/>
              <a:t>Ağaçların</a:t>
            </a:r>
            <a:r>
              <a:rPr lang="en-US" sz="1800" dirty="0"/>
              <a:t> </a:t>
            </a:r>
            <a:r>
              <a:rPr lang="en-US" sz="1800" dirty="0" err="1"/>
              <a:t>maksimum</a:t>
            </a:r>
            <a:r>
              <a:rPr lang="en-US" sz="1800" dirty="0"/>
              <a:t> </a:t>
            </a:r>
            <a:r>
              <a:rPr lang="en-US" sz="1800" dirty="0" err="1"/>
              <a:t>derinliği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derin</a:t>
            </a:r>
            <a:r>
              <a:rPr lang="en-US" sz="1800" dirty="0"/>
              <a:t> </a:t>
            </a:r>
            <a:r>
              <a:rPr lang="en-US" sz="1800" dirty="0" err="1"/>
              <a:t>ağaçlar</a:t>
            </a:r>
            <a:r>
              <a:rPr lang="en-US" sz="1800" dirty="0"/>
              <a:t>,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karmaşık</a:t>
            </a:r>
            <a:r>
              <a:rPr lang="en-US" sz="1800" dirty="0"/>
              <a:t> </a:t>
            </a:r>
            <a:r>
              <a:rPr lang="en-US" sz="1800" dirty="0" err="1"/>
              <a:t>ilişkileri</a:t>
            </a:r>
            <a:r>
              <a:rPr lang="en-US" sz="1800" dirty="0"/>
              <a:t> </a:t>
            </a:r>
            <a:r>
              <a:rPr lang="en-US" sz="1800" dirty="0" err="1"/>
              <a:t>yakalayabilir</a:t>
            </a:r>
            <a:r>
              <a:rPr lang="en-US" sz="1800" dirty="0"/>
              <a:t>, </a:t>
            </a:r>
            <a:r>
              <a:rPr lang="en-US" sz="1800" dirty="0" err="1"/>
              <a:t>ancak</a:t>
            </a:r>
            <a:r>
              <a:rPr lang="en-US" sz="1800" dirty="0"/>
              <a:t> </a:t>
            </a:r>
            <a:r>
              <a:rPr lang="en-US" sz="1800" dirty="0" err="1"/>
              <a:t>aşırı</a:t>
            </a:r>
            <a:r>
              <a:rPr lang="en-US" sz="1800" dirty="0"/>
              <a:t> </a:t>
            </a:r>
            <a:r>
              <a:rPr lang="en-US" sz="1800" dirty="0" err="1"/>
              <a:t>uydurmayı</a:t>
            </a:r>
            <a:r>
              <a:rPr lang="en-US" sz="1800" dirty="0"/>
              <a:t> (overfitting) </a:t>
            </a:r>
            <a:r>
              <a:rPr lang="en-US" sz="1800" dirty="0" err="1"/>
              <a:t>teşvik</a:t>
            </a:r>
            <a:r>
              <a:rPr lang="en-US" sz="1800" dirty="0"/>
              <a:t> </a:t>
            </a:r>
            <a:r>
              <a:rPr lang="en-US" sz="1800" dirty="0" err="1"/>
              <a:t>edebilir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10</a:t>
            </a:r>
          </a:p>
          <a:p>
            <a:pPr lvl="1"/>
            <a:r>
              <a:rPr lang="en-US" sz="2400" dirty="0" err="1"/>
              <a:t>min_samples_leaf</a:t>
            </a:r>
            <a:r>
              <a:rPr lang="en-US" sz="2400" dirty="0"/>
              <a:t>: </a:t>
            </a:r>
          </a:p>
          <a:p>
            <a:pPr lvl="2"/>
            <a:r>
              <a:rPr lang="en-US" sz="1800" dirty="0"/>
              <a:t>Bir </a:t>
            </a:r>
            <a:r>
              <a:rPr lang="en-US" sz="1800" dirty="0" err="1"/>
              <a:t>yaprak</a:t>
            </a:r>
            <a:r>
              <a:rPr lang="en-US" sz="1800" dirty="0"/>
              <a:t> </a:t>
            </a:r>
            <a:r>
              <a:rPr lang="en-US" sz="1800" dirty="0" err="1"/>
              <a:t>düğümünde</a:t>
            </a:r>
            <a:r>
              <a:rPr lang="en-US" sz="1800" dirty="0"/>
              <a:t> </a:t>
            </a:r>
            <a:r>
              <a:rPr lang="en-US" sz="1800" dirty="0" err="1"/>
              <a:t>gereken</a:t>
            </a:r>
            <a:r>
              <a:rPr lang="en-US" sz="1800" dirty="0"/>
              <a:t> minimum </a:t>
            </a:r>
            <a:r>
              <a:rPr lang="en-US" sz="1800" dirty="0" err="1"/>
              <a:t>örnek</a:t>
            </a:r>
            <a:r>
              <a:rPr lang="en-US" sz="1800" dirty="0"/>
              <a:t> </a:t>
            </a:r>
            <a:r>
              <a:rPr lang="en-US" sz="1800" dirty="0" err="1"/>
              <a:t>sayısı</a:t>
            </a:r>
            <a:r>
              <a:rPr lang="en-US" sz="1800" dirty="0"/>
              <a:t>.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yüksek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değer</a:t>
            </a:r>
            <a:r>
              <a:rPr lang="en-US" sz="1800" dirty="0"/>
              <a:t>, </a:t>
            </a:r>
            <a:r>
              <a:rPr lang="en-US" sz="1800" dirty="0" err="1"/>
              <a:t>ağaçların</a:t>
            </a:r>
            <a:r>
              <a:rPr lang="en-US" sz="1800" dirty="0"/>
              <a:t> </a:t>
            </a:r>
            <a:r>
              <a:rPr lang="en-US" sz="1800" dirty="0" err="1"/>
              <a:t>daha</a:t>
            </a:r>
            <a:r>
              <a:rPr lang="en-US" sz="1800" dirty="0"/>
              <a:t> </a:t>
            </a:r>
            <a:r>
              <a:rPr lang="en-US" sz="1800" dirty="0" err="1"/>
              <a:t>genelleyici</a:t>
            </a:r>
            <a:r>
              <a:rPr lang="en-US" sz="1800" dirty="0"/>
              <a:t> hale </a:t>
            </a:r>
            <a:r>
              <a:rPr lang="en-US" sz="1800" dirty="0" err="1"/>
              <a:t>gelmesini</a:t>
            </a:r>
            <a:r>
              <a:rPr lang="en-US" sz="1800" dirty="0"/>
              <a:t> </a:t>
            </a:r>
            <a:r>
              <a:rPr lang="en-US" sz="1800" dirty="0" err="1"/>
              <a:t>sağlar</a:t>
            </a:r>
            <a:r>
              <a:rPr lang="en-US" sz="1800" dirty="0"/>
              <a:t>. </a:t>
            </a:r>
          </a:p>
          <a:p>
            <a:pPr lvl="2"/>
            <a:r>
              <a:rPr lang="en-US" sz="1800" dirty="0" err="1"/>
              <a:t>Örnek</a:t>
            </a:r>
            <a:r>
              <a:rPr lang="en-US" sz="1800" dirty="0"/>
              <a:t>: 1</a:t>
            </a:r>
          </a:p>
        </p:txBody>
      </p:sp>
    </p:spTree>
    <p:extLst>
      <p:ext uri="{BB962C8B-B14F-4D97-AF65-F5344CB8AC3E}">
        <p14:creationId xmlns:p14="http://schemas.microsoft.com/office/powerpoint/2010/main" val="423567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E1530F-AD1E-928A-BC94-B587F3BCF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 dirty="0" err="1"/>
              <a:t>Kodları</a:t>
            </a:r>
            <a:r>
              <a:rPr lang="en-US" dirty="0"/>
              <a:t> – SVM, MARS, GTB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E664BE1-CF25-0FE6-1557-92D0DD298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4" y="3428996"/>
            <a:ext cx="11" cy="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081208"/>
            <a:ext cx="10515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1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CB4173-0605-BB35-C168-C14EEB654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Sonuçlar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219A380B-0644-91E8-0D52-2235AD0A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123498"/>
              </p:ext>
            </p:extLst>
          </p:nvPr>
        </p:nvGraphicFramePr>
        <p:xfrm>
          <a:off x="777922" y="1501260"/>
          <a:ext cx="9157649" cy="43809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35677">
                  <a:extLst>
                    <a:ext uri="{9D8B030D-6E8A-4147-A177-3AD203B41FA5}">
                      <a16:colId xmlns:a16="http://schemas.microsoft.com/office/drawing/2014/main" xmlns="" val="2468270650"/>
                    </a:ext>
                  </a:extLst>
                </a:gridCol>
                <a:gridCol w="888943">
                  <a:extLst>
                    <a:ext uri="{9D8B030D-6E8A-4147-A177-3AD203B41FA5}">
                      <a16:colId xmlns:a16="http://schemas.microsoft.com/office/drawing/2014/main" xmlns="" val="3565009582"/>
                    </a:ext>
                  </a:extLst>
                </a:gridCol>
                <a:gridCol w="888943">
                  <a:extLst>
                    <a:ext uri="{9D8B030D-6E8A-4147-A177-3AD203B41FA5}">
                      <a16:colId xmlns:a16="http://schemas.microsoft.com/office/drawing/2014/main" xmlns="" val="3473570198"/>
                    </a:ext>
                  </a:extLst>
                </a:gridCol>
                <a:gridCol w="885112">
                  <a:extLst>
                    <a:ext uri="{9D8B030D-6E8A-4147-A177-3AD203B41FA5}">
                      <a16:colId xmlns:a16="http://schemas.microsoft.com/office/drawing/2014/main" xmlns="" val="872328486"/>
                    </a:ext>
                  </a:extLst>
                </a:gridCol>
                <a:gridCol w="885112">
                  <a:extLst>
                    <a:ext uri="{9D8B030D-6E8A-4147-A177-3AD203B41FA5}">
                      <a16:colId xmlns:a16="http://schemas.microsoft.com/office/drawing/2014/main" xmlns="" val="58166494"/>
                    </a:ext>
                  </a:extLst>
                </a:gridCol>
                <a:gridCol w="885112">
                  <a:extLst>
                    <a:ext uri="{9D8B030D-6E8A-4147-A177-3AD203B41FA5}">
                      <a16:colId xmlns:a16="http://schemas.microsoft.com/office/drawing/2014/main" xmlns="" val="2509680600"/>
                    </a:ext>
                  </a:extLst>
                </a:gridCol>
                <a:gridCol w="885112">
                  <a:extLst>
                    <a:ext uri="{9D8B030D-6E8A-4147-A177-3AD203B41FA5}">
                      <a16:colId xmlns:a16="http://schemas.microsoft.com/office/drawing/2014/main" xmlns="" val="1548686990"/>
                    </a:ext>
                  </a:extLst>
                </a:gridCol>
                <a:gridCol w="816142">
                  <a:extLst>
                    <a:ext uri="{9D8B030D-6E8A-4147-A177-3AD203B41FA5}">
                      <a16:colId xmlns:a16="http://schemas.microsoft.com/office/drawing/2014/main" xmlns="" val="1792765860"/>
                    </a:ext>
                  </a:extLst>
                </a:gridCol>
                <a:gridCol w="735677">
                  <a:extLst>
                    <a:ext uri="{9D8B030D-6E8A-4147-A177-3AD203B41FA5}">
                      <a16:colId xmlns:a16="http://schemas.microsoft.com/office/drawing/2014/main" xmlns="" val="3786620067"/>
                    </a:ext>
                  </a:extLst>
                </a:gridCol>
                <a:gridCol w="816142">
                  <a:extLst>
                    <a:ext uri="{9D8B030D-6E8A-4147-A177-3AD203B41FA5}">
                      <a16:colId xmlns:a16="http://schemas.microsoft.com/office/drawing/2014/main" xmlns="" val="4037935481"/>
                    </a:ext>
                  </a:extLst>
                </a:gridCol>
                <a:gridCol w="735677">
                  <a:extLst>
                    <a:ext uri="{9D8B030D-6E8A-4147-A177-3AD203B41FA5}">
                      <a16:colId xmlns:a16="http://schemas.microsoft.com/office/drawing/2014/main" xmlns="" val="3595605631"/>
                    </a:ext>
                  </a:extLst>
                </a:gridCol>
              </a:tblGrid>
              <a:tr h="25396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Random Forest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ANN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GTB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547303021"/>
                  </a:ext>
                </a:extLst>
              </a:tr>
              <a:tr h="317459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D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(y-y</a:t>
                      </a:r>
                      <a:r>
                        <a:rPr lang="en-US" sz="1100" u="none" strike="noStrike" baseline="-25000">
                          <a:effectLst/>
                        </a:rPr>
                        <a:t>ort</a:t>
                      </a:r>
                      <a:r>
                        <a:rPr lang="en-US" sz="1100" u="none" strike="noStrike">
                          <a:effectLst/>
                        </a:rPr>
                        <a:t>)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prediction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(y</a:t>
                      </a:r>
                      <a:r>
                        <a:rPr lang="en-US" sz="1100" u="none" strike="noStrike" baseline="-25000">
                          <a:effectLst/>
                        </a:rPr>
                        <a:t>p</a:t>
                      </a:r>
                      <a:r>
                        <a:rPr lang="en-US" sz="1100" u="none" strike="noStrike">
                          <a:effectLst/>
                        </a:rPr>
                        <a:t>-y</a:t>
                      </a:r>
                      <a:r>
                        <a:rPr lang="en-US" sz="1100" u="none" strike="noStrike" baseline="-25000">
                          <a:effectLst/>
                        </a:rPr>
                        <a:t>ort</a:t>
                      </a:r>
                      <a:r>
                        <a:rPr lang="en-US" sz="1100" u="none" strike="noStrike">
                          <a:effectLst/>
                        </a:rPr>
                        <a:t>)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prediction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(y</a:t>
                      </a:r>
                      <a:r>
                        <a:rPr lang="en-US" sz="1100" u="none" strike="noStrike" baseline="-25000">
                          <a:effectLst/>
                        </a:rPr>
                        <a:t>p</a:t>
                      </a:r>
                      <a:r>
                        <a:rPr lang="en-US" sz="1100" u="none" strike="noStrike">
                          <a:effectLst/>
                        </a:rPr>
                        <a:t>-y</a:t>
                      </a:r>
                      <a:r>
                        <a:rPr lang="en-US" sz="1100" u="none" strike="noStrike" baseline="-25000">
                          <a:effectLst/>
                        </a:rPr>
                        <a:t>ort</a:t>
                      </a:r>
                      <a:r>
                        <a:rPr lang="en-US" sz="1100" u="none" strike="noStrike">
                          <a:effectLst/>
                        </a:rPr>
                        <a:t>)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prediction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(y</a:t>
                      </a:r>
                      <a:r>
                        <a:rPr lang="en-US" sz="1100" u="none" strike="noStrike" baseline="-25000">
                          <a:effectLst/>
                        </a:rPr>
                        <a:t>p</a:t>
                      </a:r>
                      <a:r>
                        <a:rPr lang="en-US" sz="1100" u="none" strike="noStrike">
                          <a:effectLst/>
                        </a:rPr>
                        <a:t>-y</a:t>
                      </a:r>
                      <a:r>
                        <a:rPr lang="en-US" sz="1100" u="none" strike="noStrike" baseline="-25000">
                          <a:effectLst/>
                        </a:rPr>
                        <a:t>ort</a:t>
                      </a:r>
                      <a:r>
                        <a:rPr lang="en-US" sz="1100" u="none" strike="noStrike">
                          <a:effectLst/>
                        </a:rPr>
                        <a:t>)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prediction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(y</a:t>
                      </a:r>
                      <a:r>
                        <a:rPr lang="en-US" sz="1100" u="none" strike="noStrike" baseline="-25000">
                          <a:effectLst/>
                        </a:rPr>
                        <a:t>p</a:t>
                      </a:r>
                      <a:r>
                        <a:rPr lang="en-US" sz="1100" u="none" strike="noStrike">
                          <a:effectLst/>
                        </a:rPr>
                        <a:t>-y</a:t>
                      </a:r>
                      <a:r>
                        <a:rPr lang="en-US" sz="1100" u="none" strike="noStrike" baseline="-25000">
                          <a:effectLst/>
                        </a:rPr>
                        <a:t>ort</a:t>
                      </a:r>
                      <a:r>
                        <a:rPr lang="en-US" sz="1100" u="none" strike="noStrike">
                          <a:effectLst/>
                        </a:rPr>
                        <a:t>)</a:t>
                      </a:r>
                      <a:r>
                        <a:rPr lang="en-US" sz="1100" u="none" strike="noStrike" baseline="30000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1185651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0.460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394255310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53.82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55.32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2.263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56.90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9.512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53.820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162654420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8.38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59.92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1.469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58.710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142866592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0.507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57.82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2.383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55.66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13.698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59.360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779100144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1.83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0.027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62.18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3.722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195497798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29.99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3.303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67.21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70.304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10.396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450659808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0.047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62.18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2.400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60.440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729711984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106.21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69.68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4.964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65.11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46.178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68.32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12.871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71.910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738639060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59.07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6.42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0.199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60.024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355551000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65.91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0.911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0.757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66.96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4.014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70.265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28.144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1652003058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12.14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57.66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4.556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60.80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7.167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58.120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984414948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57.46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17.17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58.89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2.053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57.55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55.21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5.062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60.111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7.030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920899418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68.73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50.78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66.61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4.477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66.42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5.316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68.93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0.038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68.730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155430705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61.51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1.589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0.383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1.050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60.600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0.829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4133077883"/>
                  </a:ext>
                </a:extLst>
              </a:tr>
              <a:tr h="253967"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0.16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60.26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3.059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62.04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0.001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64.23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4.935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62.010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0.000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254299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98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95139" y="301027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RF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265952" y="3010271"/>
            <a:ext cx="56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SVR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295139" y="6283841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ANN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265952" y="6240712"/>
            <a:ext cx="60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smtClean="0"/>
              <a:t>GTB</a:t>
            </a:r>
            <a:endParaRPr lang="en-US" dirty="0"/>
          </a:p>
        </p:txBody>
      </p:sp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724792"/>
              </p:ext>
            </p:extLst>
          </p:nvPr>
        </p:nvGraphicFramePr>
        <p:xfrm>
          <a:off x="220187" y="279317"/>
          <a:ext cx="4591050" cy="273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50030"/>
              </p:ext>
            </p:extLst>
          </p:nvPr>
        </p:nvGraphicFramePr>
        <p:xfrm>
          <a:off x="5253517" y="279317"/>
          <a:ext cx="4591050" cy="273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5226671"/>
              </p:ext>
            </p:extLst>
          </p:nvPr>
        </p:nvGraphicFramePr>
        <p:xfrm>
          <a:off x="307551" y="3509758"/>
          <a:ext cx="4591050" cy="273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977385"/>
              </p:ext>
            </p:extLst>
          </p:nvPr>
        </p:nvGraphicFramePr>
        <p:xfrm>
          <a:off x="5272753" y="3379603"/>
          <a:ext cx="4591050" cy="273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81271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F75CCC6-1501-01FD-F85F-FF820436B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Sonuçlar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2AD36FC9-8218-E503-57FE-306A883F3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243822"/>
              </p:ext>
            </p:extLst>
          </p:nvPr>
        </p:nvGraphicFramePr>
        <p:xfrm>
          <a:off x="2548287" y="1930400"/>
          <a:ext cx="4794208" cy="1645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9912">
                  <a:extLst>
                    <a:ext uri="{9D8B030D-6E8A-4147-A177-3AD203B41FA5}">
                      <a16:colId xmlns:a16="http://schemas.microsoft.com/office/drawing/2014/main" xmlns="" val="1015100880"/>
                    </a:ext>
                  </a:extLst>
                </a:gridCol>
                <a:gridCol w="1178099">
                  <a:extLst>
                    <a:ext uri="{9D8B030D-6E8A-4147-A177-3AD203B41FA5}">
                      <a16:colId xmlns:a16="http://schemas.microsoft.com/office/drawing/2014/main" xmlns="" val="435728981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xmlns="" val="2038805002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xmlns="" val="3049731337"/>
                    </a:ext>
                  </a:extLst>
                </a:gridCol>
                <a:gridCol w="785399">
                  <a:extLst>
                    <a:ext uri="{9D8B030D-6E8A-4147-A177-3AD203B41FA5}">
                      <a16:colId xmlns:a16="http://schemas.microsoft.com/office/drawing/2014/main" xmlns="" val="2902151649"/>
                    </a:ext>
                  </a:extLst>
                </a:gridCol>
              </a:tblGrid>
              <a:tr h="781632"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Random Forest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ANN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SVR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GTB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417873638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R2 (%)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96.125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81.81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71.859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99.97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3365021493"/>
                  </a:ext>
                </a:extLst>
              </a:tr>
              <a:tr h="431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PredR2 (%)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85.81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77.26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87.211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28.34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xmlns="" val="273106683"/>
                  </a:ext>
                </a:extLst>
              </a:tr>
            </a:tbl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xmlns="" id="{F981EABA-E1DD-AD79-8F96-2B007C99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3875964"/>
            <a:ext cx="9491902" cy="27200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/>
              <a:t>Hiperparametreler değiştirilerek daha yüksek R</a:t>
            </a:r>
            <a:r>
              <a:rPr lang="tr-TR" sz="2000" baseline="30000" dirty="0" smtClean="0"/>
              <a:t>2</a:t>
            </a:r>
            <a:r>
              <a:rPr lang="tr-TR" sz="2000" dirty="0" smtClean="0"/>
              <a:t> değerlerine ulaşılabilir</a:t>
            </a:r>
          </a:p>
          <a:p>
            <a:pPr>
              <a:lnSpc>
                <a:spcPct val="150000"/>
              </a:lnSpc>
            </a:pPr>
            <a:r>
              <a:rPr lang="tr-TR" sz="2000" dirty="0" smtClean="0"/>
              <a:t>Hiperparametre seçimi başlı başına bir optimizasyon konusudur</a:t>
            </a:r>
          </a:p>
          <a:p>
            <a:pPr>
              <a:lnSpc>
                <a:spcPct val="150000"/>
              </a:lnSpc>
            </a:pP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40269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Değerlendirme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/>
              <a:t>Çok</a:t>
            </a:r>
            <a:r>
              <a:rPr lang="en-US" sz="2000" dirty="0" smtClean="0"/>
              <a:t> </a:t>
            </a:r>
            <a:r>
              <a:rPr lang="en-US" sz="2000" dirty="0" err="1"/>
              <a:t>değişkenli</a:t>
            </a:r>
            <a:r>
              <a:rPr lang="en-US" sz="2000" dirty="0"/>
              <a:t> </a:t>
            </a:r>
            <a:r>
              <a:rPr lang="en-US" sz="2000" dirty="0" err="1"/>
              <a:t>karmaşık</a:t>
            </a:r>
            <a:r>
              <a:rPr lang="en-US" sz="2000" dirty="0"/>
              <a:t> </a:t>
            </a:r>
            <a:r>
              <a:rPr lang="tr-TR" sz="2000" dirty="0"/>
              <a:t>veri </a:t>
            </a:r>
            <a:r>
              <a:rPr lang="en-US" sz="2000" dirty="0" err="1"/>
              <a:t>setlerinde</a:t>
            </a:r>
            <a:r>
              <a:rPr lang="en-US" sz="2000" dirty="0"/>
              <a:t> </a:t>
            </a:r>
            <a:r>
              <a:rPr lang="en-US" sz="2000" dirty="0" err="1"/>
              <a:t>istatiksel</a:t>
            </a:r>
            <a:r>
              <a:rPr lang="en-US" sz="2000" dirty="0"/>
              <a:t> </a:t>
            </a:r>
            <a:r>
              <a:rPr lang="en-US" sz="2000" dirty="0" err="1"/>
              <a:t>yöntemlere</a:t>
            </a:r>
            <a:r>
              <a:rPr lang="en-US" sz="2000" dirty="0"/>
              <a:t> </a:t>
            </a:r>
            <a:r>
              <a:rPr lang="en-US" sz="2000" dirty="0" err="1"/>
              <a:t>göre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yüksek</a:t>
            </a:r>
            <a:r>
              <a:rPr lang="en-US" sz="2000" dirty="0"/>
              <a:t> </a:t>
            </a:r>
            <a:r>
              <a:rPr lang="en-US" sz="2000" dirty="0" err="1"/>
              <a:t>verimli</a:t>
            </a:r>
            <a:r>
              <a:rPr lang="en-US" sz="2000" dirty="0"/>
              <a:t> </a:t>
            </a:r>
            <a:r>
              <a:rPr lang="en-US" sz="2000" dirty="0" err="1"/>
              <a:t>tahminler</a:t>
            </a:r>
            <a:r>
              <a:rPr lang="en-US" sz="2000" dirty="0"/>
              <a:t> </a:t>
            </a:r>
            <a:r>
              <a:rPr lang="en-US" sz="2000" dirty="0" err="1"/>
              <a:t>yapabilen</a:t>
            </a:r>
            <a:r>
              <a:rPr lang="en-US" sz="2000" dirty="0"/>
              <a:t> </a:t>
            </a:r>
            <a:r>
              <a:rPr lang="en-US" sz="2000" dirty="0" err="1"/>
              <a:t>makine</a:t>
            </a:r>
            <a:r>
              <a:rPr lang="en-US" sz="2000" dirty="0"/>
              <a:t> </a:t>
            </a:r>
            <a:r>
              <a:rPr lang="en-US" sz="2000" dirty="0" err="1"/>
              <a:t>öğrenmesi</a:t>
            </a:r>
            <a:r>
              <a:rPr lang="en-US" sz="2000" dirty="0"/>
              <a:t> </a:t>
            </a:r>
            <a:r>
              <a:rPr lang="en-US" sz="2000" dirty="0" err="1"/>
              <a:t>yöntemleri</a:t>
            </a:r>
            <a:r>
              <a:rPr lang="en-US" sz="2000" dirty="0"/>
              <a:t> </a:t>
            </a:r>
            <a:r>
              <a:rPr lang="en-US" sz="2000" dirty="0" err="1"/>
              <a:t>sayesinde</a:t>
            </a:r>
            <a:r>
              <a:rPr lang="en-US" sz="2000" dirty="0"/>
              <a:t> “pattern search”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stokastik</a:t>
            </a:r>
            <a:r>
              <a:rPr lang="en-US" sz="2000" dirty="0"/>
              <a:t> </a:t>
            </a:r>
            <a:r>
              <a:rPr lang="en-US" sz="2000" dirty="0" err="1"/>
              <a:t>optimizasyon</a:t>
            </a:r>
            <a:r>
              <a:rPr lang="en-US" sz="2000" dirty="0"/>
              <a:t> </a:t>
            </a:r>
            <a:r>
              <a:rPr lang="en-US" sz="2000" dirty="0" err="1"/>
              <a:t>yöntemleri</a:t>
            </a:r>
            <a:r>
              <a:rPr lang="tr-TR" sz="2000" dirty="0"/>
              <a:t> güvenli bir şekilde kullanılabilir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896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2B97BB-5C39-F735-498F-D869EC1F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219200"/>
          </a:xfrm>
        </p:spPr>
        <p:txBody>
          <a:bodyPr/>
          <a:lstStyle/>
          <a:p>
            <a:r>
              <a:rPr lang="tr-TR" dirty="0" smtClean="0"/>
              <a:t>Optimizasyon Yöntemleri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981EABA-E1DD-AD79-8F96-2B007C996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0982"/>
            <a:ext cx="9491902" cy="50569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/>
              <a:t>Optimizasyon</a:t>
            </a:r>
            <a:r>
              <a:rPr lang="en-US" sz="2400" dirty="0"/>
              <a:t> </a:t>
            </a:r>
            <a:r>
              <a:rPr lang="en-US" sz="2400" dirty="0" err="1"/>
              <a:t>yöntemleri</a:t>
            </a:r>
            <a:r>
              <a:rPr lang="en-US" sz="2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Response Surface Methodology (RSM</a:t>
            </a:r>
            <a:r>
              <a:rPr lang="en-US" sz="2000" dirty="0" smtClean="0"/>
              <a:t>)</a:t>
            </a:r>
            <a:endParaRPr lang="tr-TR" sz="2000" dirty="0" smtClean="0"/>
          </a:p>
          <a:p>
            <a:pPr lvl="2">
              <a:lnSpc>
                <a:spcPct val="150000"/>
              </a:lnSpc>
            </a:pPr>
            <a:r>
              <a:rPr lang="tr-TR" sz="1800" dirty="0" smtClean="0"/>
              <a:t>Belirli sayıda veri kullanır</a:t>
            </a:r>
            <a:endParaRPr lang="en-US" sz="1800" dirty="0"/>
          </a:p>
          <a:p>
            <a:pPr lvl="2">
              <a:lnSpc>
                <a:spcPct val="150000"/>
              </a:lnSpc>
            </a:pPr>
            <a:r>
              <a:rPr lang="en-US" sz="1800" dirty="0" err="1"/>
              <a:t>Üretilen</a:t>
            </a:r>
            <a:r>
              <a:rPr lang="en-US" sz="1800" dirty="0"/>
              <a:t> </a:t>
            </a:r>
            <a:r>
              <a:rPr lang="en-US" sz="1800" dirty="0" err="1"/>
              <a:t>polinomun</a:t>
            </a:r>
            <a:r>
              <a:rPr lang="en-US" sz="1800" dirty="0"/>
              <a:t> </a:t>
            </a:r>
            <a:r>
              <a:rPr lang="en-US" sz="1800" dirty="0" err="1"/>
              <a:t>türevini</a:t>
            </a:r>
            <a:r>
              <a:rPr lang="en-US" sz="1800" dirty="0"/>
              <a:t> </a:t>
            </a:r>
            <a:r>
              <a:rPr lang="en-US" sz="1800" dirty="0" err="1"/>
              <a:t>alır</a:t>
            </a:r>
            <a:r>
              <a:rPr lang="en-US" sz="1800" dirty="0"/>
              <a:t> </a:t>
            </a:r>
            <a:r>
              <a:rPr lang="en-US" sz="1800" dirty="0" err="1"/>
              <a:t>veya</a:t>
            </a:r>
            <a:r>
              <a:rPr lang="en-US" sz="1800" dirty="0"/>
              <a:t> </a:t>
            </a:r>
            <a:r>
              <a:rPr lang="en-US" sz="1800" dirty="0" err="1"/>
              <a:t>belirli</a:t>
            </a:r>
            <a:r>
              <a:rPr lang="en-US" sz="1800" dirty="0"/>
              <a:t> </a:t>
            </a:r>
            <a:r>
              <a:rPr lang="en-US" sz="1800" dirty="0" err="1"/>
              <a:t>sayıda</a:t>
            </a:r>
            <a:r>
              <a:rPr lang="en-US" sz="1800" dirty="0"/>
              <a:t> </a:t>
            </a:r>
            <a:r>
              <a:rPr lang="en-US" sz="1800" dirty="0" err="1"/>
              <a:t>tahmin</a:t>
            </a:r>
            <a:r>
              <a:rPr lang="en-US" sz="1800" dirty="0"/>
              <a:t> </a:t>
            </a:r>
            <a:r>
              <a:rPr lang="en-US" sz="1800" dirty="0" err="1"/>
              <a:t>kullanır</a:t>
            </a:r>
            <a:endParaRPr lang="en-US" sz="1800" dirty="0"/>
          </a:p>
          <a:p>
            <a:pPr lvl="1">
              <a:lnSpc>
                <a:spcPct val="150000"/>
              </a:lnSpc>
            </a:pPr>
            <a:r>
              <a:rPr lang="en-US" sz="2000" dirty="0"/>
              <a:t>“pattern search”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stokastik</a:t>
            </a:r>
            <a:r>
              <a:rPr lang="en-US" sz="2000" dirty="0"/>
              <a:t> </a:t>
            </a:r>
            <a:r>
              <a:rPr lang="en-US" sz="2000" dirty="0" err="1"/>
              <a:t>optimizasyon</a:t>
            </a:r>
            <a:r>
              <a:rPr lang="en-US" sz="2000" dirty="0"/>
              <a:t> </a:t>
            </a:r>
            <a:r>
              <a:rPr lang="en-US" sz="2000" dirty="0" err="1" smtClean="0"/>
              <a:t>yöntemleri</a:t>
            </a:r>
            <a:endParaRPr lang="tr-TR" sz="2000" dirty="0" smtClean="0"/>
          </a:p>
          <a:p>
            <a:pPr lvl="2">
              <a:lnSpc>
                <a:spcPct val="150000"/>
              </a:lnSpc>
            </a:pPr>
            <a:r>
              <a:rPr lang="tr-TR" sz="1800" dirty="0" smtClean="0"/>
              <a:t>Makine öğrenmesi yöntemleri kullanılabilir</a:t>
            </a:r>
            <a:endParaRPr lang="en-US" sz="1800" dirty="0"/>
          </a:p>
          <a:p>
            <a:pPr lvl="2">
              <a:lnSpc>
                <a:spcPct val="150000"/>
              </a:lnSpc>
            </a:pPr>
            <a:r>
              <a:rPr lang="en-US" sz="1800" dirty="0" err="1"/>
              <a:t>Çok</a:t>
            </a:r>
            <a:r>
              <a:rPr lang="en-US" sz="1800" dirty="0"/>
              <a:t> </a:t>
            </a:r>
            <a:r>
              <a:rPr lang="en-US" sz="1800" dirty="0" err="1"/>
              <a:t>sayıda</a:t>
            </a:r>
            <a:r>
              <a:rPr lang="en-US" sz="1800" dirty="0"/>
              <a:t> </a:t>
            </a:r>
            <a:r>
              <a:rPr lang="en-US" sz="1800" dirty="0" err="1"/>
              <a:t>tahmin</a:t>
            </a:r>
            <a:r>
              <a:rPr lang="en-US" sz="1800" dirty="0"/>
              <a:t> </a:t>
            </a:r>
            <a:r>
              <a:rPr lang="en-US" sz="1800" dirty="0" err="1" smtClean="0"/>
              <a:t>kullanır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22323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Pattern Search Optimizasyon </a:t>
            </a:r>
            <a:r>
              <a:rPr lang="tr-TR" dirty="0"/>
              <a:t>Yöntemleri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19707"/>
            <a:ext cx="9176350" cy="503563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000" dirty="0" smtClean="0"/>
              <a:t>Çözüm uzayında belirli bir noktada başlar ve arama modeline (pattern) dayanarak ilerler. Pattern genellikle geometrik bir şekildir.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Eğer</a:t>
            </a:r>
            <a:r>
              <a:rPr lang="en-US" sz="2000" dirty="0"/>
              <a:t> </a:t>
            </a:r>
            <a:r>
              <a:rPr lang="en-US" sz="2000" dirty="0" err="1"/>
              <a:t>yeni</a:t>
            </a:r>
            <a:r>
              <a:rPr lang="en-US" sz="2000" dirty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noktada</a:t>
            </a:r>
            <a:r>
              <a:rPr lang="en-US" sz="2000" dirty="0"/>
              <a:t>, </a:t>
            </a:r>
            <a:r>
              <a:rPr lang="en-US" sz="2000" dirty="0" err="1"/>
              <a:t>hedef</a:t>
            </a:r>
            <a:r>
              <a:rPr lang="en-US" sz="2000" dirty="0"/>
              <a:t> </a:t>
            </a:r>
            <a:r>
              <a:rPr lang="en-US" sz="2000" dirty="0" err="1"/>
              <a:t>fonksiyonun</a:t>
            </a:r>
            <a:r>
              <a:rPr lang="en-US" sz="2000" dirty="0"/>
              <a:t> </a:t>
            </a:r>
            <a:r>
              <a:rPr lang="en-US" sz="2000" dirty="0" err="1"/>
              <a:t>değeri</a:t>
            </a:r>
            <a:r>
              <a:rPr lang="en-US" sz="2000" dirty="0"/>
              <a:t> </a:t>
            </a:r>
            <a:r>
              <a:rPr lang="en-US" sz="2000" dirty="0" err="1"/>
              <a:t>mevcut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iyi</a:t>
            </a:r>
            <a:r>
              <a:rPr lang="en-US" sz="2000" dirty="0"/>
              <a:t> </a:t>
            </a:r>
            <a:r>
              <a:rPr lang="en-US" sz="2000" dirty="0" err="1"/>
              <a:t>değerden</a:t>
            </a:r>
            <a:r>
              <a:rPr lang="en-US" sz="2000" dirty="0"/>
              <a:t> </a:t>
            </a:r>
            <a:r>
              <a:rPr lang="en-US" sz="2000" dirty="0" err="1"/>
              <a:t>daha</a:t>
            </a:r>
            <a:r>
              <a:rPr lang="en-US" sz="2000" dirty="0"/>
              <a:t> </a:t>
            </a:r>
            <a:r>
              <a:rPr lang="en-US" sz="2000" dirty="0" err="1"/>
              <a:t>iyiyse</a:t>
            </a:r>
            <a:r>
              <a:rPr lang="en-US" sz="2000" dirty="0"/>
              <a:t>,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nokta</a:t>
            </a:r>
            <a:r>
              <a:rPr lang="en-US" sz="2000" dirty="0"/>
              <a:t> </a:t>
            </a:r>
            <a:r>
              <a:rPr lang="en-US" sz="2000" dirty="0" err="1"/>
              <a:t>yeni</a:t>
            </a:r>
            <a:r>
              <a:rPr lang="en-US" sz="2000" dirty="0"/>
              <a:t> "</a:t>
            </a:r>
            <a:r>
              <a:rPr lang="en-US" sz="2000" dirty="0" err="1"/>
              <a:t>en</a:t>
            </a:r>
            <a:r>
              <a:rPr lang="en-US" sz="2000" dirty="0"/>
              <a:t> </a:t>
            </a:r>
            <a:r>
              <a:rPr lang="en-US" sz="2000" dirty="0" err="1"/>
              <a:t>iyi</a:t>
            </a:r>
            <a:r>
              <a:rPr lang="en-US" sz="2000" dirty="0"/>
              <a:t> </a:t>
            </a:r>
            <a:r>
              <a:rPr lang="en-US" sz="2000" dirty="0" err="1"/>
              <a:t>nokta</a:t>
            </a:r>
            <a:r>
              <a:rPr lang="en-US" sz="2000" dirty="0"/>
              <a:t>" </a:t>
            </a:r>
            <a:r>
              <a:rPr lang="en-US" sz="2000" dirty="0" err="1"/>
              <a:t>olarak</a:t>
            </a:r>
            <a:r>
              <a:rPr lang="en-US" sz="2000" dirty="0"/>
              <a:t> </a:t>
            </a:r>
            <a:r>
              <a:rPr lang="en-US" sz="2000" dirty="0" err="1"/>
              <a:t>kabul</a:t>
            </a:r>
            <a:r>
              <a:rPr lang="en-US" sz="2000" dirty="0"/>
              <a:t> </a:t>
            </a:r>
            <a:r>
              <a:rPr lang="en-US" sz="2000" dirty="0" err="1"/>
              <a:t>edilir</a:t>
            </a:r>
            <a:r>
              <a:rPr lang="en-US" sz="2000" dirty="0"/>
              <a:t>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arama</a:t>
            </a:r>
            <a:r>
              <a:rPr lang="en-US" sz="2000" dirty="0"/>
              <a:t> </a:t>
            </a:r>
            <a:r>
              <a:rPr lang="en-US" sz="2000" dirty="0" err="1"/>
              <a:t>bu</a:t>
            </a:r>
            <a:r>
              <a:rPr lang="en-US" sz="2000" dirty="0"/>
              <a:t> </a:t>
            </a:r>
            <a:r>
              <a:rPr lang="en-US" sz="2000" dirty="0" err="1"/>
              <a:t>yeni</a:t>
            </a:r>
            <a:r>
              <a:rPr lang="en-US" sz="2000" dirty="0"/>
              <a:t> </a:t>
            </a:r>
            <a:r>
              <a:rPr lang="en-US" sz="2000" dirty="0" err="1"/>
              <a:t>noktadan</a:t>
            </a:r>
            <a:r>
              <a:rPr lang="en-US" sz="2000" dirty="0"/>
              <a:t> </a:t>
            </a:r>
            <a:r>
              <a:rPr lang="en-US" sz="2000" dirty="0" err="1"/>
              <a:t>devam</a:t>
            </a:r>
            <a:r>
              <a:rPr lang="en-US" sz="2000" dirty="0"/>
              <a:t> </a:t>
            </a:r>
            <a:r>
              <a:rPr lang="en-US" sz="2000" dirty="0" err="1"/>
              <a:t>eder</a:t>
            </a:r>
            <a:r>
              <a:rPr lang="en-US" sz="2000" dirty="0"/>
              <a:t>. </a:t>
            </a:r>
            <a:endParaRPr lang="tr-TR" sz="2000" dirty="0" smtClean="0"/>
          </a:p>
          <a:p>
            <a:pPr>
              <a:lnSpc>
                <a:spcPct val="150000"/>
              </a:lnSpc>
            </a:pPr>
            <a:r>
              <a:rPr lang="en-US" sz="2000" dirty="0" err="1" smtClean="0"/>
              <a:t>Eğer</a:t>
            </a:r>
            <a:r>
              <a:rPr lang="en-US" sz="2000" dirty="0" smtClean="0"/>
              <a:t> </a:t>
            </a:r>
            <a:r>
              <a:rPr lang="en-US" sz="2000" dirty="0" err="1"/>
              <a:t>bir</a:t>
            </a:r>
            <a:r>
              <a:rPr lang="en-US" sz="2000" dirty="0"/>
              <a:t> </a:t>
            </a:r>
            <a:r>
              <a:rPr lang="en-US" sz="2000" dirty="0" err="1"/>
              <a:t>dizi</a:t>
            </a:r>
            <a:r>
              <a:rPr lang="en-US" sz="2000" dirty="0"/>
              <a:t> </a:t>
            </a:r>
            <a:r>
              <a:rPr lang="en-US" sz="2000" dirty="0" err="1"/>
              <a:t>arama</a:t>
            </a:r>
            <a:r>
              <a:rPr lang="en-US" sz="2000" dirty="0"/>
              <a:t> </a:t>
            </a:r>
            <a:r>
              <a:rPr lang="en-US" sz="2000" dirty="0" err="1"/>
              <a:t>başarısız</a:t>
            </a:r>
            <a:r>
              <a:rPr lang="en-US" sz="2000" dirty="0"/>
              <a:t> </a:t>
            </a:r>
            <a:r>
              <a:rPr lang="en-US" sz="2000" dirty="0" err="1"/>
              <a:t>olursa</a:t>
            </a:r>
            <a:r>
              <a:rPr lang="en-US" sz="2000" dirty="0" smtClean="0"/>
              <a:t>,</a:t>
            </a:r>
            <a:r>
              <a:rPr lang="tr-TR" sz="2000" dirty="0" smtClean="0"/>
              <a:t> patternde değişiklik yapılır</a:t>
            </a:r>
            <a:r>
              <a:rPr lang="en-US" sz="2000" dirty="0" smtClean="0"/>
              <a:t> </a:t>
            </a:r>
            <a:r>
              <a:rPr lang="en-US" sz="2000" dirty="0" err="1" smtClean="0"/>
              <a:t>ve</a:t>
            </a:r>
            <a:r>
              <a:rPr lang="en-US" sz="2000" dirty="0" smtClean="0"/>
              <a:t> </a:t>
            </a:r>
            <a:r>
              <a:rPr lang="en-US" sz="2000" dirty="0" err="1"/>
              <a:t>arama</a:t>
            </a:r>
            <a:r>
              <a:rPr lang="en-US" sz="2000" dirty="0"/>
              <a:t> </a:t>
            </a:r>
            <a:r>
              <a:rPr lang="en-US" sz="2000" dirty="0" err="1"/>
              <a:t>süreci</a:t>
            </a:r>
            <a:r>
              <a:rPr lang="en-US" sz="2000" dirty="0"/>
              <a:t> </a:t>
            </a:r>
            <a:r>
              <a:rPr lang="en-US" sz="2000" dirty="0" err="1"/>
              <a:t>devam</a:t>
            </a:r>
            <a:r>
              <a:rPr lang="en-US" sz="2000" dirty="0"/>
              <a:t> </a:t>
            </a:r>
            <a:r>
              <a:rPr lang="en-US" sz="2000" dirty="0" err="1" smtClean="0"/>
              <a:t>eder</a:t>
            </a:r>
            <a:endParaRPr lang="tr-TR" sz="2000" dirty="0" smtClean="0"/>
          </a:p>
          <a:p>
            <a:pPr lvl="1">
              <a:lnSpc>
                <a:spcPct val="150000"/>
              </a:lnSpc>
            </a:pPr>
            <a:r>
              <a:rPr lang="tr-TR" sz="1800" dirty="0" smtClean="0"/>
              <a:t>Adım boyutu azaltma veya arttırma. Yön değiştirme</a:t>
            </a:r>
          </a:p>
          <a:p>
            <a:pPr>
              <a:lnSpc>
                <a:spcPct val="150000"/>
              </a:lnSpc>
            </a:pPr>
            <a:r>
              <a:rPr lang="en-US" sz="2000" dirty="0" err="1"/>
              <a:t>Nelder</a:t>
            </a:r>
            <a:r>
              <a:rPr lang="en-US" sz="2000" dirty="0"/>
              <a:t>-Mead </a:t>
            </a:r>
            <a:r>
              <a:rPr lang="en-US" sz="2000" dirty="0" err="1"/>
              <a:t>Simpleks</a:t>
            </a:r>
            <a:r>
              <a:rPr lang="en-US" sz="2000" dirty="0"/>
              <a:t> </a:t>
            </a:r>
            <a:r>
              <a:rPr lang="en-US" sz="2000" dirty="0" err="1" smtClean="0"/>
              <a:t>Arama</a:t>
            </a:r>
            <a:r>
              <a:rPr lang="tr-TR" sz="2000" dirty="0" smtClean="0"/>
              <a:t> ve </a:t>
            </a:r>
            <a:r>
              <a:rPr lang="en-US" sz="2000" dirty="0" err="1"/>
              <a:t>Döngüsel</a:t>
            </a:r>
            <a:r>
              <a:rPr lang="en-US" sz="2000" dirty="0"/>
              <a:t> </a:t>
            </a:r>
            <a:r>
              <a:rPr lang="en-US" sz="2000" dirty="0" err="1"/>
              <a:t>Koordinat</a:t>
            </a:r>
            <a:r>
              <a:rPr lang="en-US" sz="2000" dirty="0"/>
              <a:t> </a:t>
            </a:r>
            <a:r>
              <a:rPr lang="en-US" sz="2000" dirty="0" err="1" smtClean="0"/>
              <a:t>Arama</a:t>
            </a:r>
            <a:endParaRPr lang="tr-TR" sz="2000" dirty="0" smtClean="0"/>
          </a:p>
          <a:p>
            <a:pPr lvl="1"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244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221C3A-746F-E4D1-CDFD-B65EA81E6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Stokastik</a:t>
            </a:r>
            <a:r>
              <a:rPr lang="en-US" dirty="0"/>
              <a:t> </a:t>
            </a:r>
            <a:r>
              <a:rPr lang="en-US" dirty="0" err="1"/>
              <a:t>Optimizasyon</a:t>
            </a:r>
            <a:r>
              <a:rPr lang="en-US" dirty="0"/>
              <a:t> </a:t>
            </a:r>
            <a:r>
              <a:rPr lang="en-US" dirty="0" err="1"/>
              <a:t>Yöntemleri</a:t>
            </a:r>
            <a:r>
              <a:rPr lang="en-US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49A503-B0DF-0BDB-4ABC-9C863289D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51380"/>
            <a:ext cx="8596668" cy="431993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 smtClean="0"/>
              <a:t>Genetik</a:t>
            </a:r>
            <a:r>
              <a:rPr lang="en-US" sz="2400" dirty="0" smtClean="0"/>
              <a:t> </a:t>
            </a:r>
            <a:r>
              <a:rPr lang="en-US" sz="2400" dirty="0" err="1" smtClean="0"/>
              <a:t>Algoritma</a:t>
            </a:r>
            <a:endParaRPr lang="tr-TR" sz="2400" dirty="0" smtClean="0"/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Doğal seleksiyon ve mutasyon gibi konulardan esinlenmiştir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400" dirty="0" err="1"/>
              <a:t>Parçacık</a:t>
            </a:r>
            <a:r>
              <a:rPr lang="en-US" sz="2400" dirty="0"/>
              <a:t> </a:t>
            </a:r>
            <a:r>
              <a:rPr lang="en-US" sz="2400" dirty="0" err="1"/>
              <a:t>Sürü</a:t>
            </a:r>
            <a:r>
              <a:rPr lang="en-US" sz="2400" dirty="0"/>
              <a:t> </a:t>
            </a:r>
            <a:r>
              <a:rPr lang="en-US" sz="2400" dirty="0" err="1" smtClean="0"/>
              <a:t>Optimizasyonu</a:t>
            </a:r>
            <a:endParaRPr lang="tr-TR" sz="2400" dirty="0" smtClean="0"/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Kuş ve balık sürülerinin yiyecek arama davranışlarından esinlenmiştir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400" dirty="0" err="1" smtClean="0"/>
              <a:t>Problemin</a:t>
            </a:r>
            <a:r>
              <a:rPr lang="en-US" sz="2400" dirty="0" smtClean="0"/>
              <a:t> </a:t>
            </a:r>
            <a:r>
              <a:rPr lang="en-US" sz="2400" dirty="0" err="1" smtClean="0"/>
              <a:t>niteliğine</a:t>
            </a:r>
            <a:r>
              <a:rPr lang="en-US" sz="2400" dirty="0" smtClean="0"/>
              <a:t> </a:t>
            </a:r>
            <a:r>
              <a:rPr lang="en-US" sz="2400" dirty="0" err="1" smtClean="0"/>
              <a:t>ve</a:t>
            </a:r>
            <a:r>
              <a:rPr lang="en-US" sz="2400" dirty="0" smtClean="0"/>
              <a:t> </a:t>
            </a:r>
            <a:r>
              <a:rPr lang="en-US" sz="2400" dirty="0" err="1" smtClean="0"/>
              <a:t>parametreler</a:t>
            </a:r>
            <a:r>
              <a:rPr lang="en-US" sz="2400" dirty="0" smtClean="0"/>
              <a:t> </a:t>
            </a:r>
            <a:r>
              <a:rPr lang="en-US" sz="2400" dirty="0" err="1" smtClean="0"/>
              <a:t>arasındaki</a:t>
            </a:r>
            <a:r>
              <a:rPr lang="en-US" sz="2400" dirty="0" smtClean="0"/>
              <a:t> </a:t>
            </a:r>
            <a:r>
              <a:rPr lang="en-US" sz="2400" dirty="0" err="1" smtClean="0"/>
              <a:t>ilişkilere</a:t>
            </a:r>
            <a:r>
              <a:rPr lang="en-US" sz="2400" dirty="0" smtClean="0"/>
              <a:t> </a:t>
            </a:r>
            <a:r>
              <a:rPr lang="en-US" sz="2400" dirty="0" err="1" smtClean="0"/>
              <a:t>göre</a:t>
            </a:r>
            <a:r>
              <a:rPr lang="en-US" sz="2400" dirty="0" smtClean="0"/>
              <a:t> </a:t>
            </a:r>
            <a:r>
              <a:rPr lang="en-US" sz="2400" dirty="0" err="1" smtClean="0"/>
              <a:t>programatik</a:t>
            </a:r>
            <a:r>
              <a:rPr lang="en-US" sz="2400" dirty="0" smtClean="0"/>
              <a:t> </a:t>
            </a:r>
            <a:r>
              <a:rPr lang="en-US" sz="2400" dirty="0" err="1" smtClean="0"/>
              <a:t>olarak</a:t>
            </a:r>
            <a:r>
              <a:rPr lang="en-US" sz="2400" dirty="0" smtClean="0"/>
              <a:t> </a:t>
            </a:r>
            <a:r>
              <a:rPr lang="en-US" sz="2400" dirty="0" err="1" smtClean="0"/>
              <a:t>modifikasyona</a:t>
            </a:r>
            <a:r>
              <a:rPr lang="en-US" sz="2400" dirty="0" smtClean="0"/>
              <a:t> </a:t>
            </a:r>
            <a:r>
              <a:rPr lang="en-US" sz="2400" dirty="0" err="1" smtClean="0"/>
              <a:t>daha</a:t>
            </a:r>
            <a:r>
              <a:rPr lang="en-US" sz="2400" dirty="0" smtClean="0"/>
              <a:t> </a:t>
            </a:r>
            <a:r>
              <a:rPr lang="en-US" sz="2400" dirty="0" err="1" smtClean="0"/>
              <a:t>uyumludur</a:t>
            </a:r>
            <a:r>
              <a:rPr lang="en-US" sz="2400" dirty="0" smtClean="0"/>
              <a:t>.</a:t>
            </a:r>
            <a:r>
              <a:rPr lang="tr-TR" sz="2400" dirty="0" smtClean="0"/>
              <a:t> </a:t>
            </a:r>
            <a:r>
              <a:rPr lang="tr-TR" sz="2400" baseline="30000" dirty="0" smtClean="0"/>
              <a:t>[8]</a:t>
            </a:r>
            <a:endParaRPr lang="en-US" sz="2400" baseline="30000" dirty="0" smtClean="0"/>
          </a:p>
          <a:p>
            <a:pPr>
              <a:lnSpc>
                <a:spcPct val="150000"/>
              </a:lnSpc>
            </a:pP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157759-CCE0-D753-5859-AF3D747E8255}"/>
              </a:ext>
            </a:extLst>
          </p:cNvPr>
          <p:cNvSpPr txBox="1"/>
          <p:nvPr/>
        </p:nvSpPr>
        <p:spPr>
          <a:xfrm>
            <a:off x="0" y="6396335"/>
            <a:ext cx="12191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[</a:t>
            </a:r>
            <a:r>
              <a:rPr lang="tr-TR" sz="1200" dirty="0" smtClean="0"/>
              <a:t>8</a:t>
            </a:r>
            <a:r>
              <a:rPr lang="en-US" sz="1200" dirty="0" smtClean="0"/>
              <a:t>]: </a:t>
            </a:r>
            <a:r>
              <a:rPr lang="en-US" sz="1200" dirty="0" err="1"/>
              <a:t>Uzdiyem,O</a:t>
            </a:r>
            <a:r>
              <a:rPr lang="en-US" sz="1200" dirty="0"/>
              <a:t>., </a:t>
            </a:r>
            <a:r>
              <a:rPr lang="en-US" sz="1200" i="1" dirty="0" err="1"/>
              <a:t>Çok</a:t>
            </a:r>
            <a:r>
              <a:rPr lang="en-US" sz="1200" i="1" dirty="0"/>
              <a:t> </a:t>
            </a:r>
            <a:r>
              <a:rPr lang="en-US" sz="1200" i="1" dirty="0" err="1"/>
              <a:t>tesirli</a:t>
            </a:r>
            <a:r>
              <a:rPr lang="en-US" sz="1200" i="1" dirty="0"/>
              <a:t> </a:t>
            </a:r>
            <a:r>
              <a:rPr lang="en-US" sz="1200" i="1" dirty="0" err="1"/>
              <a:t>evaporasyon</a:t>
            </a:r>
            <a:r>
              <a:rPr lang="en-US" sz="1200" i="1" dirty="0"/>
              <a:t> </a:t>
            </a:r>
            <a:r>
              <a:rPr lang="en-US" sz="1200" i="1" dirty="0" err="1"/>
              <a:t>sistemlerinin</a:t>
            </a:r>
            <a:r>
              <a:rPr lang="en-US" sz="1200" i="1" dirty="0"/>
              <a:t> </a:t>
            </a:r>
            <a:r>
              <a:rPr lang="en-US" sz="1200" i="1" dirty="0" err="1"/>
              <a:t>metasezgisel</a:t>
            </a:r>
            <a:r>
              <a:rPr lang="en-US" sz="1200" i="1" dirty="0"/>
              <a:t> </a:t>
            </a:r>
            <a:r>
              <a:rPr lang="en-US" sz="1200" i="1" dirty="0" err="1"/>
              <a:t>hibrit</a:t>
            </a:r>
            <a:r>
              <a:rPr lang="en-US" sz="1200" i="1" dirty="0"/>
              <a:t> </a:t>
            </a:r>
            <a:r>
              <a:rPr lang="en-US" sz="1200" i="1" dirty="0" err="1"/>
              <a:t>algoritmalar</a:t>
            </a:r>
            <a:r>
              <a:rPr lang="en-US" sz="1200" i="1" dirty="0"/>
              <a:t> </a:t>
            </a:r>
            <a:r>
              <a:rPr lang="en-US" sz="1200" i="1" dirty="0" err="1"/>
              <a:t>kullanılarak</a:t>
            </a:r>
            <a:r>
              <a:rPr lang="en-US" sz="1200" i="1" dirty="0"/>
              <a:t> </a:t>
            </a:r>
            <a:r>
              <a:rPr lang="en-US" sz="1200" i="1" dirty="0" err="1"/>
              <a:t>optimizasyonu</a:t>
            </a:r>
            <a:r>
              <a:rPr lang="en-US" sz="1200" i="1" dirty="0"/>
              <a:t>(</a:t>
            </a:r>
            <a:r>
              <a:rPr lang="en-US" sz="1200" i="1" dirty="0" err="1"/>
              <a:t>Yüksek</a:t>
            </a:r>
            <a:r>
              <a:rPr lang="en-US" sz="1200" i="1" dirty="0"/>
              <a:t> </a:t>
            </a:r>
            <a:r>
              <a:rPr lang="en-US" sz="1200" i="1" dirty="0" err="1"/>
              <a:t>Lisan</a:t>
            </a:r>
            <a:r>
              <a:rPr lang="en-US" sz="1200" i="1" dirty="0"/>
              <a:t> </a:t>
            </a:r>
            <a:r>
              <a:rPr lang="en-US" sz="1200" i="1" dirty="0" err="1"/>
              <a:t>Tezi</a:t>
            </a:r>
            <a:r>
              <a:rPr lang="en-US" sz="1200" i="1" dirty="0"/>
              <a:t>)</a:t>
            </a:r>
            <a:r>
              <a:rPr lang="en-US" sz="1200" dirty="0"/>
              <a:t>, </a:t>
            </a:r>
            <a:r>
              <a:rPr lang="en-US" sz="1200" dirty="0" err="1"/>
              <a:t>Ege</a:t>
            </a:r>
            <a:r>
              <a:rPr lang="en-US" sz="1200" dirty="0"/>
              <a:t> </a:t>
            </a:r>
            <a:r>
              <a:rPr lang="en-US" sz="1200" dirty="0" err="1"/>
              <a:t>Üniversitesi</a:t>
            </a:r>
            <a:r>
              <a:rPr lang="en-US" sz="1200" dirty="0"/>
              <a:t> </a:t>
            </a:r>
            <a:r>
              <a:rPr lang="en-US" sz="1200" dirty="0" err="1"/>
              <a:t>Kimya</a:t>
            </a:r>
            <a:r>
              <a:rPr lang="en-US" sz="1200" dirty="0"/>
              <a:t> </a:t>
            </a:r>
            <a:r>
              <a:rPr lang="en-US" sz="1200" dirty="0" err="1"/>
              <a:t>Mühendisliği</a:t>
            </a:r>
            <a:r>
              <a:rPr lang="en-US" sz="1200" dirty="0"/>
              <a:t>. (</a:t>
            </a:r>
            <a:r>
              <a:rPr lang="en-US" sz="1200" dirty="0" err="1"/>
              <a:t>Danışman</a:t>
            </a:r>
            <a:r>
              <a:rPr lang="en-US" sz="1200" dirty="0"/>
              <a:t>: Y. </a:t>
            </a:r>
            <a:r>
              <a:rPr lang="en-US" sz="1200" dirty="0" err="1"/>
              <a:t>Özçelik</a:t>
            </a:r>
            <a:r>
              <a:rPr lang="en-US" sz="12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56217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26" y="3624790"/>
            <a:ext cx="4194220" cy="29562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90411"/>
          </a:xfrm>
        </p:spPr>
        <p:txBody>
          <a:bodyPr/>
          <a:lstStyle/>
          <a:p>
            <a:r>
              <a:rPr lang="en-US" dirty="0" err="1"/>
              <a:t>Parçacık</a:t>
            </a:r>
            <a:r>
              <a:rPr lang="en-US" dirty="0"/>
              <a:t> </a:t>
            </a:r>
            <a:r>
              <a:rPr lang="en-US" dirty="0" err="1"/>
              <a:t>Sürü</a:t>
            </a:r>
            <a:r>
              <a:rPr lang="en-US" dirty="0"/>
              <a:t> </a:t>
            </a:r>
            <a:r>
              <a:rPr lang="en-US" dirty="0" err="1" smtClean="0"/>
              <a:t>Optimizasyonu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16326"/>
            <a:ext cx="8847786" cy="28398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 smtClean="0"/>
              <a:t>PSO</a:t>
            </a:r>
            <a:r>
              <a:rPr lang="tr-TR" sz="2400" dirty="0" smtClean="0"/>
              <a:t>, kuş sürülerinin yiyecek arama davranışını taklit eder:</a:t>
            </a:r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Güzel yiyecek bulan kuşlar(parçacık), öterek sürünün diğer üyelerini haberdar eder.</a:t>
            </a:r>
            <a:endParaRPr lang="tr-TR" sz="2000" dirty="0"/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Her bir parçacık çağrılara kulak verir ancak kendi yiyecek bulduğu bölgeleri de hafızasında tutmaya devam eder</a:t>
            </a:r>
            <a:endParaRPr lang="tr-TR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581001"/>
            <a:ext cx="88477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[9]: Clerc, M.,</a:t>
            </a:r>
            <a:r>
              <a:rPr lang="tr-TR" sz="1200" i="1" dirty="0" smtClean="0"/>
              <a:t> Particle Swarm Optimization</a:t>
            </a:r>
            <a:r>
              <a:rPr lang="tr-TR" sz="1200" dirty="0" smtClean="0"/>
              <a:t>, ISTE Ltd., 2006, </a:t>
            </a:r>
            <a:r>
              <a:rPr lang="en-US" sz="1200" dirty="0" smtClean="0"/>
              <a:t>ISBN-10:1-905209-04-5</a:t>
            </a:r>
            <a:endParaRPr lang="en-US" sz="1200" i="1" dirty="0"/>
          </a:p>
        </p:txBody>
      </p:sp>
      <p:sp>
        <p:nvSpPr>
          <p:cNvPr id="6" name="TextBox 5"/>
          <p:cNvSpPr txBox="1"/>
          <p:nvPr/>
        </p:nvSpPr>
        <p:spPr>
          <a:xfrm>
            <a:off x="10491988" y="6581001"/>
            <a:ext cx="677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[9]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45774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Parçacık</a:t>
            </a:r>
            <a:r>
              <a:rPr lang="en-US" dirty="0"/>
              <a:t> </a:t>
            </a:r>
            <a:r>
              <a:rPr lang="en-US" dirty="0" err="1"/>
              <a:t>Sürü</a:t>
            </a:r>
            <a:r>
              <a:rPr lang="en-US" dirty="0"/>
              <a:t> </a:t>
            </a:r>
            <a:r>
              <a:rPr lang="en-US" dirty="0" err="1"/>
              <a:t>Optimizasyonu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468193"/>
            <a:ext cx="9189998" cy="457317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tr-TR" sz="2400" dirty="0" smtClean="0"/>
              <a:t>Biyokütle özelliklerini kullanarak ve proses koşullarını </a:t>
            </a:r>
            <a:r>
              <a:rPr lang="tr-TR" sz="2400" dirty="0" smtClean="0"/>
              <a:t>manipule </a:t>
            </a:r>
            <a:r>
              <a:rPr lang="tr-TR" sz="2400" dirty="0" smtClean="0"/>
              <a:t>ederek biyokömür verimi optimizasyonu </a:t>
            </a:r>
            <a:r>
              <a:rPr lang="tr-TR" sz="2400" baseline="30000" dirty="0" smtClean="0"/>
              <a:t>[10]</a:t>
            </a:r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Support Vector Regression ve Decision Tree</a:t>
            </a:r>
          </a:p>
          <a:p>
            <a:pPr lvl="1">
              <a:lnSpc>
                <a:spcPct val="150000"/>
              </a:lnSpc>
            </a:pPr>
            <a:r>
              <a:rPr lang="tr-TR" sz="2000" dirty="0" smtClean="0"/>
              <a:t>Genetik Algoritma ve Parçacık Sürü Optimizasyonu</a:t>
            </a: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396335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 smtClean="0"/>
              <a:t>[10]: </a:t>
            </a:r>
            <a:r>
              <a:rPr lang="tr-TR" sz="1200" dirty="0"/>
              <a:t>Haq,Z.U., Ullah,H., Khan,M.N.A., Naqvi,S.R., Ahad,A., Amin,N.A.S., Comparative study of machine learning methods integrated with genetic algorithm and particle swarm optimization for bio-char yield prediction, "Bioresource Technology", 363(2022)128008</a:t>
            </a:r>
            <a:endParaRPr lang="en-US" sz="1200" i="1" dirty="0"/>
          </a:p>
        </p:txBody>
      </p:sp>
    </p:spTree>
    <p:extLst>
      <p:ext uri="{BB962C8B-B14F-4D97-AF65-F5344CB8AC3E}">
        <p14:creationId xmlns:p14="http://schemas.microsoft.com/office/powerpoint/2010/main" val="289670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827524" y="463189"/>
            <a:ext cx="7920880" cy="496855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</a:t>
            </a:r>
            <a:r>
              <a:rPr lang="tr-TR" sz="5400" b="1" dirty="0" smtClean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Vaktiniz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</a:t>
            </a:r>
            <a:r>
              <a:rPr lang="tr-TR" sz="5400" b="1" dirty="0" smtClean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ve ilginiz 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</a:t>
            </a:r>
            <a:r>
              <a:rPr lang="tr-TR" sz="5400" b="1" dirty="0" smtClean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için</a:t>
            </a: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</a:t>
            </a:r>
            <a:r>
              <a:rPr lang="tr-TR" sz="5400" b="1" dirty="0" smtClean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						teşekkürler</a:t>
            </a:r>
            <a:endParaRPr lang="tr-TR" sz="5400" b="1" dirty="0">
              <a:solidFill>
                <a:schemeClr val="accent2">
                  <a:lumMod val="75000"/>
                </a:schemeClr>
              </a:solidFill>
              <a:latin typeface="Harrington" pitchFamily="82" charset="0"/>
            </a:endParaRPr>
          </a:p>
          <a:p>
            <a:pPr>
              <a:buNone/>
            </a:pPr>
            <a:r>
              <a:rPr lang="tr-TR" sz="54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                     </a:t>
            </a:r>
            <a:r>
              <a:rPr lang="tr-TR" sz="7200" b="1" dirty="0">
                <a:solidFill>
                  <a:schemeClr val="accent2">
                    <a:lumMod val="75000"/>
                  </a:schemeClr>
                </a:solidFill>
                <a:latin typeface="Harrington" pitchFamily="82" charset="0"/>
              </a:rPr>
              <a:t>…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280804" y="5431741"/>
            <a:ext cx="7467600" cy="122318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Wingdings"/>
              <a:buNone/>
            </a:pPr>
            <a:r>
              <a:rPr lang="tr-TR" dirty="0"/>
              <a:t>Orhun Uzdiyem</a:t>
            </a:r>
          </a:p>
          <a:p>
            <a:pPr algn="ctr">
              <a:buFont typeface="Wingdings"/>
              <a:buNone/>
            </a:pPr>
            <a:r>
              <a:rPr lang="tr-TR" dirty="0">
                <a:hlinkClick r:id="rId3"/>
              </a:rPr>
              <a:t>orhun.uzdiyem@gmail.com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045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1"/>
    </mc:Choice>
    <mc:Fallback xmlns="">
      <p:transition spd="slow" advTm="672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7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6838</TotalTime>
  <Words>2245</Words>
  <Application>Microsoft Office PowerPoint</Application>
  <PresentationFormat>Widescreen</PresentationFormat>
  <Paragraphs>517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Calibri</vt:lpstr>
      <vt:lpstr>Courier New</vt:lpstr>
      <vt:lpstr>Harrington</vt:lpstr>
      <vt:lpstr>Söhne</vt:lpstr>
      <vt:lpstr>Trebuchet MS</vt:lpstr>
      <vt:lpstr>Wingdings</vt:lpstr>
      <vt:lpstr>Wingdings 3</vt:lpstr>
      <vt:lpstr>Facet</vt:lpstr>
      <vt:lpstr>Piroliz Sistemlerinde Makine Öğrenmesi ile Öngörü ve Optimizasyon Yöntemleri</vt:lpstr>
      <vt:lpstr>İçerik</vt:lpstr>
      <vt:lpstr>Makine Öğrenmesi ile  Regresyon</vt:lpstr>
      <vt:lpstr>Makine Öğrenmesi</vt:lpstr>
      <vt:lpstr>Gözetimli Makine Öğrenmesi</vt:lpstr>
      <vt:lpstr>Gözetimli Makine Öğrenmesi ile Regresyon</vt:lpstr>
      <vt:lpstr>Random Forest - RF (Rastgele Karar Ormanları)</vt:lpstr>
      <vt:lpstr>Decision Tree (Karar Ağacı)</vt:lpstr>
      <vt:lpstr>Karar Ağacı</vt:lpstr>
      <vt:lpstr>Karar Ağacı</vt:lpstr>
      <vt:lpstr>Karar Ağacı</vt:lpstr>
      <vt:lpstr>Karar Ağacı</vt:lpstr>
      <vt:lpstr>Karar Ağacı</vt:lpstr>
      <vt:lpstr>Rastgele Karar Ormanları</vt:lpstr>
      <vt:lpstr>Rastgele Karar Ormanları</vt:lpstr>
      <vt:lpstr>Rastgele Karar Ormanları - Pseudokod</vt:lpstr>
      <vt:lpstr>Rastgele Karar Ormanları - Pseudokod</vt:lpstr>
      <vt:lpstr>Artificial Neural Network - ANN (Yapay Sinir Ağları)</vt:lpstr>
      <vt:lpstr>Yapay Sinir Ağları</vt:lpstr>
      <vt:lpstr>Yapay Sinir Ağları</vt:lpstr>
      <vt:lpstr>Yapay Sinir Ağları</vt:lpstr>
      <vt:lpstr>Makine Öğrenmesi Yöntemleri</vt:lpstr>
      <vt:lpstr>Makine Öğrenmesi Yöntemleri</vt:lpstr>
      <vt:lpstr>Makine Öğrenmesi Yöntemleri</vt:lpstr>
      <vt:lpstr>Örnek Çalışma: Biyokömürleştirme</vt:lpstr>
      <vt:lpstr>Piroliz</vt:lpstr>
      <vt:lpstr>Piroliz ile Biyokömürleştirme</vt:lpstr>
      <vt:lpstr>Deney Verisi</vt:lpstr>
      <vt:lpstr>Deney Verisi</vt:lpstr>
      <vt:lpstr>Python Kodları</vt:lpstr>
      <vt:lpstr>Python Kodları – Neural Network</vt:lpstr>
      <vt:lpstr>Python Kodları – Neural Network</vt:lpstr>
      <vt:lpstr>Python Kodları – Random Forest</vt:lpstr>
      <vt:lpstr>Python Kodları – Random Forest</vt:lpstr>
      <vt:lpstr>Python Kodları – SVM, MARS, GTB</vt:lpstr>
      <vt:lpstr>Sonuçlar</vt:lpstr>
      <vt:lpstr>PowerPoint Presentation</vt:lpstr>
      <vt:lpstr>Sonuçlar</vt:lpstr>
      <vt:lpstr>Değerlendirme</vt:lpstr>
      <vt:lpstr>Optimizasyon Yöntemleri</vt:lpstr>
      <vt:lpstr>Pattern Search Optimizasyon Yöntemleri</vt:lpstr>
      <vt:lpstr>Stokastik Optimizasyon Yöntemleri: </vt:lpstr>
      <vt:lpstr>Parçacık Sürü Optimizasyonu</vt:lpstr>
      <vt:lpstr>Parçacık Sürü Optimizasyonu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orhun uzdiyem</dc:creator>
  <cp:lastModifiedBy>orhun uzdiyem</cp:lastModifiedBy>
  <cp:revision>26</cp:revision>
  <dcterms:created xsi:type="dcterms:W3CDTF">2023-05-23T10:14:23Z</dcterms:created>
  <dcterms:modified xsi:type="dcterms:W3CDTF">2023-06-01T08:13:47Z</dcterms:modified>
</cp:coreProperties>
</file>